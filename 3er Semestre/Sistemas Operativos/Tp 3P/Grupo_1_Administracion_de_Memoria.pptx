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del grupo y del tema. Idea guía de toda la exposición: pasamos de programas que ven la memoria física directamente a procesos con su propio espacio de direcciones protegido. El mapa de la derecha es el ejemplo que resolveremos al final: tres programas de 16 KB.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memoria se organiza en niveles: arriba lo más rápido, chico y caro; abajo lo más grande, lento y barato. El SO abstrae esta jerarquía en un modelo útil, y el hardware se encarga normalmente de las cachés.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administrador de memoria es la parte del SO que gestiona la jerarquía. Recorrer las cuatro tareas y cerrar con el ejemplo: al abrir una aplicación, el SO le asigna una región de RAM.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Sin abstracción, el programa usa direcciones físicas. Tanenbaum muestra tres formas de ubicar SO y programa (figura 3-1). En (a) un error del programa puede destruir el SO; (b) se usa en sistemas integrados; (c) era el esquema de las primeras PC con MS-DOS (la parte en ROM es el BIOS).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dos programas usan la misma dirección física, se pisan. Por eso en el esquema simple hay un solo programa en memoria: el SO lo carga, y cuando termina lo reemplaza por el siguiente.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tener varios programas a la vez hay que resolver dos cosas. Protección: que nadie escriba memoria ajena. Reubicación: el programa B fue escrito pensando que empieza en 0, pero se cargó en 16384; su JMP 28 salta a la dirección física 28, que pertenece al programa 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IBM 360: memoria dividida en bloques de 2 KB con una llave de 4 bits; la PSW guarda la llave del proceso y el hardware bloquea accesos con llave distinta. Protege, pero no reubica. Reubicación estática: el cargador suma la dirección de inicio a cada dirección del programa; funciona, pero hace lenta la carga y requiere saber qué palabras son direcciones y cuáles constantes.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 la abstracción clave: cada proceso tiene su propio conjunto de direcciones. La dirección 28 de A y la 28 de B son celdas físicas distintas. Ejemplos del libro: puertos de E/S del Pentium y direcciones IPv4.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Solución de hardware (reubicación dinámica): al ejecutar un proceso, el SO carga BASE con su inicio físico y LÍMITE con su tamaño. En cada acceso el hardware compara con LÍMITE y suma BASE. Costo: una suma y una comparación por cada referencia a memoria.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Resolver en voz alta, paso a paso. Primero pasar 16 KB a bytes; luego armar la tabla de bases; después validar el JMP 28 del programa B contra su límite y calcular la dirección física.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Seguimos con el programa B. La última dirección válida es 16.383 (límite − 1), que corresponde a la física 32.767. La 16.384 ya está fuera: el hardware genera una excepción aunque físicamente exista memoria después (es la del programa C).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Repasar la evolución: cada etapa resuelve algo que la anterior no podía. Memoria virtual (3.3) es el paso siguiente, solo se menciona. Luego hacer las tres preguntas al curso y dar las respuestas.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Cierre: referencias al libro con páginas. Agradecer y abrir a preguntas.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737360"/>
            <a:ext cx="676656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03320"/>
            <a:ext cx="676656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accent5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Grupo 1 · Sistemas Operativos · Memoria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761695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ERR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761695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761695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18872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2"/>
                </a:solidFill>
              </a:rPr>
              <a:t>SISTEMAS OPERATIVOS · GRUPO 1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1737360"/>
            <a:ext cx="6766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Memoria: acceso directo y espacios de direcciones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70332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Administración de memoria · Tanenbaum, Cap. 3 (3.1 y 3.2.1)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526280"/>
            <a:ext cx="6766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5"/>
                </a:solidFill>
              </a:rPr>
              <a:t>Delegado: </a:t>
            </a:r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Luciano Burgos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5"/>
                </a:solidFill>
              </a:rPr>
              <a:t>Integrantes: </a:t>
            </a:r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Nicolas Vera · Alessandra Candia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5"/>
                </a:solidFill>
              </a:rPr>
              <a:t>Exposición: </a:t>
            </a:r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03/11 · Orden 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589788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De la memoria física a los espacios de direcciones protegidos</a:t>
            </a:r>
            <a:endParaRPr lang="en-US" sz="1400" dirty="0"/>
          </a:p>
        </p:txBody>
      </p:sp>
      <p:sp>
        <p:nvSpPr>
          <p:cNvPr id="7" name="Mapa Programa C"/>
          <p:cNvSpPr txBox="1"/>
          <p:nvPr/>
        </p:nvSpPr>
        <p:spPr>
          <a:xfrm>
            <a:off x="8778240" y="1371600"/>
            <a:ext cx="2377440" cy="1325880"/>
          </a:xfrm>
          <a:prstGeom prst="roundRect">
            <a:avLst>
              <a:gd name="adj" fmla="val 5517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Programa C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32.768 – 49.151</a:t>
            </a:r>
            <a:endParaRPr lang="en-US" sz="1600" dirty="0"/>
          </a:p>
        </p:txBody>
      </p:sp>
      <p:sp>
        <p:nvSpPr>
          <p:cNvPr id="8" name="Mapa Programa B"/>
          <p:cNvSpPr txBox="1"/>
          <p:nvPr/>
        </p:nvSpPr>
        <p:spPr>
          <a:xfrm>
            <a:off x="8778240" y="2788920"/>
            <a:ext cx="2377440" cy="1325880"/>
          </a:xfrm>
          <a:prstGeom prst="roundRect">
            <a:avLst>
              <a:gd name="adj" fmla="val 5517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Programa B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16.384 – 32.767</a:t>
            </a:r>
            <a:endParaRPr lang="en-US" sz="1600" dirty="0"/>
          </a:p>
        </p:txBody>
      </p:sp>
      <p:sp>
        <p:nvSpPr>
          <p:cNvPr id="9" name="Mapa Programa A"/>
          <p:cNvSpPr txBox="1"/>
          <p:nvPr/>
        </p:nvSpPr>
        <p:spPr>
          <a:xfrm>
            <a:off x="8778240" y="4206240"/>
            <a:ext cx="2377440" cy="1325880"/>
          </a:xfrm>
          <a:prstGeom prst="roundRect">
            <a:avLst>
              <a:gd name="adj" fmla="val 5517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Programa A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0 – 16.383</a:t>
            </a:r>
            <a:endParaRPr lang="en-US" sz="16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371600"/>
            <a:ext cx="457200" cy="45720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7818120" y="18745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RAM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Jerarquía de memoria</a:t>
            </a:r>
            <a:endParaRPr lang="en-US" sz="3600" dirty="0"/>
          </a:p>
        </p:txBody>
      </p:sp>
      <p:sp>
        <p:nvSpPr>
          <p:cNvPr id="4" name="Nivel Caché"/>
          <p:cNvSpPr/>
          <p:nvPr/>
        </p:nvSpPr>
        <p:spPr>
          <a:xfrm>
            <a:off x="1783080" y="1417320"/>
            <a:ext cx="2194560" cy="822960"/>
          </a:xfrm>
          <a:prstGeom prst="roundRect">
            <a:avLst>
              <a:gd name="adj" fmla="val 11111"/>
            </a:avLst>
          </a:prstGeom>
          <a:solidFill>
            <a:schemeClr val="tx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0" y="1664208"/>
            <a:ext cx="329184" cy="32918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2423160" y="14173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Caché</a:t>
            </a:r>
            <a:endParaRPr lang="en-US" sz="1800" dirty="0"/>
          </a:p>
        </p:txBody>
      </p:sp>
      <p:sp>
        <p:nvSpPr>
          <p:cNvPr id="7" name="Text 3"/>
          <p:cNvSpPr txBox="1"/>
          <p:nvPr/>
        </p:nvSpPr>
        <p:spPr>
          <a:xfrm>
            <a:off x="5669280" y="141732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Muy rápida, pequeña, costosa y volátil</a:t>
            </a:r>
            <a:endParaRPr lang="en-US" sz="1600" dirty="0"/>
          </a:p>
        </p:txBody>
      </p:sp>
      <p:sp>
        <p:nvSpPr>
          <p:cNvPr id="8" name="Nivel RAM"/>
          <p:cNvSpPr/>
          <p:nvPr/>
        </p:nvSpPr>
        <p:spPr>
          <a:xfrm>
            <a:off x="1371600" y="2395728"/>
            <a:ext cx="3017520" cy="82296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2642616"/>
            <a:ext cx="329184" cy="329184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2011680" y="2395728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RAM</a:t>
            </a:r>
            <a:endParaRPr lang="en-US" sz="1800" dirty="0"/>
          </a:p>
        </p:txBody>
      </p:sp>
      <p:sp>
        <p:nvSpPr>
          <p:cNvPr id="11" name="Text 6"/>
          <p:cNvSpPr txBox="1"/>
          <p:nvPr/>
        </p:nvSpPr>
        <p:spPr>
          <a:xfrm>
            <a:off x="5669280" y="2395728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Más capacidad; almacena procesos activos</a:t>
            </a:r>
            <a:endParaRPr lang="en-US" sz="1600" dirty="0"/>
          </a:p>
        </p:txBody>
      </p:sp>
      <p:sp>
        <p:nvSpPr>
          <p:cNvPr id="12" name="Nivel Disco / SSD"/>
          <p:cNvSpPr/>
          <p:nvPr/>
        </p:nvSpPr>
        <p:spPr>
          <a:xfrm>
            <a:off x="960120" y="3374136"/>
            <a:ext cx="3840480" cy="822960"/>
          </a:xfrm>
          <a:prstGeom prst="roundRect">
            <a:avLst>
              <a:gd name="adj" fmla="val 11111"/>
            </a:avLst>
          </a:prstGeom>
          <a:solidFill>
            <a:schemeClr val="accent5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3621024"/>
            <a:ext cx="329184" cy="329184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600200" y="3374136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Disco / SSD</a:t>
            </a:r>
            <a:endParaRPr lang="en-US" sz="1800" dirty="0"/>
          </a:p>
        </p:txBody>
      </p:sp>
      <p:sp>
        <p:nvSpPr>
          <p:cNvPr id="15" name="Text 9"/>
          <p:cNvSpPr txBox="1"/>
          <p:nvPr/>
        </p:nvSpPr>
        <p:spPr>
          <a:xfrm>
            <a:off x="5669280" y="3374136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Mayor capacidad y almacenamiento no volátil</a:t>
            </a:r>
            <a:endParaRPr lang="en-US" sz="1600" dirty="0"/>
          </a:p>
        </p:txBody>
      </p:sp>
      <p:sp>
        <p:nvSpPr>
          <p:cNvPr id="16" name="Nivel Extraíble"/>
          <p:cNvSpPr/>
          <p:nvPr/>
        </p:nvSpPr>
        <p:spPr>
          <a:xfrm>
            <a:off x="548640" y="4352544"/>
            <a:ext cx="4663440" cy="822960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599432"/>
            <a:ext cx="329184" cy="329184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188720" y="4352544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Extraíble</a:t>
            </a:r>
            <a:endParaRPr lang="en-US" sz="1800" dirty="0"/>
          </a:p>
        </p:txBody>
      </p:sp>
      <p:sp>
        <p:nvSpPr>
          <p:cNvPr id="19" name="Text 12"/>
          <p:cNvSpPr txBox="1"/>
          <p:nvPr/>
        </p:nvSpPr>
        <p:spPr>
          <a:xfrm>
            <a:off x="5669280" y="4352544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Medios como memorias USB y discos externos</a:t>
            </a:r>
            <a:endParaRPr lang="en-US" sz="1600" dirty="0"/>
          </a:p>
        </p:txBody>
      </p:sp>
      <p:sp>
        <p:nvSpPr>
          <p:cNvPr id="20" name="Shape 13"/>
          <p:cNvSpPr/>
          <p:nvPr/>
        </p:nvSpPr>
        <p:spPr>
          <a:xfrm flipV="1">
            <a:off x="11292840" y="1463040"/>
            <a:ext cx="0" cy="365760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1" name="Text 14"/>
          <p:cNvSpPr txBox="1"/>
          <p:nvPr/>
        </p:nvSpPr>
        <p:spPr>
          <a:xfrm>
            <a:off x="10012680" y="141732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Más rápida y costosa</a:t>
            </a:r>
            <a:endParaRPr lang="en-US" sz="1200" dirty="0"/>
          </a:p>
        </p:txBody>
      </p:sp>
      <p:sp>
        <p:nvSpPr>
          <p:cNvPr id="22" name="Text 15"/>
          <p:cNvSpPr txBox="1"/>
          <p:nvPr/>
        </p:nvSpPr>
        <p:spPr>
          <a:xfrm>
            <a:off x="10012680" y="457200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Más capacidad</a:t>
            </a:r>
            <a:endParaRPr lang="en-US" sz="1200" dirty="0"/>
          </a:p>
        </p:txBody>
      </p:sp>
      <p:sp>
        <p:nvSpPr>
          <p:cNvPr id="23" name="Idea clave fondo"/>
          <p:cNvSpPr/>
          <p:nvPr/>
        </p:nvSpPr>
        <p:spPr>
          <a:xfrm>
            <a:off x="548640" y="5486400"/>
            <a:ext cx="11094415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sp>
        <p:nvSpPr>
          <p:cNvPr id="24" name="Idea clave etiqueta"/>
          <p:cNvSpPr txBox="1"/>
          <p:nvPr/>
        </p:nvSpPr>
        <p:spPr>
          <a:xfrm>
            <a:off x="731520" y="5682996"/>
            <a:ext cx="1234440" cy="29260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chemeClr val="tx1"/>
                </a:solidFill>
              </a:rPr>
              <a:t>IDEA CLAVE</a:t>
            </a:r>
            <a:endParaRPr lang="en-US" sz="1100" dirty="0"/>
          </a:p>
        </p:txBody>
      </p:sp>
      <p:sp>
        <p:nvSpPr>
          <p:cNvPr id="25" name="Idea clave texto"/>
          <p:cNvSpPr txBox="1"/>
          <p:nvPr/>
        </p:nvSpPr>
        <p:spPr>
          <a:xfrm>
            <a:off x="2148840" y="5486400"/>
            <a:ext cx="93113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El sistema operativo ofrece un modelo útil de esta jerarquía; el hardware administra normalmente las cachés inferiores.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761695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¿Qué hace el administrador de memoria?</a:t>
            </a:r>
            <a:endParaRPr lang="en-US" sz="3600" dirty="0"/>
          </a:p>
        </p:txBody>
      </p:sp>
      <p:sp>
        <p:nvSpPr>
          <p:cNvPr id="4" name="Tarea Registra"/>
          <p:cNvSpPr/>
          <p:nvPr/>
        </p:nvSpPr>
        <p:spPr>
          <a:xfrm>
            <a:off x="548640" y="1463040"/>
            <a:ext cx="2587752" cy="3703320"/>
          </a:xfrm>
          <a:prstGeom prst="roundRect">
            <a:avLst>
              <a:gd name="adj" fmla="val 4240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2359152" y="17373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01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822960" y="173736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130" y="1954530"/>
            <a:ext cx="434340" cy="4343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22960" y="2834640"/>
            <a:ext cx="2039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Registra</a:t>
            </a:r>
            <a:endParaRPr lang="en-US" sz="2200" dirty="0"/>
          </a:p>
        </p:txBody>
      </p:sp>
      <p:sp>
        <p:nvSpPr>
          <p:cNvPr id="9" name="Text 5"/>
          <p:cNvSpPr txBox="1"/>
          <p:nvPr/>
        </p:nvSpPr>
        <p:spPr>
          <a:xfrm>
            <a:off x="822960" y="3383280"/>
            <a:ext cx="203911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Qué partes de la memoria están ocupadas y cuáles están libres.</a:t>
            </a:r>
            <a:endParaRPr lang="en-US" sz="1600" dirty="0"/>
          </a:p>
        </p:txBody>
      </p:sp>
      <p:sp>
        <p:nvSpPr>
          <p:cNvPr id="10" name="Tarea Asigna"/>
          <p:cNvSpPr/>
          <p:nvPr/>
        </p:nvSpPr>
        <p:spPr>
          <a:xfrm>
            <a:off x="3384194" y="1463040"/>
            <a:ext cx="2587752" cy="3703320"/>
          </a:xfrm>
          <a:prstGeom prst="roundRect">
            <a:avLst>
              <a:gd name="adj" fmla="val 4240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7"/>
          <p:cNvSpPr txBox="1"/>
          <p:nvPr/>
        </p:nvSpPr>
        <p:spPr>
          <a:xfrm>
            <a:off x="5194706" y="17373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02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3658514" y="173736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5684" y="1954530"/>
            <a:ext cx="434340" cy="43434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658514" y="2834640"/>
            <a:ext cx="2039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Asigna</a:t>
            </a:r>
            <a:endParaRPr lang="en-US" sz="2200" dirty="0"/>
          </a:p>
        </p:txBody>
      </p:sp>
      <p:sp>
        <p:nvSpPr>
          <p:cNvPr id="15" name="Text 10"/>
          <p:cNvSpPr txBox="1"/>
          <p:nvPr/>
        </p:nvSpPr>
        <p:spPr>
          <a:xfrm>
            <a:off x="3658514" y="3383280"/>
            <a:ext cx="203911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Memoria a los procesos cuando la necesitan.</a:t>
            </a:r>
            <a:endParaRPr lang="en-US" sz="1600" dirty="0"/>
          </a:p>
        </p:txBody>
      </p:sp>
      <p:sp>
        <p:nvSpPr>
          <p:cNvPr id="16" name="Tarea Recupera"/>
          <p:cNvSpPr/>
          <p:nvPr/>
        </p:nvSpPr>
        <p:spPr>
          <a:xfrm>
            <a:off x="6219749" y="1463040"/>
            <a:ext cx="2587752" cy="3703320"/>
          </a:xfrm>
          <a:prstGeom prst="roundRect">
            <a:avLst>
              <a:gd name="adj" fmla="val 4240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2"/>
          <p:cNvSpPr txBox="1"/>
          <p:nvPr/>
        </p:nvSpPr>
        <p:spPr>
          <a:xfrm>
            <a:off x="8030261" y="17373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03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6494069" y="173736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1239" y="1954530"/>
            <a:ext cx="434340" cy="43434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494069" y="2834640"/>
            <a:ext cx="2039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Recupera</a:t>
            </a:r>
            <a:endParaRPr lang="en-US" sz="2200" dirty="0"/>
          </a:p>
        </p:txBody>
      </p:sp>
      <p:sp>
        <p:nvSpPr>
          <p:cNvPr id="21" name="Text 15"/>
          <p:cNvSpPr txBox="1"/>
          <p:nvPr/>
        </p:nvSpPr>
        <p:spPr>
          <a:xfrm>
            <a:off x="6494069" y="3383280"/>
            <a:ext cx="203911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Y reutiliza la memoria cuando los procesos terminan.</a:t>
            </a:r>
            <a:endParaRPr lang="en-US" sz="1600" dirty="0"/>
          </a:p>
        </p:txBody>
      </p:sp>
      <p:sp>
        <p:nvSpPr>
          <p:cNvPr id="22" name="Tarea Optimiza"/>
          <p:cNvSpPr/>
          <p:nvPr/>
        </p:nvSpPr>
        <p:spPr>
          <a:xfrm>
            <a:off x="9055303" y="1463040"/>
            <a:ext cx="2587752" cy="3703320"/>
          </a:xfrm>
          <a:prstGeom prst="roundRect">
            <a:avLst>
              <a:gd name="adj" fmla="val 4240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Text 17"/>
          <p:cNvSpPr txBox="1"/>
          <p:nvPr/>
        </p:nvSpPr>
        <p:spPr>
          <a:xfrm>
            <a:off x="10865815" y="17373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04</a:t>
            </a:r>
            <a:endParaRPr lang="en-US" sz="1600" dirty="0"/>
          </a:p>
        </p:txBody>
      </p:sp>
      <p:sp>
        <p:nvSpPr>
          <p:cNvPr id="24" name="Shape 18"/>
          <p:cNvSpPr/>
          <p:nvPr/>
        </p:nvSpPr>
        <p:spPr>
          <a:xfrm>
            <a:off x="9329623" y="173736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46793" y="1954530"/>
            <a:ext cx="434340" cy="43434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9329623" y="2834640"/>
            <a:ext cx="2039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Optimiza</a:t>
            </a:r>
            <a:endParaRPr lang="en-US" sz="2200" dirty="0"/>
          </a:p>
        </p:txBody>
      </p:sp>
      <p:sp>
        <p:nvSpPr>
          <p:cNvPr id="27" name="Text 20"/>
          <p:cNvSpPr txBox="1"/>
          <p:nvPr/>
        </p:nvSpPr>
        <p:spPr>
          <a:xfrm>
            <a:off x="9329623" y="3383280"/>
            <a:ext cx="203911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Busca un uso eficiente de la memoria principal (RAM).</a:t>
            </a:r>
            <a:endParaRPr lang="en-US" sz="1600" dirty="0"/>
          </a:p>
        </p:txBody>
      </p:sp>
      <p:sp>
        <p:nvSpPr>
          <p:cNvPr id="28" name="Idea clave fondo"/>
          <p:cNvSpPr/>
          <p:nvPr/>
        </p:nvSpPr>
        <p:spPr>
          <a:xfrm>
            <a:off x="548640" y="5486400"/>
            <a:ext cx="11094415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sp>
        <p:nvSpPr>
          <p:cNvPr id="29" name="Idea clave etiqueta"/>
          <p:cNvSpPr txBox="1"/>
          <p:nvPr/>
        </p:nvSpPr>
        <p:spPr>
          <a:xfrm>
            <a:off x="731520" y="5682996"/>
            <a:ext cx="1234440" cy="29260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chemeClr val="tx1"/>
                </a:solidFill>
              </a:rPr>
              <a:t>IDEA CLAVE</a:t>
            </a:r>
            <a:endParaRPr lang="en-US" sz="1100" dirty="0"/>
          </a:p>
        </p:txBody>
      </p:sp>
      <p:sp>
        <p:nvSpPr>
          <p:cNvPr id="30" name="Idea clave texto"/>
          <p:cNvSpPr txBox="1"/>
          <p:nvPr/>
        </p:nvSpPr>
        <p:spPr>
          <a:xfrm>
            <a:off x="2148840" y="5486400"/>
            <a:ext cx="93113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Ejemplo: al ejecutar una aplicación, el sistema le asigna una región de RAM.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761695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Memoria sin abstracción: tres organizaciones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3258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A · SO en RAM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82880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0xFFF…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1325880" y="1874520"/>
            <a:ext cx="2331720" cy="1600200"/>
          </a:xfrm>
          <a:prstGeom prst="rect">
            <a:avLst/>
          </a:prstGeom>
          <a:solidFill>
            <a:schemeClr val="bg2"/>
          </a:solidFill>
          <a:ln w="25400">
            <a:solidFill>
              <a:schemeClr val="bg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Programa de usuario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325880" y="3474720"/>
            <a:ext cx="2331720" cy="960120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bg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SO en RAM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17880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0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45720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Un error del programa puede alterar el SO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4358488" y="13258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B · SO en ROM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4358488" y="182880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0xFFF…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5135728" y="1874520"/>
            <a:ext cx="2331720" cy="960120"/>
          </a:xfrm>
          <a:prstGeom prst="rect">
            <a:avLst/>
          </a:prstGeom>
          <a:solidFill>
            <a:schemeClr val="accent2"/>
          </a:solidFill>
          <a:ln w="25400">
            <a:solidFill>
              <a:schemeClr val="bg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SO en ROM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5135728" y="2834640"/>
            <a:ext cx="2331720" cy="1600200"/>
          </a:xfrm>
          <a:prstGeom prst="rect">
            <a:avLst/>
          </a:prstGeom>
          <a:solidFill>
            <a:schemeClr val="bg2"/>
          </a:solidFill>
          <a:ln w="25400">
            <a:solidFill>
              <a:schemeClr val="bg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Programa de usuario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4358488" y="417880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0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4449928" y="45720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Usado en algunos sistemas integrados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8168335" y="13258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C · Drivers en ROM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8168335" y="182880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0xFFF…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8945575" y="1874520"/>
            <a:ext cx="2331720" cy="731520"/>
          </a:xfrm>
          <a:prstGeom prst="rect">
            <a:avLst/>
          </a:prstGeom>
          <a:solidFill>
            <a:schemeClr val="accent2"/>
          </a:solidFill>
          <a:ln w="25400">
            <a:solidFill>
              <a:schemeClr val="bg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Drivers / BIOS en ROM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8945575" y="2606040"/>
            <a:ext cx="2331720" cy="1097280"/>
          </a:xfrm>
          <a:prstGeom prst="rect">
            <a:avLst/>
          </a:prstGeom>
          <a:solidFill>
            <a:schemeClr val="bg2"/>
          </a:solidFill>
          <a:ln w="25400">
            <a:solidFill>
              <a:schemeClr val="bg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Programa de usuario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8945575" y="3703320"/>
            <a:ext cx="2331720" cy="731520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bg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SO en RAM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8168335" y="417880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0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8259775" y="45720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Ejemplo histórico: primeras PC con MS‑DOS</a:t>
            </a:r>
            <a:endParaRPr lang="en-US" sz="1500" dirty="0"/>
          </a:p>
        </p:txBody>
      </p:sp>
      <p:sp>
        <p:nvSpPr>
          <p:cNvPr id="23" name="Idea clave fondo"/>
          <p:cNvSpPr/>
          <p:nvPr/>
        </p:nvSpPr>
        <p:spPr>
          <a:xfrm>
            <a:off x="548640" y="5486400"/>
            <a:ext cx="11094415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sp>
        <p:nvSpPr>
          <p:cNvPr id="24" name="Idea clave etiqueta"/>
          <p:cNvSpPr txBox="1"/>
          <p:nvPr/>
        </p:nvSpPr>
        <p:spPr>
          <a:xfrm>
            <a:off x="731520" y="5682996"/>
            <a:ext cx="1234440" cy="29260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chemeClr val="tx1"/>
                </a:solidFill>
              </a:rPr>
              <a:t>IDEA CLAVE</a:t>
            </a:r>
            <a:endParaRPr lang="en-US" sz="1100" dirty="0"/>
          </a:p>
        </p:txBody>
      </p:sp>
      <p:sp>
        <p:nvSpPr>
          <p:cNvPr id="25" name="Idea clave texto"/>
          <p:cNvSpPr txBox="1"/>
          <p:nvPr/>
        </p:nvSpPr>
        <p:spPr>
          <a:xfrm>
            <a:off x="2148840" y="5486400"/>
            <a:ext cx="93113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Sin abstracción, cada programa ve directamente direcciones físicas de memoria. Figura 3-1 del libro.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761695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¿Por qué normalmente solo un proceso?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691640"/>
            <a:ext cx="2103120" cy="91440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Programa 1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escribe en 2000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977640"/>
            <a:ext cx="2103120" cy="914400"/>
          </a:xfrm>
          <a:prstGeom prst="roundRect">
            <a:avLst>
              <a:gd name="adj" fmla="val 10000"/>
            </a:avLst>
          </a:prstGeom>
          <a:solidFill>
            <a:schemeClr val="accent4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Programa 2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escribe en 2000</a:t>
            </a:r>
            <a:endParaRPr lang="en-US" sz="1500" dirty="0"/>
          </a:p>
        </p:txBody>
      </p:sp>
      <p:sp>
        <p:nvSpPr>
          <p:cNvPr id="6" name="RAM física"/>
          <p:cNvSpPr/>
          <p:nvPr/>
        </p:nvSpPr>
        <p:spPr>
          <a:xfrm>
            <a:off x="3931920" y="1463040"/>
            <a:ext cx="1737360" cy="365760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3931920" y="15087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RAM física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3931920" y="3017520"/>
            <a:ext cx="1737360" cy="548640"/>
          </a:xfrm>
          <a:prstGeom prst="rect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2000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2697480" y="2148840"/>
            <a:ext cx="1188720" cy="109728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 flipV="1">
            <a:off x="2697480" y="3337560"/>
            <a:ext cx="1188720" cy="109728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tailEnd type="triangle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3090672"/>
            <a:ext cx="384048" cy="38404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675120" y="1463040"/>
            <a:ext cx="496519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No hay un espacio privado de direcciones para cada programa.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Dos programas pueden escribir sobre la misma dirección física.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Si ambos usan la posición 2000, uno puede borrar datos del otro.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En el esquema simple, el SO carga un programa; al terminar, lo reemplaza por otro.</a:t>
            </a:r>
            <a:endParaRPr lang="en-US" sz="1700" dirty="0"/>
          </a:p>
        </p:txBody>
      </p:sp>
      <p:sp>
        <p:nvSpPr>
          <p:cNvPr id="13" name="Idea clave fondo"/>
          <p:cNvSpPr/>
          <p:nvPr/>
        </p:nvSpPr>
        <p:spPr>
          <a:xfrm>
            <a:off x="548640" y="5486400"/>
            <a:ext cx="11094415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sp>
        <p:nvSpPr>
          <p:cNvPr id="14" name="Idea clave etiqueta"/>
          <p:cNvSpPr txBox="1"/>
          <p:nvPr/>
        </p:nvSpPr>
        <p:spPr>
          <a:xfrm>
            <a:off x="731520" y="5682996"/>
            <a:ext cx="1234440" cy="29260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chemeClr val="tx1"/>
                </a:solidFill>
              </a:rPr>
              <a:t>IDEA CLAVE</a:t>
            </a:r>
            <a:endParaRPr lang="en-US" sz="1100" dirty="0"/>
          </a:p>
        </p:txBody>
      </p:sp>
      <p:sp>
        <p:nvSpPr>
          <p:cNvPr id="15" name="Idea clave texto"/>
          <p:cNvSpPr txBox="1"/>
          <p:nvPr/>
        </p:nvSpPr>
        <p:spPr>
          <a:xfrm>
            <a:off x="2148840" y="5486400"/>
            <a:ext cx="93113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El texto también menciona excepciones mediante intercambio o hardware especial.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761695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Dos programas: dos problemas</a:t>
            </a:r>
            <a:endParaRPr lang="en-US" sz="3600" dirty="0"/>
          </a:p>
        </p:txBody>
      </p:sp>
      <p:sp>
        <p:nvSpPr>
          <p:cNvPr id="4" name="Problema protección"/>
          <p:cNvSpPr/>
          <p:nvPr/>
        </p:nvSpPr>
        <p:spPr>
          <a:xfrm>
            <a:off x="548640" y="1417320"/>
            <a:ext cx="5394960" cy="3886200"/>
          </a:xfrm>
          <a:prstGeom prst="roundRect">
            <a:avLst>
              <a:gd name="adj" fmla="val 2824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868680" y="173736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920240"/>
            <a:ext cx="365760" cy="3657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783080" y="173736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Protección</a:t>
            </a:r>
            <a:endParaRPr lang="en-US" sz="2400" dirty="0"/>
          </a:p>
        </p:txBody>
      </p:sp>
      <p:sp>
        <p:nvSpPr>
          <p:cNvPr id="8" name="Text 4"/>
          <p:cNvSpPr txBox="1"/>
          <p:nvPr/>
        </p:nvSpPr>
        <p:spPr>
          <a:xfrm>
            <a:off x="868680" y="269748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Un programa sobrescribe memoria de otro o del sistema operativo.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868680" y="4114800"/>
            <a:ext cx="1737360" cy="68580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Programa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2697480" y="4457700"/>
            <a:ext cx="914400" cy="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1" name="Text 7"/>
          <p:cNvSpPr txBox="1"/>
          <p:nvPr/>
        </p:nvSpPr>
        <p:spPr>
          <a:xfrm>
            <a:off x="3703320" y="4023360"/>
            <a:ext cx="1920240" cy="868680"/>
          </a:xfrm>
          <a:prstGeom prst="roundRect">
            <a:avLst>
              <a:gd name="adj" fmla="val 10526"/>
            </a:avLst>
          </a:prstGeom>
          <a:solidFill>
            <a:schemeClr val="accent3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Memoria del SO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(sobrescrita)</a:t>
            </a:r>
            <a:endParaRPr lang="en-US" sz="1400" dirty="0"/>
          </a:p>
        </p:txBody>
      </p:sp>
      <p:sp>
        <p:nvSpPr>
          <p:cNvPr id="12" name="Problema reubicación"/>
          <p:cNvSpPr/>
          <p:nvPr/>
        </p:nvSpPr>
        <p:spPr>
          <a:xfrm>
            <a:off x="6248095" y="1417320"/>
            <a:ext cx="5394960" cy="3886200"/>
          </a:xfrm>
          <a:prstGeom prst="roundRect">
            <a:avLst>
              <a:gd name="adj" fmla="val 2824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568135" y="173736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1015" y="1920240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482535" y="173736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Reubicación</a:t>
            </a:r>
            <a:endParaRPr lang="en-US" sz="2400" dirty="0"/>
          </a:p>
        </p:txBody>
      </p:sp>
      <p:sp>
        <p:nvSpPr>
          <p:cNvPr id="16" name="Text 11"/>
          <p:cNvSpPr txBox="1"/>
          <p:nvPr/>
        </p:nvSpPr>
        <p:spPr>
          <a:xfrm>
            <a:off x="6568135" y="269748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Una instrucción JMP 28 usa la dirección física 28, aunque el programa se haya cargado a partir de 16384. El programa puede terminar ejecutando una instrucción equivocada.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6568135" y="4114800"/>
            <a:ext cx="1737360" cy="68580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JMP 28</a:t>
            </a:r>
            <a:endParaRPr lang="en-US" sz="1800" dirty="0"/>
          </a:p>
        </p:txBody>
      </p:sp>
      <p:sp>
        <p:nvSpPr>
          <p:cNvPr id="18" name="Shape 13"/>
          <p:cNvSpPr/>
          <p:nvPr/>
        </p:nvSpPr>
        <p:spPr>
          <a:xfrm>
            <a:off x="8396935" y="4457700"/>
            <a:ext cx="914400" cy="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9" name="Text 14"/>
          <p:cNvSpPr txBox="1"/>
          <p:nvPr/>
        </p:nvSpPr>
        <p:spPr>
          <a:xfrm>
            <a:off x="9402775" y="4023360"/>
            <a:ext cx="1920240" cy="868680"/>
          </a:xfrm>
          <a:prstGeom prst="roundRect">
            <a:avLst>
              <a:gd name="adj" fmla="val 10526"/>
            </a:avLst>
          </a:prstGeom>
          <a:solidFill>
            <a:schemeClr val="accent3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Física 28 ✗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(esperado: 16.412)</a:t>
            </a:r>
            <a:endParaRPr lang="en-US" sz="1400" dirty="0"/>
          </a:p>
        </p:txBody>
      </p:sp>
      <p:sp>
        <p:nvSpPr>
          <p:cNvPr id="20" name="Idea clave fondo"/>
          <p:cNvSpPr/>
          <p:nvPr/>
        </p:nvSpPr>
        <p:spPr>
          <a:xfrm>
            <a:off x="548640" y="5486400"/>
            <a:ext cx="11094415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sp>
        <p:nvSpPr>
          <p:cNvPr id="21" name="Idea clave etiqueta"/>
          <p:cNvSpPr txBox="1"/>
          <p:nvPr/>
        </p:nvSpPr>
        <p:spPr>
          <a:xfrm>
            <a:off x="731520" y="5682996"/>
            <a:ext cx="1234440" cy="29260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chemeClr val="tx1"/>
                </a:solidFill>
              </a:rPr>
              <a:t>IDEA CLAVE</a:t>
            </a:r>
            <a:endParaRPr lang="en-US" sz="1100" dirty="0"/>
          </a:p>
        </p:txBody>
      </p:sp>
      <p:sp>
        <p:nvSpPr>
          <p:cNvPr id="22" name="Idea clave texto"/>
          <p:cNvSpPr txBox="1"/>
          <p:nvPr/>
        </p:nvSpPr>
        <p:spPr>
          <a:xfrm>
            <a:off x="2148840" y="5486400"/>
            <a:ext cx="93113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Para ejecutar varios programas con seguridad se necesitan protección y reubicación.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761695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Soluciones primitivas y sus límites</a:t>
            </a:r>
            <a:endParaRPr lang="en-US" sz="3600" dirty="0"/>
          </a:p>
        </p:txBody>
      </p:sp>
      <p:sp>
        <p:nvSpPr>
          <p:cNvPr id="4" name="Llaves de protección · IBM 360"/>
          <p:cNvSpPr/>
          <p:nvPr/>
        </p:nvSpPr>
        <p:spPr>
          <a:xfrm>
            <a:off x="548640" y="1417320"/>
            <a:ext cx="5394960" cy="3886200"/>
          </a:xfrm>
          <a:prstGeom prst="roundRect">
            <a:avLst>
              <a:gd name="adj" fmla="val 2824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868680" y="1737360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920240"/>
            <a:ext cx="365760" cy="3657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783080" y="173736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tx2"/>
                </a:solidFill>
              </a:rPr>
              <a:t>Llaves de protección · IBM 360</a:t>
            </a:r>
            <a:endParaRPr lang="en-US" sz="2100" dirty="0"/>
          </a:p>
        </p:txBody>
      </p:sp>
      <p:sp>
        <p:nvSpPr>
          <p:cNvPr id="8" name="Text 4"/>
          <p:cNvSpPr txBox="1"/>
          <p:nvPr/>
        </p:nvSpPr>
        <p:spPr>
          <a:xfrm>
            <a:off x="868680" y="265176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Cómo funciona: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Bloques de 2 KB y claves de 4 bits; el hardware verifica los accesos.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868680" y="36576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" y="3771900"/>
            <a:ext cx="228600" cy="2286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508760" y="356616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Protege la memoria de cada proceso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868680" y="448056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" y="4594860"/>
            <a:ext cx="228600" cy="22860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508760" y="438912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No reubica direcciones absolutas</a:t>
            </a:r>
            <a:endParaRPr lang="en-US" sz="1600" dirty="0"/>
          </a:p>
        </p:txBody>
      </p:sp>
      <p:sp>
        <p:nvSpPr>
          <p:cNvPr id="15" name="Reubicación estática"/>
          <p:cNvSpPr/>
          <p:nvPr/>
        </p:nvSpPr>
        <p:spPr>
          <a:xfrm>
            <a:off x="6248095" y="1417320"/>
            <a:ext cx="5394960" cy="3886200"/>
          </a:xfrm>
          <a:prstGeom prst="roundRect">
            <a:avLst>
              <a:gd name="adj" fmla="val 2824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0"/>
          <p:cNvSpPr/>
          <p:nvPr/>
        </p:nvSpPr>
        <p:spPr>
          <a:xfrm>
            <a:off x="6568135" y="1737360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1015" y="1920240"/>
            <a:ext cx="365760" cy="36576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7482535" y="173736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tx2"/>
                </a:solidFill>
              </a:rPr>
              <a:t>Reubicación estática</a:t>
            </a:r>
            <a:endParaRPr lang="en-US" sz="2100" dirty="0"/>
          </a:p>
        </p:txBody>
      </p:sp>
      <p:sp>
        <p:nvSpPr>
          <p:cNvPr id="19" name="Text 12"/>
          <p:cNvSpPr txBox="1"/>
          <p:nvPr/>
        </p:nvSpPr>
        <p:spPr>
          <a:xfrm>
            <a:off x="6568135" y="265176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Cómo funciona: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El cargador suma la posición inicial a las direcciones del programa.</a:t>
            </a:r>
            <a:endParaRPr lang="en-US" sz="1600" dirty="0"/>
          </a:p>
        </p:txBody>
      </p:sp>
      <p:sp>
        <p:nvSpPr>
          <p:cNvPr id="20" name="Shape 13"/>
          <p:cNvSpPr/>
          <p:nvPr/>
        </p:nvSpPr>
        <p:spPr>
          <a:xfrm>
            <a:off x="6568135" y="36576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2435" y="3771900"/>
            <a:ext cx="228600" cy="228600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7208215" y="356616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Corrige las direcciones al cargar</a:t>
            </a:r>
            <a:endParaRPr lang="en-US" sz="1600" dirty="0"/>
          </a:p>
        </p:txBody>
      </p:sp>
      <p:sp>
        <p:nvSpPr>
          <p:cNvPr id="23" name="Shape 15"/>
          <p:cNvSpPr/>
          <p:nvPr/>
        </p:nvSpPr>
        <p:spPr>
          <a:xfrm>
            <a:off x="6568135" y="448056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2435" y="4594860"/>
            <a:ext cx="228600" cy="228600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7208215" y="438912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Retrasa la carga y exige distinguir direcciones de constantes</a:t>
            </a:r>
            <a:endParaRPr lang="en-US" sz="1600" dirty="0"/>
          </a:p>
        </p:txBody>
      </p:sp>
      <p:sp>
        <p:nvSpPr>
          <p:cNvPr id="26" name="Idea clave fondo"/>
          <p:cNvSpPr/>
          <p:nvPr/>
        </p:nvSpPr>
        <p:spPr>
          <a:xfrm>
            <a:off x="548640" y="5486400"/>
            <a:ext cx="11094415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sp>
        <p:nvSpPr>
          <p:cNvPr id="27" name="Idea clave etiqueta"/>
          <p:cNvSpPr txBox="1"/>
          <p:nvPr/>
        </p:nvSpPr>
        <p:spPr>
          <a:xfrm>
            <a:off x="731520" y="5682996"/>
            <a:ext cx="1234440" cy="29260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chemeClr val="tx1"/>
                </a:solidFill>
              </a:rPr>
              <a:t>IDEA CLAVE</a:t>
            </a:r>
            <a:endParaRPr lang="en-US" sz="1100" dirty="0"/>
          </a:p>
        </p:txBody>
      </p:sp>
      <p:sp>
        <p:nvSpPr>
          <p:cNvPr id="28" name="Idea clave texto"/>
          <p:cNvSpPr txBox="1"/>
          <p:nvPr/>
        </p:nvSpPr>
        <p:spPr>
          <a:xfrm>
            <a:off x="2148840" y="5486400"/>
            <a:ext cx="93113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Ejemplo: un salto reubicable a 28 pasa a 16412; una constante numérica 28 no debe modificarse.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761695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¿Qué es un espacio de direcciones?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41732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2"/>
                </a:solidFill>
              </a:rPr>
              <a:t>Es el conjunto de direcciones que un proceso puede utilizar para acceder a memoria.</a:t>
            </a:r>
            <a:endParaRPr lang="en-US" sz="21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423160"/>
            <a:ext cx="5852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Cada proceso dispone de su propio espacio, normalmente independiente.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La dirección 28 del proceso A puede referirse a una celda física distinta de la dirección 28 del B.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931920"/>
            <a:ext cx="2468880" cy="5486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Proceso A · dir. 28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3108960" y="4206240"/>
            <a:ext cx="91440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8" name="Text 5"/>
          <p:cNvSpPr txBox="1"/>
          <p:nvPr/>
        </p:nvSpPr>
        <p:spPr>
          <a:xfrm>
            <a:off x="4114800" y="3931920"/>
            <a:ext cx="2286000" cy="548640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Celda física X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4617720"/>
            <a:ext cx="2468880" cy="54864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Proceso B · dir. 28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3108960" y="4892040"/>
            <a:ext cx="91440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1" name="Text 8"/>
          <p:cNvSpPr txBox="1"/>
          <p:nvPr/>
        </p:nvSpPr>
        <p:spPr>
          <a:xfrm>
            <a:off x="4114800" y="4617720"/>
            <a:ext cx="2286000" cy="548640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Celda física Y</a:t>
            </a:r>
            <a:endParaRPr lang="en-US" sz="1500" dirty="0"/>
          </a:p>
        </p:txBody>
      </p:sp>
      <p:sp>
        <p:nvSpPr>
          <p:cNvPr id="12" name="Ejemplo 1"/>
          <p:cNvSpPr/>
          <p:nvPr/>
        </p:nvSpPr>
        <p:spPr>
          <a:xfrm>
            <a:off x="6812280" y="1417320"/>
            <a:ext cx="4830775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7132320" y="1600200"/>
            <a:ext cx="41906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 – 16.383</a:t>
            </a:r>
            <a:endParaRPr lang="en-US" sz="4000" dirty="0"/>
          </a:p>
        </p:txBody>
      </p:sp>
      <p:sp>
        <p:nvSpPr>
          <p:cNvPr id="14" name="Text 11"/>
          <p:cNvSpPr txBox="1"/>
          <p:nvPr/>
        </p:nvSpPr>
        <p:spPr>
          <a:xfrm>
            <a:off x="7132320" y="2468880"/>
            <a:ext cx="41906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Ejemplo 1 · espacio de puertos de E/S (Pentium descrito por Tanenbaum)</a:t>
            </a:r>
            <a:endParaRPr lang="en-US" sz="1500" dirty="0"/>
          </a:p>
        </p:txBody>
      </p:sp>
      <p:sp>
        <p:nvSpPr>
          <p:cNvPr id="15" name="Ejemplo 2"/>
          <p:cNvSpPr/>
          <p:nvPr/>
        </p:nvSpPr>
        <p:spPr>
          <a:xfrm>
            <a:off x="6812280" y="3383280"/>
            <a:ext cx="4830775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7132320" y="3566160"/>
            <a:ext cx="41906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 – 2³² − 1</a:t>
            </a:r>
            <a:endParaRPr lang="en-US" sz="4000" dirty="0"/>
          </a:p>
        </p:txBody>
      </p:sp>
      <p:sp>
        <p:nvSpPr>
          <p:cNvPr id="17" name="Text 14"/>
          <p:cNvSpPr txBox="1"/>
          <p:nvPr/>
        </p:nvSpPr>
        <p:spPr>
          <a:xfrm>
            <a:off x="7132320" y="4434840"/>
            <a:ext cx="41906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Ejemplo 2 · direcciones IPv4 (32 bits)</a:t>
            </a:r>
            <a:endParaRPr lang="en-US" sz="1500" dirty="0"/>
          </a:p>
        </p:txBody>
      </p:sp>
      <p:sp>
        <p:nvSpPr>
          <p:cNvPr id="18" name="Idea clave fondo"/>
          <p:cNvSpPr/>
          <p:nvPr/>
        </p:nvSpPr>
        <p:spPr>
          <a:xfrm>
            <a:off x="548640" y="5486400"/>
            <a:ext cx="11094415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sp>
        <p:nvSpPr>
          <p:cNvPr id="19" name="Idea clave etiqueta"/>
          <p:cNvSpPr txBox="1"/>
          <p:nvPr/>
        </p:nvSpPr>
        <p:spPr>
          <a:xfrm>
            <a:off x="731520" y="5682996"/>
            <a:ext cx="1234440" cy="29260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chemeClr val="tx1"/>
                </a:solidFill>
              </a:rPr>
              <a:t>IDEA CLAVE</a:t>
            </a:r>
            <a:endParaRPr lang="en-US" sz="1100" dirty="0"/>
          </a:p>
        </p:txBody>
      </p:sp>
      <p:sp>
        <p:nvSpPr>
          <p:cNvPr id="20" name="Idea clave texto"/>
          <p:cNvSpPr txBox="1"/>
          <p:nvPr/>
        </p:nvSpPr>
        <p:spPr>
          <a:xfrm>
            <a:off x="2148840" y="5486400"/>
            <a:ext cx="93113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El libro también utiliza los números telefónicos y los dominios .com como analogías.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761695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Registros base y límite</a:t>
            </a:r>
            <a:endParaRPr lang="en-US" sz="3600" dirty="0"/>
          </a:p>
        </p:txBody>
      </p:sp>
      <p:sp>
        <p:nvSpPr>
          <p:cNvPr id="4" name="Registro BASE"/>
          <p:cNvSpPr/>
          <p:nvPr/>
        </p:nvSpPr>
        <p:spPr>
          <a:xfrm>
            <a:off x="548640" y="1417320"/>
            <a:ext cx="420624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822960" y="1691640"/>
            <a:ext cx="1463040" cy="502920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28600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Dirección física inicial del proceso en RAM.</a:t>
            </a:r>
            <a:endParaRPr lang="en-US" sz="1600" dirty="0"/>
          </a:p>
        </p:txBody>
      </p:sp>
      <p:sp>
        <p:nvSpPr>
          <p:cNvPr id="7" name="Registro LÍMITE"/>
          <p:cNvSpPr/>
          <p:nvPr/>
        </p:nvSpPr>
        <p:spPr>
          <a:xfrm>
            <a:off x="548640" y="3383280"/>
            <a:ext cx="420624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822960" y="3657600"/>
            <a:ext cx="1463040" cy="502920"/>
          </a:xfrm>
          <a:prstGeom prst="roundRect">
            <a:avLst>
              <a:gd name="adj" fmla="val 18182"/>
            </a:avLst>
          </a:prstGeom>
          <a:solidFill>
            <a:schemeClr val="accent2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LÍMITE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425196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Longitud de la región de memoria permitida para el proceso.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5166360" y="1737360"/>
            <a:ext cx="1234440" cy="91440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Dirección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lógica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446520" y="2194560"/>
            <a:ext cx="32004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2" name="Text 9"/>
          <p:cNvSpPr txBox="1"/>
          <p:nvPr/>
        </p:nvSpPr>
        <p:spPr>
          <a:xfrm>
            <a:off x="6812280" y="1508760"/>
            <a:ext cx="1828800" cy="1371600"/>
          </a:xfrm>
          <a:prstGeom prst="diamond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¿0 ≤ dir.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&lt; LÍMITE?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8686800" y="2194560"/>
            <a:ext cx="36576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4" name="Text 11"/>
          <p:cNvSpPr txBox="1"/>
          <p:nvPr/>
        </p:nvSpPr>
        <p:spPr>
          <a:xfrm>
            <a:off x="8659368" y="178308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Sí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9098280" y="1737360"/>
            <a:ext cx="1051560" cy="91440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+ BASE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10195560" y="2194560"/>
            <a:ext cx="27432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7" name="Text 14"/>
          <p:cNvSpPr txBox="1"/>
          <p:nvPr/>
        </p:nvSpPr>
        <p:spPr>
          <a:xfrm>
            <a:off x="10515600" y="1737360"/>
            <a:ext cx="1143000" cy="91440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Dirección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física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7726680" y="2926080"/>
            <a:ext cx="0" cy="54864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9" name="Text 16"/>
          <p:cNvSpPr txBox="1"/>
          <p:nvPr/>
        </p:nvSpPr>
        <p:spPr>
          <a:xfrm>
            <a:off x="7818120" y="2971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No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6355080" y="3520440"/>
            <a:ext cx="2743200" cy="640080"/>
          </a:xfrm>
          <a:prstGeom prst="roundRect">
            <a:avLst>
              <a:gd name="adj" fmla="val 14286"/>
            </a:avLst>
          </a:prstGeom>
          <a:solidFill>
            <a:schemeClr val="accent3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Excepción: se impide el acceso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5166360" y="4434840"/>
            <a:ext cx="6476695" cy="731520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Si es válida:  </a:t>
            </a:r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dirección física = BASE + dirección lógica</a:t>
            </a:r>
            <a:endParaRPr lang="en-US" sz="1800" dirty="0"/>
          </a:p>
        </p:txBody>
      </p:sp>
      <p:sp>
        <p:nvSpPr>
          <p:cNvPr id="22" name="Idea clave fondo"/>
          <p:cNvSpPr/>
          <p:nvPr/>
        </p:nvSpPr>
        <p:spPr>
          <a:xfrm>
            <a:off x="548640" y="5486400"/>
            <a:ext cx="11094415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sp>
        <p:nvSpPr>
          <p:cNvPr id="23" name="Idea clave etiqueta"/>
          <p:cNvSpPr txBox="1"/>
          <p:nvPr/>
        </p:nvSpPr>
        <p:spPr>
          <a:xfrm>
            <a:off x="731520" y="5682996"/>
            <a:ext cx="1234440" cy="29260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chemeClr val="tx1"/>
                </a:solidFill>
              </a:rPr>
              <a:t>IDEA CLAVE</a:t>
            </a:r>
            <a:endParaRPr lang="en-US" sz="1100" dirty="0"/>
          </a:p>
        </p:txBody>
      </p:sp>
      <p:sp>
        <p:nvSpPr>
          <p:cNvPr id="24" name="Idea clave texto"/>
          <p:cNvSpPr txBox="1"/>
          <p:nvPr/>
        </p:nvSpPr>
        <p:spPr>
          <a:xfrm>
            <a:off x="2148840" y="5486400"/>
            <a:ext cx="93113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Desventaja: cada referencia a memoria requiere una suma y una comparación.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761695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Ejemplo resuelto · tres programas de 16 KB</a:t>
            </a:r>
            <a:endParaRPr lang="en-US" sz="3600" dirty="0"/>
          </a:p>
        </p:txBody>
      </p:sp>
      <p:sp>
        <p:nvSpPr>
          <p:cNvPr id="4" name="Mapa Programa C"/>
          <p:cNvSpPr txBox="1"/>
          <p:nvPr/>
        </p:nvSpPr>
        <p:spPr>
          <a:xfrm>
            <a:off x="1783080" y="1417320"/>
            <a:ext cx="1965960" cy="1371600"/>
          </a:xfrm>
          <a:prstGeom prst="rect">
            <a:avLst/>
          </a:prstGeom>
          <a:solidFill>
            <a:schemeClr val="accent4"/>
          </a:solidFill>
          <a:ln w="254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Programa C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32.768 – 49.151</a:t>
            </a:r>
            <a:endParaRPr lang="en-US" sz="1600" dirty="0"/>
          </a:p>
        </p:txBody>
      </p:sp>
      <p:sp>
        <p:nvSpPr>
          <p:cNvPr id="5" name="Mapa Programa B"/>
          <p:cNvSpPr txBox="1"/>
          <p:nvPr/>
        </p:nvSpPr>
        <p:spPr>
          <a:xfrm>
            <a:off x="1783080" y="2788920"/>
            <a:ext cx="1965960" cy="1371600"/>
          </a:xfrm>
          <a:prstGeom prst="rect">
            <a:avLst/>
          </a:prstGeom>
          <a:solidFill>
            <a:schemeClr val="accent2"/>
          </a:solidFill>
          <a:ln w="254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Programa B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16.384 – 32.767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JMP 28 → 16.412</a:t>
            </a:r>
            <a:endParaRPr lang="en-US" sz="1600" dirty="0"/>
          </a:p>
        </p:txBody>
      </p:sp>
      <p:sp>
        <p:nvSpPr>
          <p:cNvPr id="6" name="Mapa Programa A"/>
          <p:cNvSpPr txBox="1"/>
          <p:nvPr/>
        </p:nvSpPr>
        <p:spPr>
          <a:xfrm>
            <a:off x="1783080" y="4160520"/>
            <a:ext cx="1965960" cy="1371600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Programa A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0 – 16.383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261872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49.151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633472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32.768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4005072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16.384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5376672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0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4343400" y="1371600"/>
            <a:ext cx="72996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Paso 1 · 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16 KB = 16 × 1024 = 16.384 bytes</a:t>
            </a:r>
            <a:endParaRPr lang="en-US" sz="1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43400" y="1920240"/>
          <a:ext cx="7299655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2057400"/>
                <a:gridCol w="1463040"/>
                <a:gridCol w="2544775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Programa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8D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D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D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D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Base (inicio físico)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8D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D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D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D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Límite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8D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D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D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D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Rango físico permitido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8D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D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D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D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8D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D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D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D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8D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D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D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D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16.384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8D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D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D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D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 – 16.383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8D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D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D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D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8D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D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D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D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16.384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8D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D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D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D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16.384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8D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D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D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D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16.384 – 32.767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8D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D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D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D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8D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D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D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D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32.768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8D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D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D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D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16.384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8D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D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D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D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32.768 – 49.151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8D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D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D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D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3" name="Text 9"/>
          <p:cNvSpPr txBox="1"/>
          <p:nvPr/>
        </p:nvSpPr>
        <p:spPr>
          <a:xfrm>
            <a:off x="4343400" y="3968496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2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4892040" y="3931920"/>
            <a:ext cx="6751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Paso 2 · </a:t>
            </a:r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Ejecutamos B: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BASE = 16.384; LÍMITE = 16.384</a:t>
            </a:r>
            <a:endParaRPr lang="en-US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4343400" y="4654296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3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4892040" y="4617720"/>
            <a:ext cx="6751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Paso 3 · </a:t>
            </a:r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Salto JMP 28: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0 ≤ 28 &lt; 16.384, por tanto </a:t>
            </a:r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es válido</a:t>
            </a:r>
            <a:endParaRPr lang="en-US" sz="1700" dirty="0"/>
          </a:p>
        </p:txBody>
      </p:sp>
      <p:sp>
        <p:nvSpPr>
          <p:cNvPr id="17" name="Text 13"/>
          <p:cNvSpPr txBox="1"/>
          <p:nvPr/>
        </p:nvSpPr>
        <p:spPr>
          <a:xfrm>
            <a:off x="4343400" y="5340096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4</a:t>
            </a:r>
            <a:endParaRPr lang="en-US" sz="1500" dirty="0"/>
          </a:p>
        </p:txBody>
      </p:sp>
      <p:sp>
        <p:nvSpPr>
          <p:cNvPr id="18" name="Text 14"/>
          <p:cNvSpPr txBox="1"/>
          <p:nvPr/>
        </p:nvSpPr>
        <p:spPr>
          <a:xfrm>
            <a:off x="4892040" y="5303520"/>
            <a:ext cx="6751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Paso 4 · </a:t>
            </a:r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Dirección física = 16.384 + 28 = </a:t>
            </a:r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16.412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761695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Ejemplo resuelto · acceso fuera del límite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371600"/>
            <a:ext cx="11094415" cy="502920"/>
          </a:xfrm>
          <a:prstGeom prst="roundRect">
            <a:avLst>
              <a:gd name="adj" fmla="val 18182"/>
            </a:avLst>
          </a:prstGeom>
          <a:solidFill>
            <a:schemeClr val="tx2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Programa B en ejecución  ·  BASE = 16.384  ·  LÍMITE = 16.384</a:t>
            </a:r>
            <a:endParaRPr lang="en-US" sz="1600" dirty="0"/>
          </a:p>
        </p:txBody>
      </p:sp>
      <p:sp>
        <p:nvSpPr>
          <p:cNvPr id="5" name="Caso 16.383"/>
          <p:cNvSpPr/>
          <p:nvPr/>
        </p:nvSpPr>
        <p:spPr>
          <a:xfrm>
            <a:off x="548640" y="2103120"/>
            <a:ext cx="5394960" cy="260604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68680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130" y="2594610"/>
            <a:ext cx="342900" cy="3429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37360" y="24231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Acceder a la dirección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1737360" y="269748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16.383</a:t>
            </a:r>
            <a:endParaRPr lang="en-US" sz="400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35204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Comprobación: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16.383 &lt; 16.384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868680" y="39776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Válido → física 32.767</a:t>
            </a:r>
            <a:endParaRPr lang="en-US" sz="1900" dirty="0"/>
          </a:p>
        </p:txBody>
      </p:sp>
      <p:sp>
        <p:nvSpPr>
          <p:cNvPr id="12" name="Caso 16.384"/>
          <p:cNvSpPr/>
          <p:nvPr/>
        </p:nvSpPr>
        <p:spPr>
          <a:xfrm>
            <a:off x="6248095" y="2103120"/>
            <a:ext cx="5394960" cy="260604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568135" y="2423160"/>
            <a:ext cx="685800" cy="6858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9585" y="2594610"/>
            <a:ext cx="342900" cy="34290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436815" y="24231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Acceder a la dirección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7436815" y="269748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16.384</a:t>
            </a:r>
            <a:endParaRPr lang="en-US" sz="4000" dirty="0"/>
          </a:p>
        </p:txBody>
      </p:sp>
      <p:sp>
        <p:nvSpPr>
          <p:cNvPr id="17" name="Text 12"/>
          <p:cNvSpPr txBox="1"/>
          <p:nvPr/>
        </p:nvSpPr>
        <p:spPr>
          <a:xfrm>
            <a:off x="6568135" y="35204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Comprobación: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16.384 ≥ 16.384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6568135" y="39776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3"/>
                </a:solidFill>
              </a:rPr>
              <a:t>Inválido → excepción de protección</a:t>
            </a:r>
            <a:endParaRPr lang="en-US" sz="1900" dirty="0"/>
          </a:p>
        </p:txBody>
      </p:sp>
      <p:sp>
        <p:nvSpPr>
          <p:cNvPr id="19" name="Text 14"/>
          <p:cNvSpPr txBox="1"/>
          <p:nvPr/>
        </p:nvSpPr>
        <p:spPr>
          <a:xfrm>
            <a:off x="548640" y="48463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No se permite acceder a la dirección lógica 16.384: está fuera de los 16 KB asignados.</a:t>
            </a:r>
            <a:endParaRPr lang="en-US" sz="1600" dirty="0"/>
          </a:p>
        </p:txBody>
      </p:sp>
      <p:sp>
        <p:nvSpPr>
          <p:cNvPr id="20" name="Idea clave fondo"/>
          <p:cNvSpPr/>
          <p:nvPr/>
        </p:nvSpPr>
        <p:spPr>
          <a:xfrm>
            <a:off x="548640" y="5486400"/>
            <a:ext cx="11094415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sp>
        <p:nvSpPr>
          <p:cNvPr id="21" name="Idea clave etiqueta"/>
          <p:cNvSpPr txBox="1"/>
          <p:nvPr/>
        </p:nvSpPr>
        <p:spPr>
          <a:xfrm>
            <a:off x="731520" y="5682996"/>
            <a:ext cx="1234440" cy="29260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chemeClr val="tx1"/>
                </a:solidFill>
              </a:rPr>
              <a:t>IDEA CLAVE</a:t>
            </a:r>
            <a:endParaRPr lang="en-US" sz="1100" dirty="0"/>
          </a:p>
        </p:txBody>
      </p:sp>
      <p:sp>
        <p:nvSpPr>
          <p:cNvPr id="22" name="Idea clave texto"/>
          <p:cNvSpPr txBox="1"/>
          <p:nvPr/>
        </p:nvSpPr>
        <p:spPr>
          <a:xfrm>
            <a:off x="2148840" y="5486400"/>
            <a:ext cx="93113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La dirección 16.384 ya no pertenece al espacio lógico del proceso B, aunque haya memoria física después.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761695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Resumen, memoria virtual y repaso</a:t>
            </a:r>
            <a:endParaRPr lang="en-US" sz="3600" dirty="0"/>
          </a:p>
        </p:txBody>
      </p:sp>
      <p:sp>
        <p:nvSpPr>
          <p:cNvPr id="4" name="Etapa Sin abstracción"/>
          <p:cNvSpPr/>
          <p:nvPr/>
        </p:nvSpPr>
        <p:spPr>
          <a:xfrm>
            <a:off x="548640" y="1371600"/>
            <a:ext cx="251460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777240" y="155448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Sin abstracción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2011680"/>
            <a:ext cx="2057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Acceso físico directo; no aísla procesos.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3135325" y="2057400"/>
            <a:ext cx="201168" cy="365760"/>
          </a:xfrm>
          <a:prstGeom prst="chevron">
            <a:avLst/>
          </a:prstGeom>
          <a:solidFill>
            <a:schemeClr val="accent6"/>
          </a:solidFill>
          <a:ln/>
        </p:spPr>
      </p:sp>
      <p:sp>
        <p:nvSpPr>
          <p:cNvPr id="8" name="Etapa Llaves IBM 360"/>
          <p:cNvSpPr/>
          <p:nvPr/>
        </p:nvSpPr>
        <p:spPr>
          <a:xfrm>
            <a:off x="3408578" y="1371600"/>
            <a:ext cx="251460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3637178" y="155448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Llaves IBM 360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3637178" y="2011680"/>
            <a:ext cx="2057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Protección, sin reubicación.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995264" y="2057400"/>
            <a:ext cx="201168" cy="365760"/>
          </a:xfrm>
          <a:prstGeom prst="chevron">
            <a:avLst/>
          </a:prstGeom>
          <a:solidFill>
            <a:schemeClr val="accent6"/>
          </a:solidFill>
          <a:ln/>
        </p:spPr>
      </p:sp>
      <p:sp>
        <p:nvSpPr>
          <p:cNvPr id="12" name="Etapa Base + límite"/>
          <p:cNvSpPr/>
          <p:nvPr/>
        </p:nvSpPr>
        <p:spPr>
          <a:xfrm>
            <a:off x="6268517" y="1371600"/>
            <a:ext cx="2514600" cy="1737360"/>
          </a:xfrm>
          <a:prstGeom prst="roundRect">
            <a:avLst>
              <a:gd name="adj" fmla="val 6316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6497117" y="155448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Base + límite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6497117" y="2011680"/>
            <a:ext cx="2057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Protección y reubicación dinámica.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8855202" y="2057400"/>
            <a:ext cx="201168" cy="365760"/>
          </a:xfrm>
          <a:prstGeom prst="chevron">
            <a:avLst/>
          </a:prstGeom>
          <a:solidFill>
            <a:schemeClr val="accent6"/>
          </a:solidFill>
          <a:ln/>
        </p:spPr>
      </p:sp>
      <p:sp>
        <p:nvSpPr>
          <p:cNvPr id="16" name="Etapa Memoria virtual"/>
          <p:cNvSpPr/>
          <p:nvPr/>
        </p:nvSpPr>
        <p:spPr>
          <a:xfrm>
            <a:off x="9128455" y="1371600"/>
            <a:ext cx="2514600" cy="1737360"/>
          </a:xfrm>
          <a:prstGeom prst="roundRect">
            <a:avLst>
              <a:gd name="adj" fmla="val 6316"/>
            </a:avLst>
          </a:prstGeom>
          <a:solidFill>
            <a:schemeClr val="tx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9357055" y="155448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Memoria virtual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9357055" y="2011680"/>
            <a:ext cx="2057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Usar un espacio de direcciones sin que esté completo en RAM.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34290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tx2"/>
                </a:solidFill>
              </a:rPr>
              <a:t>Preguntas al curso</a:t>
            </a:r>
            <a:endParaRPr lang="en-US" sz="21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4041648"/>
            <a:ext cx="420624" cy="42062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1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1143000" y="39776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¿Qué hace el registro base?</a:t>
            </a:r>
            <a:endParaRPr lang="en-US" sz="1600" dirty="0"/>
          </a:p>
        </p:txBody>
      </p:sp>
      <p:sp>
        <p:nvSpPr>
          <p:cNvPr id="22" name="Respuesta 1"/>
          <p:cNvSpPr/>
          <p:nvPr/>
        </p:nvSpPr>
        <p:spPr>
          <a:xfrm>
            <a:off x="6172200" y="3977640"/>
            <a:ext cx="5470855" cy="548640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355080" y="3977640"/>
            <a:ext cx="5105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Guarda la dirección física donde inicia el proceso.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4727448"/>
            <a:ext cx="420624" cy="42062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2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1143000" y="46634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¿Qué sucede si la dirección lógica ≥ límite?</a:t>
            </a:r>
            <a:endParaRPr lang="en-US" sz="1600" dirty="0"/>
          </a:p>
        </p:txBody>
      </p:sp>
      <p:sp>
        <p:nvSpPr>
          <p:cNvPr id="26" name="Respuesta 2"/>
          <p:cNvSpPr/>
          <p:nvPr/>
        </p:nvSpPr>
        <p:spPr>
          <a:xfrm>
            <a:off x="6172200" y="4663440"/>
            <a:ext cx="5470855" cy="548640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355080" y="4663440"/>
            <a:ext cx="5105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Se genera una excepción; se bloquea el acceso.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48640" y="5413248"/>
            <a:ext cx="420624" cy="42062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3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1143000" y="53492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¿Cuánto vale JMP 28 del segundo programa?</a:t>
            </a:r>
            <a:endParaRPr lang="en-US" sz="1600" dirty="0"/>
          </a:p>
        </p:txBody>
      </p:sp>
      <p:sp>
        <p:nvSpPr>
          <p:cNvPr id="30" name="Respuesta 3"/>
          <p:cNvSpPr/>
          <p:nvPr/>
        </p:nvSpPr>
        <p:spPr>
          <a:xfrm>
            <a:off x="6172200" y="5349240"/>
            <a:ext cx="5470855" cy="548640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6355080" y="5349240"/>
            <a:ext cx="5105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16.384 + 28 = 16.412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761695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Fuentes bibliográficas</a:t>
            </a:r>
            <a:endParaRPr lang="en-US" sz="3600" dirty="0"/>
          </a:p>
        </p:txBody>
      </p:sp>
      <p:sp>
        <p:nvSpPr>
          <p:cNvPr id="3" name="Referencia principal"/>
          <p:cNvSpPr/>
          <p:nvPr/>
        </p:nvSpPr>
        <p:spPr>
          <a:xfrm>
            <a:off x="548640" y="1371600"/>
            <a:ext cx="11094415" cy="1005840"/>
          </a:xfrm>
          <a:prstGeom prst="roundRect">
            <a:avLst>
              <a:gd name="adj" fmla="val 10909"/>
            </a:avLst>
          </a:prstGeom>
          <a:solidFill>
            <a:schemeClr val="bg1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627632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00200" y="1371600"/>
            <a:ext cx="98142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Tanenbaum, A. S. (2009). </a:t>
            </a:r>
            <a:pPr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Sistemas operativos modernos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(3.ª ed.). Pearson Educación.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788920"/>
            <a:ext cx="1828800" cy="45720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p. 175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2651760" y="2697480"/>
            <a:ext cx="89912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Capítulo 3 · Introducción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Jerarquía y administrador de memoria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566160"/>
            <a:ext cx="1828800" cy="45720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pp. 176–179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2651760" y="3474720"/>
            <a:ext cx="89912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3.1 · Sin abstracción de memoria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Organizaciones, IBM 360, problemas y reubicación estática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343400"/>
            <a:ext cx="1828800" cy="45720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pp. 180–181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2651760" y="4251960"/>
            <a:ext cx="89912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3.2.1 · La noción de un espacio de direcciones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Definición, ejemplos y registros base/límite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5120640"/>
            <a:ext cx="1828800" cy="45720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p. 188 en adelante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2651760" y="5029200"/>
            <a:ext cx="89912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3.3 · Memoria virtual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Relación complementaria presentada brevemente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5852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Contenido reformulado con palabras propias; ejemplos numéricos basados en las figuras 3-2 y 3-3.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761695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emoria PCB">
  <a:themeElements>
    <a:clrScheme name="Memoria PCB">
      <a:dk1>
        <a:srgbClr val="13231F"/>
      </a:dk1>
      <a:lt1>
        <a:srgbClr val="FFFFFF"/>
      </a:lt1>
      <a:dk2>
        <a:srgbClr val="0E2A23"/>
      </a:dk2>
      <a:lt2>
        <a:srgbClr val="EAF3EE"/>
      </a:lt2>
      <a:accent1>
        <a:srgbClr val="1F9D6B"/>
      </a:accent1>
      <a:accent2>
        <a:srgbClr val="E0A100"/>
      </a:accent2>
      <a:accent3>
        <a:srgbClr val="C8453B"/>
      </a:accent3>
      <a:accent4>
        <a:srgbClr val="2E5E50"/>
      </a:accent4>
      <a:accent5>
        <a:srgbClr val="A8D5BF"/>
      </a:accent5>
      <a:accent6>
        <a:srgbClr val="5F6E69"/>
      </a:accent6>
      <a:hlink>
        <a:srgbClr val="1F9D6B"/>
      </a:hlink>
      <a:folHlink>
        <a:srgbClr val="2E5E50"/>
      </a:folHlink>
    </a:clrScheme>
    <a:fontScheme name="Memoria PCB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Memoria: acceso directo y espacios de direcciones</dc:title>
  <dc:subject>PptxGenJS Presentation</dc:subject>
  <dc:creator>Grupo 1</dc:creator>
  <cp:lastModifiedBy>Grupo 1</cp:lastModifiedBy>
  <cp:revision>1</cp:revision>
  <dcterms:created xsi:type="dcterms:W3CDTF">2026-10-27T23:32:21Z</dcterms:created>
  <dcterms:modified xsi:type="dcterms:W3CDTF">2026-10-27T23:32:21Z</dcterms:modified>
</cp:coreProperties>
</file>