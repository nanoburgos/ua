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  <p:sldId id="288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24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0:00. Bienvenida breve. Frase sugerida: "Hoy repasamos toda la Unidad 3, y al final hacemos un simulacro de parcial para que cada uno vea cómo está. El parcial es el martes que viene, 20 de octubre." No hace falta decir más: pasá a la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0:05. Ubicá a los alumnos: el parcial cubre las clases 7 y 8. Si ya sabés el formato del 2do parcial (por ejemplo, V/F, selección múltiple y completar como en el 1ro), decilo acá en una frase; el simulacro de hoy usa esos tres formatos. Si no lo definiste, no lo prometas.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0:10. Esta diapositiva es el hilo conductor de toda la clase: PROBLEMA → META → SOLUCIONES → RIESGO. Dejala 2 minutos en pantalla y pedí que la copien en el cuaderno. Cada bloque siguiente es una de estas cajas. Volvemos a ella en el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0:20. Repaso rápido, 5 minutos como máximo. Los tres contextos (arriba) y los tres riesgos (abajo) son la base de preguntas de definición. Lo único que hay que retener: la concurrencia aparece tanto con un procesador como con varios, y los errores son difíciles porque no se repiten siempre igual.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0:35. Leé los seis sin comentar. Después marcá el 5: es la clásica opción incorrecta en selección múltiple ("se asume que un proceso es más rápido que otro" es FALSO). Estos seis requisitos son el criterio con que se juzga cualquier solución: Dekker, Peterson, hardware, semáforos,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0:45. Analogía del material: el iglú con la pizarra. Retener dos defectos: (1) ritmo forzado al más lento, (2) si el dueño del turno falla, el otro espera para siempre. Ese segundo defecto se menciona en el parcial como "queda bloqueado para siempre".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0:53. OJO, corrección respecto de la Clase 7: en la diapositiva 11 de aquel día el código del 2do intento no mostraba la línea "while señal[j] do {nada}", y sin esa línea la explicación del problema no cierra. Hoy va completo. Explicalo así: cada uno mira si el otro está adentro; si no está, pone su señal y entra. El fallo: los dos miran al mismo tiempo, ven que el otro NO está, y los dos ponen su señal y entran. Mejora: ya no depende de un turno. Defecto: no garantiza la exclusión mutua.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1:03. Frase para recordar: "cedo el turno y espero solo si el otro quiere entrar y le toca". Peterson usa DOS variables: señal y turno. Es una pregunta de completar muy probable ("Peterson combina las variables ___ y ___"). Todavía es espera activa: el while consume procesador.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1:10. Cuadro resumen. Dejalo en pantalla 1 minuto antes de explicar. La fila "Si uno falla" es la que más se confunde: en el 1er intento el problema es fallar CON el turno; en el 2do, fallar fuera de la sección crítica ya no bloquea. Nota: "¿Correcto?" en el 1er intento es "limitado" porque sí garantiza exclusión mutua pero con los problemas de la diapositiva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1:18. Dos soluciones, una por contexto: interrupciones para monoprocesador, instrucciones atómicas para multiprocesador. Definición exacta de atómico para anotar: "no puede interrumpirse a la mitad; ninguna otra instrucción, ni de otro procesador, se cuela entre el paso 1 y el 2".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1:40. Las dos primitivas son wait y signal. Regla que más cae: contador negativo = bloqueados en cola (valor absoluto). Se inicia con un valor entero NO negativo. Binario: solo 0 y 1, mismo poder de expresión que el general. Cola FIFO: ningún proceso queda retenido indefinidamente.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1:50. Ejemplo resuelto, el mismo de la Clase 8. Recorré una fila por vez y preguntá en voz alta (retórica): "¿cuánto vale s ahora?". Esta traza es la base de la pregunta del simulacro sobre cuánto vale s después de tres wait seguidos (respuesta: -2).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2:07. Dos semáforos, dos funciones: s es exclusión mutua, n es sincronización (cuenta elementos). Si te preguntan por qué el consumidor primero hace wait(n): porque si no hay elementos no tiene sentido tomar el buffer. Ojo: la Clase 8 dejó como pregunta abierta qué pasa si el CONSUMIDOR invierte wait(n) y wait(s); no hace falta responderla acá si no preguntan, y no está en el simulacro.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2:17. Tres características y dos operaciones. Contraste clave con semáforos: el csignal sin nadie esperando se pierde; el signal de un semáforo "recuerda" porque incrementa el contador.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2:25. Dos ejes: sincronización (bloqueante o no) y direccionamiento (directo o indirecto). Con receive bloqueante, el receptor SE BLOQUEA hasta que llegue un mensaje. Exclusión mutua con mensajes: un buzón "exmut" con 1 mensaje nulo; receive = entrar, send = salir.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2:32. Cuadro de contraste, lo más útil para estudiar. Dejalo 1 minuto en pantalla. Lo que más se confunde: "si nadie espera" en csignal vs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2:39. Definición y dos tipos de recursos. Truco: reutilizable = "lo devuelvo y sigue ahí"; consumible = "se gasta al usarlo". Mensajes y señales son consumibles; archivos y memoria, reutilizables.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2:47. Es el cuadro más importante del bloque. Las cuatro condiciones suelen pedirse en completar espacios. Aprender los nombres exactos: exclusión mutua, retención y espera, no apropiación, círculo vicioso de espera.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Minuto 3:50. Cierre. Leé los siete puntos como lista de estudio. Recordá fecha del parcial. La próxima clase (27/10) arranca la Unidad 4 (Memoria), una semana después del parcial. Despedida breve.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· SISTEMAS OPERATIVOS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 de la Unidad 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Concurrencia, sincronización e interbloqueo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9 · Preparación para el 2do Parcial (20/10)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 octubre, 2026 ·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estamos?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008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7 · 29/09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Concurrencia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Condición de carrera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requisitos de la exclusión mutua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Dekker y Peterson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Soluciones por hardware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297680" y="1691640"/>
            <a:ext cx="64008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52628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8 · 06/10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Semáforos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Productor/consumidor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Paso de mensajes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Interbloqueo y filósofos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FFF8E6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7" name="Shape 15"/>
          <p:cNvSpPr/>
          <p:nvPr/>
        </p:nvSpPr>
        <p:spPr>
          <a:xfrm>
            <a:off x="8046720" y="1691640"/>
            <a:ext cx="64008" cy="30175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827532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· 13/10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2103120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Repaso de todo lo anterior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resueltos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Parcial: martes 20/10 · Contenido: Unidad 3 (clases 7 y 8)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LA UNIDAD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historia completa en una línea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64008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que comparten datos se pisan entre sí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carrera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82112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2900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429000" y="1874520"/>
            <a:ext cx="64008" cy="2834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36576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22860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mutua: solo uno a la vez en la sección crítica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requisitos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62472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0936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309360" y="1874520"/>
            <a:ext cx="64008" cy="283464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5379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22860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(Dekker, Peterson) · Hardware · SO (semáforos, monitores, mensajes)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mejora a la anterior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42832" y="2834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18972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9189720" y="1874520"/>
            <a:ext cx="64008" cy="28346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941832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418320" y="2286000"/>
            <a:ext cx="2240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Usarlas mal puede trabar a todos para siempre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72600" y="4160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Interbloqueo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entendés este recorrido, todo lo demás es detalle de cada etapa.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concurrencia?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diseño de mecanismos para que procesos que se ejecutan "al mismo tiempo" (o casi) no se pisen entre sí. Es el punto central del diseño de un sistema operativo.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procesos en un sistema MONOPROCESADOR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4688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297680" y="26060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procesos en un sistema MULTIPROCESADOR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246888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046720" y="260604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27532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distribuidos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0175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procesos en sistemas operativos múltiples y remotos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3 </a:t>
            </a:r>
            <a:r>
              <a:rPr lang="en-US" sz="2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Recursos compartidos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y escribir las mismas variables globales se vuelve crítico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97680" y="4572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2628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Asignación óptima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fácil: bloquear recursos por otros procesos es ineficiente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46720" y="457200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827532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Errores difíciles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7532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no reproducibles: el mismo código falla "a veces"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21208"/>
            <a:ext cx="110642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Exclusión mutua: los 6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</a:t>
            </a:r>
            <a:endParaRPr lang="en-US" sz="3000" b="1" dirty="0">
              <a:solidFill>
                <a:srgbClr val="1E2761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s-PY" sz="1500" dirty="0"/>
              <a:t>Es una propiedad de la programación concurrente y los sistemas operativos que garantiza que </a:t>
            </a:r>
            <a:r>
              <a:rPr lang="es-PY" sz="1500" b="0" u="none" strike="noStrike" dirty="0">
                <a:effectLst/>
                <a:latin typeface="Google Sans"/>
              </a:rPr>
              <a:t>solo un proceso o hilo pueda acceder a un recurso compartido o ejecutar una sección crítica a la vez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16459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proceso a la vez en su sección crítica sobre el mismo recurso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355080" y="192024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16459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proceso se interrumpe en una sección NO crítica, no afecta a los demás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31546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interbloqueo ni inanición (nadie espera para siempre)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06324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6355080" y="342900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355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31546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está en su sección crítica, el que la pide entra sin demora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731520" y="49377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73152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08760" y="46634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asume nada sobre la velocidad relativa ni la cantidad de procesos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72200" y="45720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6355080" y="49377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635508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32320" y="46634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permanece en su sección crítica solo un tiempo finito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Trampa típica de parcial: el requisito 5 dice que NO se asume nada sobre la velocidad.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POR SOFTWARE ·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Dekker, 1er intento: el iglú con una pizarra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7607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008" cy="3017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349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iglú diminuto donde entra una sola persona, con una pizarra que guarda un número (el TURNO).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Mirás la pizarra.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Si está tu número, entrás a tu sección crítica.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 no, esperás mirando una y otra vez ("espera activa").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 salir, escribís el número del OTRO.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DF0EE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492240" y="1691640"/>
            <a:ext cx="64008" cy="3017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72084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Problemas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21031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Turnos estrictos: el proceso rápido debe adaptarse al ritmo del lento.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uno falla mientras tiene el turno, el otro queda bloqueado PARA SIEMPRE.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variable (turno) guarda DE QUIÉN es el turno.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Palabra clave: TURNO (una variable compartida)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POR SOFTWARE ·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Dekker, 2do intento: cada uno con su iglú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guardar DE QUIÉN es el turno, cada proceso guarda su PROPIO estado en su propia pizarra: visible para el otro, pero no editable por él.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2331720"/>
            <a:ext cx="64008" cy="109728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176B137E-343B-6199-84CF-2144AA803A32}"/>
              </a:ext>
            </a:extLst>
          </p:cNvPr>
          <p:cNvGrpSpPr/>
          <p:nvPr/>
        </p:nvGrpSpPr>
        <p:grpSpPr>
          <a:xfrm>
            <a:off x="3474720" y="2240281"/>
            <a:ext cx="4846320" cy="1371600"/>
            <a:chOff x="6766560" y="2194560"/>
            <a:chExt cx="4846320" cy="1371600"/>
          </a:xfrm>
        </p:grpSpPr>
        <p:sp>
          <p:nvSpPr>
            <p:cNvPr id="11" name="Shape 9"/>
            <p:cNvSpPr/>
            <p:nvPr/>
          </p:nvSpPr>
          <p:spPr>
            <a:xfrm>
              <a:off x="6766560" y="2194560"/>
              <a:ext cx="4846320" cy="13716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 11"/>
            <p:cNvSpPr/>
            <p:nvPr/>
          </p:nvSpPr>
          <p:spPr>
            <a:xfrm>
              <a:off x="6995160" y="2286000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Mejora</a:t>
              </a:r>
              <a:endParaRPr lang="en-US" sz="16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3886200" y="2769447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proceso falla FUERA de su sección crítica, el otro no se bloquea.</a:t>
            </a:r>
            <a:endParaRPr lang="en-US" sz="14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71555C0F-B21B-6AEC-3C23-9AF9AB748A21}"/>
              </a:ext>
            </a:extLst>
          </p:cNvPr>
          <p:cNvGrpSpPr/>
          <p:nvPr/>
        </p:nvGrpSpPr>
        <p:grpSpPr>
          <a:xfrm>
            <a:off x="3474720" y="3732109"/>
            <a:ext cx="4846320" cy="1463040"/>
            <a:chOff x="6766560" y="3749040"/>
            <a:chExt cx="4846320" cy="1463040"/>
          </a:xfrm>
        </p:grpSpPr>
        <p:sp>
          <p:nvSpPr>
            <p:cNvPr id="15" name="Shape 13"/>
            <p:cNvSpPr/>
            <p:nvPr/>
          </p:nvSpPr>
          <p:spPr>
            <a:xfrm>
              <a:off x="6766560" y="3749040"/>
              <a:ext cx="4846320" cy="1463040"/>
            </a:xfrm>
            <a:prstGeom prst="roundRect">
              <a:avLst>
                <a:gd name="adj" fmla="val 6250"/>
              </a:avLst>
            </a:prstGeom>
            <a:solidFill>
              <a:srgbClr val="FDF0EE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Shape 14"/>
            <p:cNvSpPr/>
            <p:nvPr/>
          </p:nvSpPr>
          <p:spPr>
            <a:xfrm>
              <a:off x="6766560" y="3886200"/>
              <a:ext cx="64008" cy="1188720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 15"/>
            <p:cNvSpPr/>
            <p:nvPr/>
          </p:nvSpPr>
          <p:spPr>
            <a:xfrm>
              <a:off x="6995160" y="3840480"/>
              <a:ext cx="44805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 Sigue siendo incorrecto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995160" y="4297680"/>
              <a:ext cx="4434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4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dos pueden pasar el while ANTES de que alguno ponga su señal en cierto: entran los DOS a la vez.</a:t>
              </a:r>
              <a:endParaRPr lang="en-US" sz="14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Palabra clave: SEÑAL (un booleano por proceso)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POR SOFTWARE ·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de Peterson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las dos variables que fallaban por separado: señal (¿quiero entrar?) + turno (¿a quién le toca si ambos queremos?).</a:t>
            </a:r>
            <a:endParaRPr lang="en-US" sz="160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027BDCC-63F5-3B53-D250-C99EF6F9A6A6}"/>
              </a:ext>
            </a:extLst>
          </p:cNvPr>
          <p:cNvGrpSpPr/>
          <p:nvPr/>
        </p:nvGrpSpPr>
        <p:grpSpPr>
          <a:xfrm>
            <a:off x="4038600" y="2152227"/>
            <a:ext cx="4114800" cy="2743200"/>
            <a:chOff x="7498080" y="2194560"/>
            <a:chExt cx="4114800" cy="2743200"/>
          </a:xfrm>
        </p:grpSpPr>
        <p:sp>
          <p:nvSpPr>
            <p:cNvPr id="11" name="Shape 9"/>
            <p:cNvSpPr/>
            <p:nvPr/>
          </p:nvSpPr>
          <p:spPr>
            <a:xfrm>
              <a:off x="7498080" y="2194560"/>
              <a:ext cx="4114800" cy="27432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Shape 10"/>
            <p:cNvSpPr/>
            <p:nvPr/>
          </p:nvSpPr>
          <p:spPr>
            <a:xfrm>
              <a:off x="7498080" y="2331720"/>
              <a:ext cx="64008" cy="2468880"/>
            </a:xfrm>
            <a:prstGeom prst="rect">
              <a:avLst/>
            </a:prstGeom>
            <a:solidFill>
              <a:srgbClr val="1F6F5C"/>
            </a:solidFill>
            <a:ln w="12700">
              <a:solidFill>
                <a:srgbClr val="1F6F5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 11"/>
            <p:cNvSpPr/>
            <p:nvPr/>
          </p:nvSpPr>
          <p:spPr>
            <a:xfrm>
              <a:off x="7726680" y="228600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Funciona siempre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26680" y="2743200"/>
              <a:ext cx="3703320" cy="2103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5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 2 procesos (y se puede extender a N).</a:t>
              </a:r>
              <a:endParaRPr lang="en-US" sz="1500" dirty="0"/>
            </a:p>
            <a:p>
              <a:pPr marL="0" indent="0">
                <a:spcAft>
                  <a:spcPts val="400"/>
                </a:spcAft>
                <a:buNone/>
              </a:pPr>
              <a:endParaRPr lang="en-US" sz="1500" dirty="0"/>
            </a:p>
            <a:p>
              <a:pPr marL="0" indent="0">
                <a:spcAft>
                  <a:spcPts val="400"/>
                </a:spcAft>
                <a:buNone/>
              </a:pPr>
              <a:r>
                <a:rPr lang="en-US" sz="15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 más simple de programar y de demostrar que la solución completa de Dekker.</a:t>
              </a:r>
              <a:endParaRPr lang="en-US" sz="15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espero si el otro TAMBIÉN quiere entrar Y es su turno.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REPASO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Dekker 1, Dekker 2 y Peterson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0421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Dekker 1er intento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Dekker 2do intento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señal[i] (una por proceso)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señal[i] + turno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turnan estrictamente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uno avisa si está adentro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 + ceder el turno al otro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uno falla…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turno: el otro queda bloqueado para siempre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Fuera de su sección crítica: el otro sigue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bloquea al otro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Ritmo del más lento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Pueden entrar los dos a la vez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 activa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¿Correcto?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(2 procesos)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son soluciones por SOFTWARE con espera activa.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POR HARDWARE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Interrupciones vs instrucciones atómicas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008" cy="3566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Inhabilitar interrupciones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074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en MONOPROCESADOR: si nadie interrumpe al proceso, nadie se mete en su sección crítica.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Simple: se inhabilitan antes de entrar y se habilitan al salir.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Costoso (degrada la eficiencia).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funciona </a:t>
            </a:r>
            <a:r>
              <a:rPr lang="en-US" sz="15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multiprocesador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64008" cy="356616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4652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especiales de máquina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MULTIPROCESADOR. Hacen 2 operaciones de forma ATÓMICA (inseparable) en un solo ciclo.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Comparar y </a:t>
            </a:r>
            <a:r>
              <a:rPr lang="en-US" sz="15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5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Intercambiar</a:t>
            </a:r>
            <a:endParaRPr lang="en-US" sz="1500" dirty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"Atómico" = no puede interrumpirse a la mitad, ni siquiera por otro </a:t>
            </a:r>
            <a:r>
              <a:rPr lang="en-US" sz="15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</a:t>
            </a: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SEMÁFOROS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Semáforos: la idea de Dijkstra (1965)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procesos cooperan mediante señales simples. Un proceso puede ser obligado a detenerse hasta recibir una señal específica.</a:t>
            </a:r>
            <a:endParaRPr lang="en-US" sz="16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F43880C-AB87-F319-A6DF-FB5A0421149C}"/>
              </a:ext>
            </a:extLst>
          </p:cNvPr>
          <p:cNvGrpSpPr/>
          <p:nvPr/>
        </p:nvGrpSpPr>
        <p:grpSpPr>
          <a:xfrm>
            <a:off x="3474720" y="2217420"/>
            <a:ext cx="5212080" cy="1234440"/>
            <a:chOff x="6400800" y="2194560"/>
            <a:chExt cx="5212080" cy="1234440"/>
          </a:xfrm>
        </p:grpSpPr>
        <p:sp>
          <p:nvSpPr>
            <p:cNvPr id="11" name="Shape 9"/>
            <p:cNvSpPr/>
            <p:nvPr/>
          </p:nvSpPr>
          <p:spPr>
            <a:xfrm>
              <a:off x="6400800" y="2194560"/>
              <a:ext cx="5212080" cy="123444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Shape 10"/>
            <p:cNvSpPr/>
            <p:nvPr/>
          </p:nvSpPr>
          <p:spPr>
            <a:xfrm>
              <a:off x="6400800" y="2331720"/>
              <a:ext cx="64008" cy="96012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 11"/>
            <p:cNvSpPr/>
            <p:nvPr/>
          </p:nvSpPr>
          <p:spPr>
            <a:xfrm>
              <a:off x="6629400" y="2286000"/>
              <a:ext cx="4846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wait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629400" y="2743200"/>
              <a:ext cx="48006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4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Decrementa. Si queda negativo, bloquea al proceso.</a:t>
              </a:r>
              <a:endParaRPr lang="en-US" sz="1400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55FBEE77-3899-0F7A-1D4C-7CF439B2A683}"/>
              </a:ext>
            </a:extLst>
          </p:cNvPr>
          <p:cNvGrpSpPr/>
          <p:nvPr/>
        </p:nvGrpSpPr>
        <p:grpSpPr>
          <a:xfrm>
            <a:off x="3474720" y="3566161"/>
            <a:ext cx="5212080" cy="1234440"/>
            <a:chOff x="6400800" y="3566160"/>
            <a:chExt cx="5212080" cy="1234440"/>
          </a:xfrm>
        </p:grpSpPr>
        <p:sp>
          <p:nvSpPr>
            <p:cNvPr id="15" name="Shape 13"/>
            <p:cNvSpPr/>
            <p:nvPr/>
          </p:nvSpPr>
          <p:spPr>
            <a:xfrm>
              <a:off x="6400800" y="3566160"/>
              <a:ext cx="5212080" cy="123444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Shape 14"/>
            <p:cNvSpPr/>
            <p:nvPr/>
          </p:nvSpPr>
          <p:spPr>
            <a:xfrm>
              <a:off x="6400800" y="3703320"/>
              <a:ext cx="64008" cy="96012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 15"/>
            <p:cNvSpPr/>
            <p:nvPr/>
          </p:nvSpPr>
          <p:spPr>
            <a:xfrm>
              <a:off x="6629400" y="3657600"/>
              <a:ext cx="484632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629400" y="4114800"/>
              <a:ext cx="48006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4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Incrementa. Si había alguien esperando, despierta a uno.</a:t>
              </a:r>
              <a:endParaRPr lang="en-US" sz="1400" dirty="0"/>
            </a:p>
          </p:txBody>
        </p:sp>
      </p:grpSp>
      <p:sp>
        <p:nvSpPr>
          <p:cNvPr id="19" name="Shape 17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negativo → su valor ABSOLUTO es la cantidad de procesos bloqueados.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SEMÁFOROS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resuelto: traza de un semáforo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017520" cy="310896"/>
          </a:xfrm>
          <a:prstGeom prst="roundRect">
            <a:avLst>
              <a:gd name="adj" fmla="val 23529"/>
            </a:avLst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EJEMPLO RESUELTO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325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se inicia en 1. Tres procesos ejecutan wait(s) y luego signal(s).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240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s.contador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Bloqueados en s.cola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P1 ejecuta wait(s)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(P1 entra a la sección crítica)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P2 ejecuta wait(s)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P3 ejecuta wait(s)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P2, P3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P1 ejecuta signal(s)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(se despierta P2, el primero)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P2 ejecuta signal(s)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(se despierta P3)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P3 ejecuta signal(s)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(vuelve al valor inicial)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el contador es negativo, su valor absoluto es la cantidad de bloqueados. Al final vuelve a 1.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CLÁSICO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Productor / consumidor con semáforos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117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productores dejan datos en un buffer; el consumidor los extrae de a uno. Nunca tocan el buffer a la vez, y no se lee un buffer </a:t>
            </a:r>
            <a:r>
              <a:rPr lang="en-US" sz="1600" dirty="0" err="1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</a:t>
            </a: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500" dirty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s-PY" sz="1600" b="1" u="none" strike="noStrike" dirty="0">
                <a:effectLst/>
                <a:latin typeface="Google Sans"/>
              </a:rPr>
              <a:t>Buffer:</a:t>
            </a:r>
            <a:r>
              <a:rPr lang="es-PY" sz="1600" b="0" u="none" strike="noStrike" dirty="0">
                <a:effectLst/>
                <a:latin typeface="Google Sans"/>
              </a:rPr>
              <a:t> Espacio de memoria reservada</a:t>
            </a:r>
            <a:r>
              <a:rPr lang="es-PY" sz="1600" dirty="0"/>
              <a:t> que almacena datos de forma temporal mientras se transfieren de un lugar a otro</a:t>
            </a:r>
            <a:endParaRPr lang="en-US" sz="1600" dirty="0">
              <a:solidFill>
                <a:srgbClr val="1B1F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DFF1C6A1-AF86-A6F9-2CA7-3279AF06D430}"/>
              </a:ext>
            </a:extLst>
          </p:cNvPr>
          <p:cNvGrpSpPr/>
          <p:nvPr/>
        </p:nvGrpSpPr>
        <p:grpSpPr>
          <a:xfrm>
            <a:off x="3977640" y="2722388"/>
            <a:ext cx="4114800" cy="1076960"/>
            <a:chOff x="7498080" y="2148840"/>
            <a:chExt cx="4114800" cy="1371600"/>
          </a:xfrm>
        </p:grpSpPr>
        <p:sp>
          <p:nvSpPr>
            <p:cNvPr id="11" name="Shape 9"/>
            <p:cNvSpPr/>
            <p:nvPr/>
          </p:nvSpPr>
          <p:spPr>
            <a:xfrm>
              <a:off x="7498080" y="2148840"/>
              <a:ext cx="4114800" cy="13716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Shape 10"/>
            <p:cNvSpPr/>
            <p:nvPr/>
          </p:nvSpPr>
          <p:spPr>
            <a:xfrm>
              <a:off x="7498080" y="2286000"/>
              <a:ext cx="64008" cy="1097280"/>
            </a:xfrm>
            <a:prstGeom prst="rect">
              <a:avLst/>
            </a:prstGeom>
            <a:solidFill>
              <a:srgbClr val="1E2761"/>
            </a:solidFill>
            <a:ln w="12700">
              <a:solidFill>
                <a:srgbClr val="1E2761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Text 11"/>
            <p:cNvSpPr/>
            <p:nvPr/>
          </p:nvSpPr>
          <p:spPr>
            <a:xfrm>
              <a:off x="7726680" y="224028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726680" y="2697480"/>
              <a:ext cx="37033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4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Protege el buffer (exclusión mutua).</a:t>
              </a:r>
              <a:endParaRPr lang="en-US" sz="14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571BC4C-01DE-AEA0-2C7D-B3D516C71740}"/>
              </a:ext>
            </a:extLst>
          </p:cNvPr>
          <p:cNvGrpSpPr/>
          <p:nvPr/>
        </p:nvGrpSpPr>
        <p:grpSpPr>
          <a:xfrm>
            <a:off x="3977640" y="3931920"/>
            <a:ext cx="4114800" cy="1155700"/>
            <a:chOff x="7498080" y="3657600"/>
            <a:chExt cx="4114800" cy="1417320"/>
          </a:xfrm>
        </p:grpSpPr>
        <p:sp>
          <p:nvSpPr>
            <p:cNvPr id="15" name="Shape 13"/>
            <p:cNvSpPr/>
            <p:nvPr/>
          </p:nvSpPr>
          <p:spPr>
            <a:xfrm>
              <a:off x="7498080" y="3657600"/>
              <a:ext cx="4114800" cy="1417320"/>
            </a:xfrm>
            <a:prstGeom prst="roundRect">
              <a:avLst>
                <a:gd name="adj" fmla="val 6452"/>
              </a:avLst>
            </a:prstGeom>
            <a:solidFill>
              <a:srgbClr val="FFFFFF"/>
            </a:solidFill>
            <a:ln w="12700">
              <a:solidFill>
                <a:srgbClr val="CADCF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Shape 14"/>
            <p:cNvSpPr/>
            <p:nvPr/>
          </p:nvSpPr>
          <p:spPr>
            <a:xfrm>
              <a:off x="7498080" y="3794760"/>
              <a:ext cx="64008" cy="1143000"/>
            </a:xfrm>
            <a:prstGeom prst="rect">
              <a:avLst/>
            </a:prstGeom>
            <a:solidFill>
              <a:srgbClr val="1F6F5C"/>
            </a:solidFill>
            <a:ln w="12700">
              <a:solidFill>
                <a:srgbClr val="1F6F5C"/>
              </a:solidFill>
              <a:prstDash val="solid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 15"/>
            <p:cNvSpPr/>
            <p:nvPr/>
          </p:nvSpPr>
          <p:spPr>
            <a:xfrm>
              <a:off x="7726680" y="3749040"/>
              <a:ext cx="3749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E276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7726680" y="4206240"/>
              <a:ext cx="37033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400"/>
                </a:spcAft>
                <a:buNone/>
              </a:pPr>
              <a:r>
                <a:rPr lang="en-US" sz="1400" dirty="0">
                  <a:solidFill>
                    <a:srgbClr val="1B1F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Cuenta los elementos disponibles: el consumidor espera si n = 0.</a:t>
              </a:r>
              <a:endParaRPr lang="en-US" sz="14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del material: invertir signal(s) y signal(n) en el productor NO afecta el programa.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MONITORES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Monitores: sincronización más ordenada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semáforos, wait y signal están desparramados por el programa: es fácil equivocarse. Un monitor los encierra en un módulo.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64008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Datos locales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del monitor solo se acceden desde sus procedimientos.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1945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297680" y="2331720"/>
            <a:ext cx="64008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52628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Un punto de entrada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entra llamando a un procedimiento del monitor.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8046720" y="2331720"/>
            <a:ext cx="64008" cy="192024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827532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Uno a la vez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proceso ejecuta dentro del monitor. Los demás esperan afuera.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64008" cy="1188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cwait(c)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51206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 al proceso bajo la condición c y libera el monitor.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4572000"/>
            <a:ext cx="5486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6126480" y="4709160"/>
            <a:ext cx="64008" cy="1188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355080" y="4663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csignal(c)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512064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Reanuda a un proceso suspendido en c. Si nadie espera, la señal se PIERDE.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MENSAJES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Paso de mensajes: comunicar y sincronizar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472184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en sistemas distribuidos, multiprocesadores y monoprocesadores.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64240" cy="115824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pasa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bloqueante + recepción bloqueante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esperan hasta que llega el mensaje. Sincronización fuerte.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no bloqueante + recepción bloqueante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emisor sigue; el receptor espera el mensaje.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Ambos no bloqueantes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espera. Natural, pero un error puede inundar de mensajes.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5720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548640" y="4709160"/>
            <a:ext cx="64008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1"/>
          <p:cNvSpPr/>
          <p:nvPr/>
        </p:nvSpPr>
        <p:spPr>
          <a:xfrm>
            <a:off x="77724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Direccionamiento directo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indica el proceso destino. En receive se puede nombrar al emisor o aceptar de cualquiera.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17920" y="45720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4"/>
          <p:cNvSpPr/>
          <p:nvPr/>
        </p:nvSpPr>
        <p:spPr>
          <a:xfrm>
            <a:off x="6217920" y="4709160"/>
            <a:ext cx="64008" cy="128016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6446520" y="4663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Direccionamiento indirecto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446520" y="5120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mensajes van a un BUZÓN (cola compartida, o puerto). Desacopla emisor y receptor.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REPASO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Semáforos, monitores y mensajes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2555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Semáforo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de mensajes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entera con wait y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que encierra datos y procedimientos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y receive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Contador; negativo = bloqueados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proceso a la vez adentro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 Y sincroniza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/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cwait / csignal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/ receive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nadie espera…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"recuerda" (incrementa)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csignal se pierde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/ variantes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Binario y general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 / indirecto; bloqueante / no bloqueante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meta (exclusión mutua y sincronización), distintas herramientas.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INTERBLOQUEO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Interbloqueo (deadlock)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permanente de un grupo de procesos que compiten por recursos del sistema.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FFF8E6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P1 tiene R1 y pide R2. P2 tiene R2 y pide R1. Ninguno puede avanzar.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64008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reutilizables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9319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con seguridad y no se agotan.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procesadores, memoria, archivos, bases de datos, semáforos, canales de E/S.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383280"/>
            <a:ext cx="53949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64008" cy="237744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consumibles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93192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y se destruyen: al adquirirlos dejan de existir.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Ej.: interrupciones, mensajes, señales, información en buffers.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CLASE 8 · INTERBLOQUEO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4 condiciones y cómo romper cada una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524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se ataca (prevención)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Exclusión mutua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recurso lo usa un solo proceso a la vez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puede anular: el SO debe soportarla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Retención y espera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Retengo lo que tengo mientras pido más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Exigir pedir TODOS los recursos juntos (ineficiente)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No apropiación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puede quitarme lo que retengo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se niega un pedido, libero lo que tengo y vuelvo a pedir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Círculo vicioso de espera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 cerrada: cada uno espera al siguiente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Ordenación lineal de los tipos de recursos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haya interbloqueo se dan LAS CUATRO. Prevenir = quitar al menos una.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CERRAR HOY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y qué estudiar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008" cy="3749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llegar bien al parcial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Condición de carrera y los 6 requisitos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Cuadro Dekker 1 / Dekker 2 / Peterson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Hardware: interrupciones vs instrucciones atómicas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Semáforos: wait, signal, contador y traza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Cuadro semáforos / monitores / mensajes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Interbloqueo: 4 condiciones, prevenir, predecir y detectar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Filósofos: solución 1 vs solución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8E6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64008" cy="155448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644652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Parcial · martes 20/10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(clases 7 y 8)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64008" cy="1737360"/>
          </a:xfrm>
          <a:prstGeom prst="rect">
            <a:avLst/>
          </a:prstGeom>
          <a:solidFill>
            <a:srgbClr val="1F6F5C"/>
          </a:solidFill>
          <a:ln w="12700">
            <a:solidFill>
              <a:srgbClr val="1F6F5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446520" y="3657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(27/10)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la Unidad 4: Gestión de la memoria. Después del parcial.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3137</Words>
  <Application>Microsoft Office PowerPoint</Application>
  <PresentationFormat>Panorámica</PresentationFormat>
  <Paragraphs>346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5" baseType="lpstr">
      <vt:lpstr>Aptos</vt:lpstr>
      <vt:lpstr>Arial</vt:lpstr>
      <vt:lpstr>Calibri</vt:lpstr>
      <vt:lpstr>Cambria</vt:lpstr>
      <vt:lpstr>Google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 Clase 9 - Repaso Unidad 3</dc:title>
  <dc:subject>PptxGenJS Presentation</dc:subject>
  <dc:creator>PptxGenJS</dc:creator>
  <cp:lastModifiedBy>Lab206 DT</cp:lastModifiedBy>
  <cp:revision>5</cp:revision>
  <dcterms:created xsi:type="dcterms:W3CDTF">2026-10-12T10:59:56Z</dcterms:created>
  <dcterms:modified xsi:type="dcterms:W3CDTF">2026-10-13T22:24:01Z</dcterms:modified>
</cp:coreProperties>
</file>