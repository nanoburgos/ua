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740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5 min]
Saludo. Anunciar el cambio de unidad: "Cerramos Unidad 1 la clase pasada. Hoy arrancamos Unidad 2: Procesos — y para que no quede todo en abstracto, vamos a usar el Administrador de Tareas de una compu real para ver en vivo lo que estamos explicando."
PREPARACIÓN PREVIA A LA CLASE: llevar una notebook/PC con Windows para proyectar (o pedir prestada una si la del aula no sirve). Tener a mano una aplicación "pesada" para abrir en el momento (navegador con muchas pestañas, un editor de video, un juego, etc.) para la Demo 2.
Recordar el objetivo del día: dejar de ver "proceso" como una palabra abstracta y empezar a verlo como algo tangible que se puede observar en cualquier computadora.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3 min]
Leer la agenda remarcando que hoy hay 3 momentos de demo en vivo (resaltados). Avisar que en algún momento se va a proyectar la pantalla de la compu — chequear que el proyector/pantalla compartida funcione ANTES de arrancar, para no perder tiempo de clase resolviendo eso en el momento.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DE UNIDAD — 5 min]
No repasar en detalle Unidad 1 — solo ubicar mentalmente al curso: "todo lo del hardware ya lo vimos; hoy el eje son los PROCESOS, que es lo que el sistema operativo administra usando ese hardware."
Frase puente: "Si el hardware es el motor de un auto, el proceso es cada viaje que ese auto hace — y el sistema operativo es quien decide qué viaje hacer primero, cuál pausar, y cuál cancelar."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 DE PROCESO — 20 min]
Definición central: proceso = programa en ejecución. Distinguir de "programa" (el archivo, algo estático) vs "proceso" (esa misma cosa corriendo en memoria, con estado, en un momento dado).
Explicar los 3 requisitos primordiales de un SO respecto a procesos: maximizar uso del procesador, evitar interbloqueo (dar el ejemplo simple: proceso A tiene el recurso 1 y espera el recurso 2; proceso B tiene el recurso 2 y espera el recurso 1 — quedan trabados para siempre), y dar soporte a comunicación entre procesos.
Cerrar con la transición a la demo: "Ahora que tenemos la definición, vamos a la práctica: abramos el Administrador de Tareas y busquemos procesos reales."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ADMINISTRADOR DE TAREAS — 15 min]
Objetivo de esta demo: que el curso vea con sus propios ojos que un "proceso" no es una abstracción — es literalmente una fila en esta lista, apareciendo y desapareciendo en tiempo real.
Paso a paso a seguir en pantalla compartida (ver pasos de la diapositiva). Al abrir la Calculadora, pausar y preguntar: "¿alguien puede decirme qué acaba de pasar en la lista?" — esperar a que noten la fila nueva antes de seguir.
Si están en Linux/Mac: usar equivalentes — htop / Monitor del Sistema (Linux), Monitor de Actividad (Mac) — la lógica es la misma.
Cerrar la demo conectando con la teoría: "Eso que vieron aparecer y desaparecer es EXACTAMENTE lo que la próxima diapositiva llama 'creación y finalización de procesos'."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[TRAZA E INTERCALACIÓN — 20 min]
Definir traza: el listado de instrucciones que ejecuta un proceso particular.
Explicar el ejemplo del material con 3 procesos (A, B, C): el procesador intercala 6 instrucciones de A, luego 6 del código distribuidor, luego 6 de B, y así sucesivamente — evitando que un solo proceso "acapare" el procesador.
Mencionar el ejemplo del material: el proceso B en un momento solicita una acción de E/S, lo cual implica tiempo de espera del procesador, y el distribuidor aprovecha para activar al proceso C.
Conectar con la Demo 1: en el Administrador de Tareas, la columna de CPU sube y baja constantemente para cada proceso — eso es la intercalación en acción, aunque a una velocidad que no se percibe a simple vista instrucción por instrucción.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 DOS ESTADOS — 15 min]
Explicar: cuando el SO genera un proceso nuevo, entra en estado de NO EJECUCIÓN — existe pero espera su turno. Cuando logra ejecutarse, en algún momento el distribuidor genera una interrupción que activa a otro proceso, devolviendo a este primero a "no ejecución".
Este modelo es la base — en las próximas diapositivas se ve por qué 2 estados no alcanzan y se necesita dividir "no ejecución" en más estados (Listo y Bloqueado).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CONSUMO DE MEMORIA EN VIVO — 20 min]
Esta es la demo más visual de la clase. Objetivo: que el curso vea que "memoria" no es un concepto abstracto — es un número que sube y baja según lo que cada proceso necesita en cada momento.
Ordenar por columna Memoria para que los procesos que más consumen queden arriba — generalmente el navegador va a estar cerca del tope incluso en reposo.
Al abrir la app pesada, ir NARRANDO en voz alta lo que se ve: "miren, el número subió de X a Y apenas abrí esto". Repetir el efecto agregando más carga (más pestañas, un archivo grande).
Pregunta para el curso: "¿por qué creen que al cerrar la app el número no vuelve exactamente al mismo valor de antes?" — pie para hablar de memoria no liberada inmediatamente / otros procesos de fondo, sin necesidad de profundizar demasiado (no es tema de esta unidad, alcanza con la intuición).
Cerrar conectando con Unidad 4 (Memoria) más adelante en la materia: "todo esto que están viendo hoy de forma intuitiva lo vamos a formalizar con la teoría completa cuando lleguemos a la Unidad de Memoria."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[RAZONES DE CREACIÓN DE PROCESOS — 15 min]
Explicar las 4 razones conectando con la Demo 1: al abrir la Calculadora, esa fue una "conexión interactiva" desde la perspectiva del usuario haciendo doble clic.
Dar un ejemplo bancario para "generado por el SO para un servicio": cuando un cajero automático dispara un proceso de impresión de comprobante sin que el usuario tenga que esperar activamente ese subproceso.
"Un proceso existente genera otro": mencionar que esto se llama comúnmente crear un "proceso hijo" — útil para cuando se ve árbol de procesos más adelante en la materia.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[RAZONES DE FINALIZACIÓN — 15 min, parte de bloque 30 min con creación]
Explicar las 6 razones (existen otras además de estas, aclarar que son "las más comunes" según el material).
Conectar con Demo 1: cuando cerraron la Calculadora, eso fue una "terminación normal".
Conectar con Demo 2: si una app llegara a pedir más memoria de la disponible, el SO podría forzar su finalización por "no hay memoria disponible" — mencionar que esto puede haberse visto como un mensaje de error de "memoria insuficiente" en la vida real.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 CINCO ESTADOS — 18 min]
Explicar por qué 2 (o incluso 3) estados no alcanzan: hay procesos en "no ejecución" que están listos para correr apenas se les dé lugar, y otros que están genuinamente trabados esperando algo (por ejemplo, una operación de E/S). Por eso se separa "no ejecución" en Listo y Bloqueado.
Repasar los 5 estados en orden de ciclo de vida: Nuevo → Listo → Ejecución → (Bloqueado ↔ Listo, puede repetirse varias veces) → Terminado.
Aclarar que muchos SO se diseñaron con solo 3 estados (Listo, Ejecución, Bloqueado) pero hay buenas razones para los 5 — sobre todo cuando se agregan los estados suspendidos de la próxima diapositiva.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[ESTADOS SUSPENDIDOS — 12 min]
Aclarar el contexto: estos 2 estados adicionales solo cobran sentido si el sistema NO usa memoria virtual (todo proceso debe estar completo en memoria principal para correr).
Diferencia clave a remarcar: la diferencia entre "Bloqueado y Suspendido" vs "Listo y Suspendido" es la MISMA diferencia que entre Bloqueado y Listo — solo que ambos están, además, afuera de la memoria principal (en memoria secundaria/disco).
No hace falta profundizar mucho más aquí — el tema de memoria virtual se retoma en profundidad en la Unidad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CAMBIO DE CONTEXTO — 15 min]
Objetivo: conectar visualmente el concepto de "cambio de proceso" (que se explica en la próxima diapositiva de teoría) con algo observable.
Con varias apps abiertas, el gráfico de CPU en la pestaña Rendimiento se mueve todo el tiempo — esa variación es el reflejo, a nivel macro, de miles de cambios de contexto por segundo entre procesos.
Frase clave para remarcar: "lo que están viendo en este gráfico no es un proceso trabajando solo — son TODOS los procesos turnándose el procesador, tan rápido que no lo notamos como usuarios."
Cerrar la demo anunciando que la próxima diapositiva formaliza en teoría exactamente esto: cuándo y por qué el SO decide cambiar de proceso.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[MODO USUARIO VS NÚCLEO — 15 min]
Explicar por qué existen 2 modos: para resguardar al sistema operativo de accesos indebidos de los programas de usuario. Hay instrucciones que solo pueden ejecutarse en modo privilegiado.
CHM (Change Mode): la instrucción que hace el cambio. Se activa cuando el usuario llama a un servicio del SO — el sistema pasa a modo más privilegiado, hace lo que tiene que hacer, y vuelve a modo usuario.
Aclarar: si un programa de usuario intenta ejecutar un cambio de modo por su cuenta, el SO lo consulta y devuelve error si no está permitido.
Conectar con la Demo 1/2: cuando el Administrador de Tareas muestra procesos "del sistema" además de los de aplicaciones — muchos de esos corren, o dependen de rutinas que corren, en modo núcleo.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DE CONTROL Y CAMBIO DE PROCESO — 20 min]
Explicar los 4 pasos de creación de procesos, conectando con la Demo 1: cada vez que abrieron la Calculadora, el SO hizo estos 4 pasos "detrás de escena" en fracciones de segundo.
Explicar el bloque de control de proceso (PCB) a alto nivel: contiene la identificación (ID propio + ID del proceso padre) y el estado del proceso.
Cambio de proceso: remarcar que puede pasar en CUALQUIER momento que haya una interrupción — conecta directamente con todo lo visto sobre interrupciones en la Unidad 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[TIPOS DE INTERRUPCIONES — 15 min]
Repasar las 3 interrupciones que afectan directamente el estado de un proceso: de reloj, de E/S, y error de memoria.
Mencionar de paso "cambio de contexto": cuando hay una interrupción, el procesador guarda el contexto del programa en ejecución, salta a la rutina de tratamiento de interrupciones, y luego puede restaurar ese contexto — esto NO siempre implica un cambio de proceso completo, a veces solo se atiende la interrupción y se sigue con el mismo proceso.
Conectar con la Demo 3: los saltos que vieron en el gráfico de CPU son, en gran parte, consecuencia de interrupciones de reloj y de E/S ocurriendo todo el tiempo.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12 min]
Repasar los 5 puntos de la síntesis en voz alta.
Dejar espacio real para preguntas — hoy hubo mucho contenido práctico nuevo (las 3 demos), es esperable que surjan dudas de "¿esto que vi se relaciona con tal otra cosa?".
Anunciar el tema de la próxima clase: Procesos e Hilos, Multihilos, SMP y MicroNúcleos — cierra la Unidad 2 antes del repaso previo al 1er Parcial (15/09).</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4316F"/>
          </a:solidFill>
          <a:ln/>
        </p:spPr>
        <p:txBody>
          <a:bodyPr/>
          <a:lstStyle/>
          <a:p>
            <a:endParaRPr lang="es-PY"/>
          </a:p>
        </p:txBody>
      </p:sp>
      <p:sp>
        <p:nvSpPr>
          <p:cNvPr id="3" name="Shape 1"/>
          <p:cNvSpPr/>
          <p:nvPr/>
        </p:nvSpPr>
        <p:spPr>
          <a:xfrm>
            <a:off x="10789920" y="4206240"/>
            <a:ext cx="2926080" cy="2926080"/>
          </a:xfrm>
          <a:prstGeom prst="ellipse">
            <a:avLst/>
          </a:prstGeom>
          <a:solidFill>
            <a:srgbClr val="273580"/>
          </a:solidFill>
          <a:ln/>
        </p:spPr>
        <p:txBody>
          <a:bodyPr/>
          <a:lstStyle/>
          <a:p>
            <a:endParaRPr lang="es-PY"/>
          </a:p>
        </p:txBody>
      </p:sp>
      <p:sp>
        <p:nvSpPr>
          <p:cNvPr id="4" name="Text 2"/>
          <p:cNvSpPr/>
          <p:nvPr/>
        </p:nvSpPr>
        <p:spPr>
          <a:xfrm>
            <a:off x="731520" y="1554480"/>
            <a:ext cx="8229600" cy="365760"/>
          </a:xfrm>
          <a:prstGeom prst="rect">
            <a:avLst/>
          </a:prstGeom>
          <a:noFill/>
          <a:ln/>
        </p:spPr>
        <p:txBody>
          <a:bodyPr wrap="square" rtlCol="0" anchor="ctr"/>
          <a:lstStyle/>
          <a:p>
            <a:pPr marL="0" indent="0">
              <a:buNone/>
            </a:pPr>
            <a:r>
              <a:rPr lang="en-US" sz="1400" b="1" kern="0" spc="200" dirty="0">
                <a:solidFill>
                  <a:srgbClr val="E8B84B"/>
                </a:solidFill>
                <a:latin typeface="Calibri" pitchFamily="34" charset="0"/>
                <a:ea typeface="Calibri" pitchFamily="34" charset="-122"/>
                <a:cs typeface="Calibri" pitchFamily="34" charset="-120"/>
              </a:rPr>
              <a:t>CÁTEDRA · SISTEMAS OPERATIVOS</a:t>
            </a:r>
            <a:endParaRPr lang="en-US" sz="1400" dirty="0"/>
          </a:p>
        </p:txBody>
      </p:sp>
      <p:sp>
        <p:nvSpPr>
          <p:cNvPr id="5" name="Text 3"/>
          <p:cNvSpPr/>
          <p:nvPr/>
        </p:nvSpPr>
        <p:spPr>
          <a:xfrm>
            <a:off x="685800" y="1965960"/>
            <a:ext cx="9144000" cy="182880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Unidad 2</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Procesos</a:t>
            </a:r>
            <a:endParaRPr lang="en-US" sz="4400" dirty="0"/>
          </a:p>
        </p:txBody>
      </p:sp>
      <p:sp>
        <p:nvSpPr>
          <p:cNvPr id="6" name="Text 4"/>
          <p:cNvSpPr/>
          <p:nvPr/>
        </p:nvSpPr>
        <p:spPr>
          <a:xfrm>
            <a:off x="731520" y="3840480"/>
            <a:ext cx="9601200" cy="548640"/>
          </a:xfrm>
          <a:prstGeom prst="rect">
            <a:avLst/>
          </a:prstGeom>
          <a:noFill/>
          <a:ln/>
        </p:spPr>
        <p:txBody>
          <a:bodyPr wrap="square" rtlCol="0" anchor="ctr"/>
          <a:lstStyle/>
          <a:p>
            <a:pPr marL="0" indent="0">
              <a:buNone/>
            </a:pPr>
            <a:r>
              <a:rPr lang="en-US" sz="1700" dirty="0">
                <a:solidFill>
                  <a:srgbClr val="CADCFC"/>
                </a:solidFill>
                <a:latin typeface="Calibri" pitchFamily="34" charset="0"/>
                <a:ea typeface="Calibri" pitchFamily="34" charset="-122"/>
                <a:cs typeface="Calibri" pitchFamily="34" charset="-120"/>
              </a:rPr>
              <a:t>Clase 4 · Concepto, estados y control de procesos — con demos en vivo</a:t>
            </a:r>
            <a:endParaRPr lang="en-US" sz="1700" dirty="0"/>
          </a:p>
        </p:txBody>
      </p:sp>
      <p:sp>
        <p:nvSpPr>
          <p:cNvPr id="7" name="Shape 5"/>
          <p:cNvSpPr/>
          <p:nvPr/>
        </p:nvSpPr>
        <p:spPr>
          <a:xfrm>
            <a:off x="731520" y="5349240"/>
            <a:ext cx="3291840" cy="0"/>
          </a:xfrm>
          <a:prstGeom prst="line">
            <a:avLst/>
          </a:prstGeom>
          <a:noFill/>
          <a:ln w="12700">
            <a:solidFill>
              <a:srgbClr val="3C4A93"/>
            </a:solidFill>
            <a:prstDash val="solid"/>
          </a:ln>
        </p:spPr>
        <p:txBody>
          <a:bodyPr/>
          <a:lstStyle/>
          <a:p>
            <a:endParaRPr lang="es-PY"/>
          </a:p>
        </p:txBody>
      </p:sp>
      <p:sp>
        <p:nvSpPr>
          <p:cNvPr id="8" name="Text 6"/>
          <p:cNvSpPr/>
          <p:nvPr/>
        </p:nvSpPr>
        <p:spPr>
          <a:xfrm>
            <a:off x="731520" y="5486400"/>
            <a:ext cx="5486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01 de septiembre, 2026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HOY VEMOS</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Agenda de la clase</a:t>
            </a:r>
            <a:endParaRPr lang="en-US" sz="2800" dirty="0"/>
          </a:p>
        </p:txBody>
      </p:sp>
      <p:sp>
        <p:nvSpPr>
          <p:cNvPr id="6" name="Shape 4"/>
          <p:cNvSpPr/>
          <p:nvPr/>
        </p:nvSpPr>
        <p:spPr>
          <a:xfrm>
            <a:off x="640080" y="1783080"/>
            <a:ext cx="10881360" cy="438912"/>
          </a:xfrm>
          <a:prstGeom prst="rect">
            <a:avLst/>
          </a:prstGeom>
          <a:solidFill>
            <a:srgbClr val="E9F3F0"/>
          </a:solidFill>
          <a:ln/>
        </p:spPr>
        <p:txBody>
          <a:bodyPr/>
          <a:lstStyle/>
          <a:p>
            <a:endParaRPr lang="es-PY"/>
          </a:p>
        </p:txBody>
      </p:sp>
      <p:sp>
        <p:nvSpPr>
          <p:cNvPr id="7" name="Text 5"/>
          <p:cNvSpPr/>
          <p:nvPr/>
        </p:nvSpPr>
        <p:spPr>
          <a:xfrm>
            <a:off x="822960" y="1783080"/>
            <a:ext cx="457200" cy="438912"/>
          </a:xfrm>
          <a:prstGeom prst="rect">
            <a:avLst/>
          </a:prstGeom>
          <a:noFill/>
          <a:ln/>
        </p:spPr>
        <p:txBody>
          <a:bodyPr wrap="square" rtlCol="0" anchor="ctr"/>
          <a:lstStyle/>
          <a:p>
            <a:pPr marL="0" indent="0">
              <a:buNone/>
            </a:pPr>
            <a:r>
              <a:rPr lang="en-US" sz="1500" b="1" dirty="0">
                <a:solidFill>
                  <a:srgbClr val="1F6F5C"/>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71600" y="178308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Concepto de proceso + Demo: Administrador de Tareas</a:t>
            </a:r>
            <a:endParaRPr lang="en-US" sz="1250" dirty="0"/>
          </a:p>
        </p:txBody>
      </p:sp>
      <p:sp>
        <p:nvSpPr>
          <p:cNvPr id="10" name="Shape 8"/>
          <p:cNvSpPr/>
          <p:nvPr/>
        </p:nvSpPr>
        <p:spPr>
          <a:xfrm>
            <a:off x="640080" y="2286000"/>
            <a:ext cx="10881360" cy="438912"/>
          </a:xfrm>
          <a:prstGeom prst="rect">
            <a:avLst/>
          </a:prstGeom>
          <a:solidFill>
            <a:srgbClr val="FFFFFF"/>
          </a:solidFill>
          <a:ln/>
        </p:spPr>
        <p:txBody>
          <a:bodyPr/>
          <a:lstStyle/>
          <a:p>
            <a:endParaRPr lang="es-PY"/>
          </a:p>
        </p:txBody>
      </p:sp>
      <p:sp>
        <p:nvSpPr>
          <p:cNvPr id="11" name="Text 9"/>
          <p:cNvSpPr/>
          <p:nvPr/>
        </p:nvSpPr>
        <p:spPr>
          <a:xfrm>
            <a:off x="822960" y="228600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71600" y="228600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Estado de un proceso: traza e intercalación</a:t>
            </a:r>
            <a:endParaRPr lang="en-US" sz="1250" dirty="0"/>
          </a:p>
        </p:txBody>
      </p:sp>
      <p:sp>
        <p:nvSpPr>
          <p:cNvPr id="14" name="Shape 12"/>
          <p:cNvSpPr/>
          <p:nvPr/>
        </p:nvSpPr>
        <p:spPr>
          <a:xfrm>
            <a:off x="640080" y="2788920"/>
            <a:ext cx="10881360" cy="438912"/>
          </a:xfrm>
          <a:prstGeom prst="rect">
            <a:avLst/>
          </a:prstGeom>
          <a:solidFill>
            <a:srgbClr val="F7F8FC"/>
          </a:solidFill>
          <a:ln/>
        </p:spPr>
        <p:txBody>
          <a:bodyPr/>
          <a:lstStyle/>
          <a:p>
            <a:endParaRPr lang="es-PY"/>
          </a:p>
        </p:txBody>
      </p:sp>
      <p:sp>
        <p:nvSpPr>
          <p:cNvPr id="15" name="Text 13"/>
          <p:cNvSpPr/>
          <p:nvPr/>
        </p:nvSpPr>
        <p:spPr>
          <a:xfrm>
            <a:off x="822960" y="278892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3</a:t>
            </a:r>
            <a:endParaRPr lang="en-US" sz="1500" dirty="0"/>
          </a:p>
        </p:txBody>
      </p:sp>
      <p:sp>
        <p:nvSpPr>
          <p:cNvPr id="16" name="Text 14"/>
          <p:cNvSpPr/>
          <p:nvPr/>
        </p:nvSpPr>
        <p:spPr>
          <a:xfrm>
            <a:off x="1371600" y="278892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Modelo de dos estados</a:t>
            </a:r>
            <a:endParaRPr lang="en-US" sz="1250" dirty="0"/>
          </a:p>
        </p:txBody>
      </p:sp>
      <p:sp>
        <p:nvSpPr>
          <p:cNvPr id="18" name="Shape 16"/>
          <p:cNvSpPr/>
          <p:nvPr/>
        </p:nvSpPr>
        <p:spPr>
          <a:xfrm>
            <a:off x="640080" y="3291840"/>
            <a:ext cx="10881360" cy="438912"/>
          </a:xfrm>
          <a:prstGeom prst="rect">
            <a:avLst/>
          </a:prstGeom>
          <a:solidFill>
            <a:srgbClr val="E9F3F0"/>
          </a:solidFill>
          <a:ln/>
        </p:spPr>
        <p:txBody>
          <a:bodyPr/>
          <a:lstStyle/>
          <a:p>
            <a:endParaRPr lang="es-PY"/>
          </a:p>
        </p:txBody>
      </p:sp>
      <p:sp>
        <p:nvSpPr>
          <p:cNvPr id="19" name="Text 17"/>
          <p:cNvSpPr/>
          <p:nvPr/>
        </p:nvSpPr>
        <p:spPr>
          <a:xfrm>
            <a:off x="822960" y="3291840"/>
            <a:ext cx="457200" cy="438912"/>
          </a:xfrm>
          <a:prstGeom prst="rect">
            <a:avLst/>
          </a:prstGeom>
          <a:noFill/>
          <a:ln/>
        </p:spPr>
        <p:txBody>
          <a:bodyPr wrap="square" rtlCol="0" anchor="ctr"/>
          <a:lstStyle/>
          <a:p>
            <a:pPr marL="0" indent="0">
              <a:buNone/>
            </a:pPr>
            <a:r>
              <a:rPr lang="en-US" sz="1500" b="1" dirty="0">
                <a:solidFill>
                  <a:srgbClr val="1F6F5C"/>
                </a:solidFill>
                <a:latin typeface="Cambria" pitchFamily="34" charset="0"/>
                <a:ea typeface="Cambria" pitchFamily="34" charset="-122"/>
                <a:cs typeface="Cambria" pitchFamily="34" charset="-120"/>
              </a:rPr>
              <a:t>4</a:t>
            </a:r>
            <a:endParaRPr lang="en-US" sz="1500" dirty="0"/>
          </a:p>
        </p:txBody>
      </p:sp>
      <p:sp>
        <p:nvSpPr>
          <p:cNvPr id="20" name="Text 18"/>
          <p:cNvSpPr/>
          <p:nvPr/>
        </p:nvSpPr>
        <p:spPr>
          <a:xfrm>
            <a:off x="1371600" y="329184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Demo: consumo de memoria en vivo</a:t>
            </a:r>
            <a:endParaRPr lang="en-US" sz="1250" dirty="0"/>
          </a:p>
        </p:txBody>
      </p:sp>
      <p:sp>
        <p:nvSpPr>
          <p:cNvPr id="22" name="Shape 20"/>
          <p:cNvSpPr/>
          <p:nvPr/>
        </p:nvSpPr>
        <p:spPr>
          <a:xfrm>
            <a:off x="640080" y="3794760"/>
            <a:ext cx="10881360" cy="438912"/>
          </a:xfrm>
          <a:prstGeom prst="rect">
            <a:avLst/>
          </a:prstGeom>
          <a:solidFill>
            <a:srgbClr val="F7F8FC"/>
          </a:solidFill>
          <a:ln/>
        </p:spPr>
        <p:txBody>
          <a:bodyPr/>
          <a:lstStyle/>
          <a:p>
            <a:endParaRPr lang="es-PY"/>
          </a:p>
        </p:txBody>
      </p:sp>
      <p:sp>
        <p:nvSpPr>
          <p:cNvPr id="23" name="Text 21"/>
          <p:cNvSpPr/>
          <p:nvPr/>
        </p:nvSpPr>
        <p:spPr>
          <a:xfrm>
            <a:off x="822960" y="379476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5</a:t>
            </a:r>
            <a:endParaRPr lang="en-US" sz="1500" dirty="0"/>
          </a:p>
        </p:txBody>
      </p:sp>
      <p:sp>
        <p:nvSpPr>
          <p:cNvPr id="24" name="Text 22"/>
          <p:cNvSpPr/>
          <p:nvPr/>
        </p:nvSpPr>
        <p:spPr>
          <a:xfrm>
            <a:off x="1371600" y="379476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Creación y finalización de procesos</a:t>
            </a:r>
            <a:endParaRPr lang="en-US" sz="1250" dirty="0"/>
          </a:p>
        </p:txBody>
      </p:sp>
      <p:sp>
        <p:nvSpPr>
          <p:cNvPr id="26" name="Shape 24"/>
          <p:cNvSpPr/>
          <p:nvPr/>
        </p:nvSpPr>
        <p:spPr>
          <a:xfrm>
            <a:off x="640080" y="4297680"/>
            <a:ext cx="10881360" cy="438912"/>
          </a:xfrm>
          <a:prstGeom prst="rect">
            <a:avLst/>
          </a:prstGeom>
          <a:solidFill>
            <a:srgbClr val="FFFFFF"/>
          </a:solidFill>
          <a:ln/>
        </p:spPr>
        <p:txBody>
          <a:bodyPr/>
          <a:lstStyle/>
          <a:p>
            <a:endParaRPr lang="es-PY"/>
          </a:p>
        </p:txBody>
      </p:sp>
      <p:sp>
        <p:nvSpPr>
          <p:cNvPr id="27" name="Text 25"/>
          <p:cNvSpPr/>
          <p:nvPr/>
        </p:nvSpPr>
        <p:spPr>
          <a:xfrm>
            <a:off x="822960" y="429768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6</a:t>
            </a:r>
            <a:endParaRPr lang="en-US" sz="1500" dirty="0"/>
          </a:p>
        </p:txBody>
      </p:sp>
      <p:sp>
        <p:nvSpPr>
          <p:cNvPr id="28" name="Text 26"/>
          <p:cNvSpPr/>
          <p:nvPr/>
        </p:nvSpPr>
        <p:spPr>
          <a:xfrm>
            <a:off x="1371600" y="429768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Modelo de cinco estados + estados suspendidos</a:t>
            </a:r>
            <a:endParaRPr lang="en-US" sz="1250" dirty="0"/>
          </a:p>
        </p:txBody>
      </p:sp>
      <p:sp>
        <p:nvSpPr>
          <p:cNvPr id="30" name="Shape 28"/>
          <p:cNvSpPr/>
          <p:nvPr/>
        </p:nvSpPr>
        <p:spPr>
          <a:xfrm>
            <a:off x="640080" y="4800600"/>
            <a:ext cx="10881360" cy="438912"/>
          </a:xfrm>
          <a:prstGeom prst="rect">
            <a:avLst/>
          </a:prstGeom>
          <a:solidFill>
            <a:srgbClr val="E9F3F0"/>
          </a:solidFill>
          <a:ln/>
        </p:spPr>
        <p:txBody>
          <a:bodyPr/>
          <a:lstStyle/>
          <a:p>
            <a:endParaRPr lang="es-PY"/>
          </a:p>
        </p:txBody>
      </p:sp>
      <p:sp>
        <p:nvSpPr>
          <p:cNvPr id="31" name="Text 29"/>
          <p:cNvSpPr/>
          <p:nvPr/>
        </p:nvSpPr>
        <p:spPr>
          <a:xfrm>
            <a:off x="822960" y="4800600"/>
            <a:ext cx="457200" cy="438912"/>
          </a:xfrm>
          <a:prstGeom prst="rect">
            <a:avLst/>
          </a:prstGeom>
          <a:noFill/>
          <a:ln/>
        </p:spPr>
        <p:txBody>
          <a:bodyPr wrap="square" rtlCol="0" anchor="ctr"/>
          <a:lstStyle/>
          <a:p>
            <a:pPr marL="0" indent="0">
              <a:buNone/>
            </a:pPr>
            <a:r>
              <a:rPr lang="en-US" sz="1500" b="1" dirty="0">
                <a:solidFill>
                  <a:srgbClr val="1F6F5C"/>
                </a:solidFill>
                <a:latin typeface="Cambria" pitchFamily="34" charset="0"/>
                <a:ea typeface="Cambria" pitchFamily="34" charset="-122"/>
                <a:cs typeface="Cambria" pitchFamily="34" charset="-120"/>
              </a:rPr>
              <a:t>7</a:t>
            </a:r>
            <a:endParaRPr lang="en-US" sz="1500" dirty="0"/>
          </a:p>
        </p:txBody>
      </p:sp>
      <p:sp>
        <p:nvSpPr>
          <p:cNvPr id="32" name="Text 30"/>
          <p:cNvSpPr/>
          <p:nvPr/>
        </p:nvSpPr>
        <p:spPr>
          <a:xfrm>
            <a:off x="1371600" y="480060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Demo: cambio de contexto y uso de CPU</a:t>
            </a:r>
            <a:endParaRPr lang="en-US" sz="1250" dirty="0"/>
          </a:p>
        </p:txBody>
      </p:sp>
      <p:sp>
        <p:nvSpPr>
          <p:cNvPr id="34" name="Shape 32"/>
          <p:cNvSpPr/>
          <p:nvPr/>
        </p:nvSpPr>
        <p:spPr>
          <a:xfrm>
            <a:off x="640080" y="5303520"/>
            <a:ext cx="10881360" cy="438912"/>
          </a:xfrm>
          <a:prstGeom prst="rect">
            <a:avLst/>
          </a:prstGeom>
          <a:solidFill>
            <a:srgbClr val="FFFFFF"/>
          </a:solidFill>
          <a:ln/>
        </p:spPr>
        <p:txBody>
          <a:bodyPr/>
          <a:lstStyle/>
          <a:p>
            <a:endParaRPr lang="es-PY"/>
          </a:p>
        </p:txBody>
      </p:sp>
      <p:sp>
        <p:nvSpPr>
          <p:cNvPr id="35" name="Text 33"/>
          <p:cNvSpPr/>
          <p:nvPr/>
        </p:nvSpPr>
        <p:spPr>
          <a:xfrm>
            <a:off x="822960" y="530352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8</a:t>
            </a:r>
            <a:endParaRPr lang="en-US" sz="1500" dirty="0"/>
          </a:p>
        </p:txBody>
      </p:sp>
      <p:sp>
        <p:nvSpPr>
          <p:cNvPr id="36" name="Text 34"/>
          <p:cNvSpPr/>
          <p:nvPr/>
        </p:nvSpPr>
        <p:spPr>
          <a:xfrm>
            <a:off x="1371600" y="530352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Control de procesos (modos, cambio de proceso)</a:t>
            </a:r>
            <a:endParaRPr lang="en-US" sz="1250" dirty="0"/>
          </a:p>
        </p:txBody>
      </p:sp>
      <p:sp>
        <p:nvSpPr>
          <p:cNvPr id="39" name="Text 3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TRANSICIÓN DE UNIDAD</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De la Unidad 1 a la Unidad 2</a:t>
            </a:r>
            <a:endParaRPr lang="en-US" sz="2800" dirty="0"/>
          </a:p>
        </p:txBody>
      </p:sp>
      <p:sp>
        <p:nvSpPr>
          <p:cNvPr id="6" name="Shape 4"/>
          <p:cNvSpPr/>
          <p:nvPr/>
        </p:nvSpPr>
        <p:spPr>
          <a:xfrm>
            <a:off x="640080" y="2011680"/>
            <a:ext cx="5212080" cy="3108960"/>
          </a:xfrm>
          <a:prstGeom prst="rect">
            <a:avLst/>
          </a:prstGeom>
          <a:solidFill>
            <a:srgbClr val="F2F4FB"/>
          </a:solidFill>
          <a:ln/>
        </p:spPr>
        <p:txBody>
          <a:bodyPr/>
          <a:lstStyle/>
          <a:p>
            <a:endParaRPr lang="es-PY"/>
          </a:p>
        </p:txBody>
      </p:sp>
      <p:sp>
        <p:nvSpPr>
          <p:cNvPr id="7" name="Text 5"/>
          <p:cNvSpPr/>
          <p:nvPr/>
        </p:nvSpPr>
        <p:spPr>
          <a:xfrm>
            <a:off x="914400" y="2286000"/>
            <a:ext cx="4663440" cy="365760"/>
          </a:xfrm>
          <a:prstGeom prst="rect">
            <a:avLst/>
          </a:prstGeom>
          <a:noFill/>
          <a:ln/>
        </p:spPr>
        <p:txBody>
          <a:bodyPr wrap="square" rtlCol="0" anchor="ctr"/>
          <a:lstStyle/>
          <a:p>
            <a:pPr marL="0" indent="0">
              <a:buNone/>
            </a:pPr>
            <a:r>
              <a:rPr lang="en-US" sz="1400" b="1" dirty="0">
                <a:solidFill>
                  <a:srgbClr val="5B6584"/>
                </a:solidFill>
                <a:latin typeface="Calibri" pitchFamily="34" charset="0"/>
                <a:ea typeface="Calibri" pitchFamily="34" charset="-122"/>
                <a:cs typeface="Calibri" pitchFamily="34" charset="-120"/>
              </a:rPr>
              <a:t>Unidad 1 (ya vista)</a:t>
            </a:r>
            <a:endParaRPr lang="en-US" sz="1400" dirty="0"/>
          </a:p>
        </p:txBody>
      </p:sp>
      <p:sp>
        <p:nvSpPr>
          <p:cNvPr id="8" name="Text 6"/>
          <p:cNvSpPr/>
          <p:nvPr/>
        </p:nvSpPr>
        <p:spPr>
          <a:xfrm>
            <a:off x="914400" y="2743200"/>
            <a:ext cx="4663440" cy="2103120"/>
          </a:xfrm>
          <a:prstGeom prst="rect">
            <a:avLst/>
          </a:prstGeom>
          <a:noFill/>
          <a:ln/>
        </p:spPr>
        <p:txBody>
          <a:bodyPr wrap="square" rtlCol="0" anchor="ctr"/>
          <a:lstStyle/>
          <a:p>
            <a:pPr marL="0" indent="0">
              <a:lnSpc>
                <a:spcPts val="1800"/>
              </a:lnSpc>
              <a:buNone/>
            </a:pPr>
            <a:r>
              <a:rPr lang="en-US" sz="1350" dirty="0">
                <a:solidFill>
                  <a:srgbClr val="1B1F3B"/>
                </a:solidFill>
                <a:latin typeface="Calibri" pitchFamily="34" charset="0"/>
                <a:ea typeface="Calibri" pitchFamily="34" charset="-122"/>
                <a:cs typeface="Calibri" pitchFamily="34" charset="-120"/>
              </a:rPr>
              <a:t>Hardware: registros, ciclo de instrucción, interrupciones, memoria, y cómo el SO administra todo eso (servicios, evolución, seguridad)</a:t>
            </a:r>
            <a:endParaRPr lang="en-US" sz="1350" dirty="0"/>
          </a:p>
        </p:txBody>
      </p:sp>
      <p:sp>
        <p:nvSpPr>
          <p:cNvPr id="9" name="Shape 7"/>
          <p:cNvSpPr/>
          <p:nvPr/>
        </p:nvSpPr>
        <p:spPr>
          <a:xfrm>
            <a:off x="6355080" y="2011680"/>
            <a:ext cx="5212080" cy="3108960"/>
          </a:xfrm>
          <a:prstGeom prst="rect">
            <a:avLst/>
          </a:prstGeom>
          <a:solidFill>
            <a:srgbClr val="1E2761"/>
          </a:solidFill>
          <a:ln/>
        </p:spPr>
        <p:txBody>
          <a:bodyPr/>
          <a:lstStyle/>
          <a:p>
            <a:endParaRPr lang="es-PY"/>
          </a:p>
        </p:txBody>
      </p:sp>
      <p:sp>
        <p:nvSpPr>
          <p:cNvPr id="10" name="Text 8"/>
          <p:cNvSpPr/>
          <p:nvPr/>
        </p:nvSpPr>
        <p:spPr>
          <a:xfrm>
            <a:off x="6629400" y="2286000"/>
            <a:ext cx="4663440" cy="365760"/>
          </a:xfrm>
          <a:prstGeom prst="rect">
            <a:avLst/>
          </a:prstGeom>
          <a:noFill/>
          <a:ln/>
        </p:spPr>
        <p:txBody>
          <a:bodyPr wrap="square" rtlCol="0" anchor="ctr"/>
          <a:lstStyle/>
          <a:p>
            <a:pPr marL="0" indent="0">
              <a:buNone/>
            </a:pPr>
            <a:r>
              <a:rPr lang="en-US" sz="1400" b="1" dirty="0">
                <a:solidFill>
                  <a:srgbClr val="E8B84B"/>
                </a:solidFill>
                <a:latin typeface="Calibri" pitchFamily="34" charset="0"/>
                <a:ea typeface="Calibri" pitchFamily="34" charset="-122"/>
                <a:cs typeface="Calibri" pitchFamily="34" charset="-120"/>
              </a:rPr>
              <a:t>Unidad 2 (hoy empieza)</a:t>
            </a:r>
            <a:endParaRPr lang="en-US" sz="1400" dirty="0"/>
          </a:p>
        </p:txBody>
      </p:sp>
      <p:sp>
        <p:nvSpPr>
          <p:cNvPr id="11" name="Text 9"/>
          <p:cNvSpPr/>
          <p:nvPr/>
        </p:nvSpPr>
        <p:spPr>
          <a:xfrm>
            <a:off x="6629400" y="2743200"/>
            <a:ext cx="4663440" cy="2103120"/>
          </a:xfrm>
          <a:prstGeom prst="rect">
            <a:avLst/>
          </a:prstGeom>
          <a:noFill/>
          <a:ln/>
        </p:spPr>
        <p:txBody>
          <a:bodyPr wrap="square"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Procesos: qué son, en qué estados pueden estar, cómo se crean, terminan, y cómo el SO controla el cambio entre ellos</a:t>
            </a:r>
            <a:endParaRPr lang="en-US" sz="1350" dirty="0"/>
          </a:p>
        </p:txBody>
      </p:sp>
      <p:sp>
        <p:nvSpPr>
          <p:cNvPr id="12" name="Text 10"/>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EL CONCEPTO CENTRAL DE LA UNIDAD</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¿Qué es un proceso?</a:t>
            </a:r>
            <a:endParaRPr lang="en-US" sz="2800" dirty="0"/>
          </a:p>
        </p:txBody>
      </p:sp>
      <p:sp>
        <p:nvSpPr>
          <p:cNvPr id="4" name="Shape 2"/>
          <p:cNvSpPr/>
          <p:nvPr/>
        </p:nvSpPr>
        <p:spPr>
          <a:xfrm>
            <a:off x="9994392" y="457200"/>
            <a:ext cx="1554480" cy="365760"/>
          </a:xfrm>
          <a:prstGeom prst="rect">
            <a:avLst/>
          </a:prstGeom>
          <a:solidFill>
            <a:srgbClr val="232E6E"/>
          </a:solidFill>
          <a:ln/>
        </p:spPr>
        <p:txBody>
          <a:bodyPr/>
          <a:lstStyle/>
          <a:p>
            <a:endParaRPr lang="es-PY"/>
          </a:p>
        </p:txBody>
      </p:sp>
      <p:sp>
        <p:nvSpPr>
          <p:cNvPr id="6" name="Shape 4"/>
          <p:cNvSpPr/>
          <p:nvPr/>
        </p:nvSpPr>
        <p:spPr>
          <a:xfrm>
            <a:off x="640080" y="1737360"/>
            <a:ext cx="10881360" cy="1188720"/>
          </a:xfrm>
          <a:prstGeom prst="rect">
            <a:avLst/>
          </a:prstGeom>
          <a:solidFill>
            <a:srgbClr val="232E6E"/>
          </a:solidFill>
          <a:ln/>
        </p:spPr>
        <p:txBody>
          <a:bodyPr/>
          <a:lstStyle/>
          <a:p>
            <a:endParaRPr lang="es-PY"/>
          </a:p>
        </p:txBody>
      </p:sp>
      <p:sp>
        <p:nvSpPr>
          <p:cNvPr id="7" name="Text 5"/>
          <p:cNvSpPr/>
          <p:nvPr/>
        </p:nvSpPr>
        <p:spPr>
          <a:xfrm>
            <a:off x="914400" y="1920240"/>
            <a:ext cx="10332720" cy="914400"/>
          </a:xfrm>
          <a:prstGeom prst="rect">
            <a:avLst/>
          </a:prstGeom>
          <a:noFill/>
          <a:ln/>
        </p:spPr>
        <p:txBody>
          <a:bodyPr wrap="square" rtlCol="0" anchor="ctr"/>
          <a:lstStyle/>
          <a:p>
            <a:pPr marL="0" indent="0">
              <a:lnSpc>
                <a:spcPts val="2000"/>
              </a:lnSpc>
              <a:buNone/>
            </a:pPr>
            <a:r>
              <a:rPr lang="en-US" sz="1500" dirty="0">
                <a:solidFill>
                  <a:srgbClr val="FFFFFF"/>
                </a:solidFill>
                <a:latin typeface="Calibri" pitchFamily="34" charset="0"/>
                <a:ea typeface="Calibri" pitchFamily="34" charset="-122"/>
                <a:cs typeface="Calibri" pitchFamily="34" charset="-120"/>
              </a:rPr>
              <a:t>Un proceso es un programa en ejecución. Cada proceso está relacionado a un conjunto de registros. Todo sistema operativo — monousuario o multiusuario — está compuesto por procesos.</a:t>
            </a:r>
            <a:endParaRPr lang="en-US" sz="1500" dirty="0"/>
          </a:p>
        </p:txBody>
      </p:sp>
      <p:sp>
        <p:nvSpPr>
          <p:cNvPr id="8" name="Text 6"/>
          <p:cNvSpPr/>
          <p:nvPr/>
        </p:nvSpPr>
        <p:spPr>
          <a:xfrm>
            <a:off x="640080" y="3200400"/>
            <a:ext cx="8229600" cy="365760"/>
          </a:xfrm>
          <a:prstGeom prst="rect">
            <a:avLst/>
          </a:prstGeom>
          <a:noFill/>
          <a:ln/>
        </p:spPr>
        <p:txBody>
          <a:bodyPr wrap="square" rtlCol="0" anchor="ctr"/>
          <a:lstStyle/>
          <a:p>
            <a:pPr marL="0" indent="0">
              <a:buNone/>
            </a:pPr>
            <a:r>
              <a:rPr lang="en-US" sz="1500" b="1" dirty="0">
                <a:solidFill>
                  <a:srgbClr val="E8B84B"/>
                </a:solidFill>
                <a:latin typeface="Calibri" pitchFamily="34" charset="0"/>
                <a:ea typeface="Calibri" pitchFamily="34" charset="-122"/>
                <a:cs typeface="Calibri" pitchFamily="34" charset="-120"/>
              </a:rPr>
              <a:t>Requisitos primordiales de un sistema operativo:</a:t>
            </a:r>
            <a:endParaRPr lang="en-US" sz="1500" dirty="0"/>
          </a:p>
        </p:txBody>
      </p:sp>
      <p:sp>
        <p:nvSpPr>
          <p:cNvPr id="9" name="Shape 7"/>
          <p:cNvSpPr/>
          <p:nvPr/>
        </p:nvSpPr>
        <p:spPr>
          <a:xfrm>
            <a:off x="640080" y="3712464"/>
            <a:ext cx="128016" cy="128016"/>
          </a:xfrm>
          <a:prstGeom prst="ellipse">
            <a:avLst/>
          </a:prstGeom>
          <a:solidFill>
            <a:srgbClr val="CADCFC"/>
          </a:solidFill>
          <a:ln/>
        </p:spPr>
        <p:txBody>
          <a:bodyPr/>
          <a:lstStyle/>
          <a:p>
            <a:endParaRPr lang="es-PY"/>
          </a:p>
        </p:txBody>
      </p:sp>
      <p:sp>
        <p:nvSpPr>
          <p:cNvPr id="10" name="Text 8"/>
          <p:cNvSpPr/>
          <p:nvPr/>
        </p:nvSpPr>
        <p:spPr>
          <a:xfrm>
            <a:off x="960120" y="3566160"/>
            <a:ext cx="10332720" cy="54864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Maximizar la utilización del procesador, dando el menor tiempo de respuesta posible</a:t>
            </a:r>
            <a:endParaRPr lang="en-US" sz="1350" dirty="0"/>
          </a:p>
        </p:txBody>
      </p:sp>
      <p:sp>
        <p:nvSpPr>
          <p:cNvPr id="11" name="Shape 9"/>
          <p:cNvSpPr/>
          <p:nvPr/>
        </p:nvSpPr>
        <p:spPr>
          <a:xfrm>
            <a:off x="640080" y="4398264"/>
            <a:ext cx="128016" cy="128016"/>
          </a:xfrm>
          <a:prstGeom prst="ellipse">
            <a:avLst/>
          </a:prstGeom>
          <a:solidFill>
            <a:srgbClr val="CADCFC"/>
          </a:solidFill>
          <a:ln/>
        </p:spPr>
        <p:txBody>
          <a:bodyPr/>
          <a:lstStyle/>
          <a:p>
            <a:endParaRPr lang="es-PY"/>
          </a:p>
        </p:txBody>
      </p:sp>
      <p:sp>
        <p:nvSpPr>
          <p:cNvPr id="12" name="Text 10"/>
          <p:cNvSpPr/>
          <p:nvPr/>
        </p:nvSpPr>
        <p:spPr>
          <a:xfrm>
            <a:off x="960120" y="4251960"/>
            <a:ext cx="10332720" cy="54864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Evitar el interbloqueo: cuando 2 procesos requieren el mismo recurso y quedan esperando indefinidamente</a:t>
            </a:r>
            <a:endParaRPr lang="en-US" sz="1350" dirty="0"/>
          </a:p>
        </p:txBody>
      </p:sp>
      <p:sp>
        <p:nvSpPr>
          <p:cNvPr id="13" name="Shape 11"/>
          <p:cNvSpPr/>
          <p:nvPr/>
        </p:nvSpPr>
        <p:spPr>
          <a:xfrm>
            <a:off x="640080" y="5084064"/>
            <a:ext cx="128016" cy="128016"/>
          </a:xfrm>
          <a:prstGeom prst="ellipse">
            <a:avLst/>
          </a:prstGeom>
          <a:solidFill>
            <a:srgbClr val="CADCFC"/>
          </a:solidFill>
          <a:ln/>
        </p:spPr>
        <p:txBody>
          <a:bodyPr/>
          <a:lstStyle/>
          <a:p>
            <a:endParaRPr lang="es-PY"/>
          </a:p>
        </p:txBody>
      </p:sp>
      <p:sp>
        <p:nvSpPr>
          <p:cNvPr id="14" name="Text 12"/>
          <p:cNvSpPr/>
          <p:nvPr/>
        </p:nvSpPr>
        <p:spPr>
          <a:xfrm>
            <a:off x="960120" y="4937760"/>
            <a:ext cx="10332720" cy="54864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Dar soporte a la comunicación entre procesos y a los procesos generados por usuarios</a:t>
            </a:r>
            <a:endParaRPr lang="en-US" sz="1350" dirty="0"/>
          </a:p>
        </p:txBody>
      </p:sp>
      <p:sp>
        <p:nvSpPr>
          <p:cNvPr id="15" name="Text 1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1463040" cy="365760"/>
          </a:xfrm>
          <a:prstGeom prst="rect">
            <a:avLst/>
          </a:prstGeom>
          <a:solidFill>
            <a:srgbClr val="1F6F5C"/>
          </a:solidFill>
          <a:ln/>
        </p:spPr>
        <p:txBody>
          <a:bodyPr/>
          <a:lstStyle/>
          <a:p>
            <a:endParaRPr lang="es-PY"/>
          </a:p>
        </p:txBody>
      </p:sp>
      <p:sp>
        <p:nvSpPr>
          <p:cNvPr id="3" name="Text 1"/>
          <p:cNvSpPr/>
          <p:nvPr/>
        </p:nvSpPr>
        <p:spPr>
          <a:xfrm>
            <a:off x="640080" y="457200"/>
            <a:ext cx="14630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DEMO</a:t>
            </a:r>
            <a:endParaRPr lang="en-US" sz="1200" dirty="0"/>
          </a:p>
        </p:txBody>
      </p:sp>
      <p:sp>
        <p:nvSpPr>
          <p:cNvPr id="4" name="Text 2"/>
          <p:cNvSpPr/>
          <p:nvPr/>
        </p:nvSpPr>
        <p:spPr>
          <a:xfrm>
            <a:off x="640080" y="868680"/>
            <a:ext cx="91440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Administrador de Tareas: procesos en vivo</a:t>
            </a:r>
            <a:endParaRPr lang="en-US" sz="2800" dirty="0"/>
          </a:p>
        </p:txBody>
      </p:sp>
      <p:sp>
        <p:nvSpPr>
          <p:cNvPr id="7" name="Shape 5"/>
          <p:cNvSpPr/>
          <p:nvPr/>
        </p:nvSpPr>
        <p:spPr>
          <a:xfrm>
            <a:off x="640080" y="1783080"/>
            <a:ext cx="457200" cy="457200"/>
          </a:xfrm>
          <a:prstGeom prst="ellipse">
            <a:avLst/>
          </a:prstGeom>
          <a:solidFill>
            <a:srgbClr val="1F6F5C"/>
          </a:solidFill>
          <a:ln/>
        </p:spPr>
        <p:txBody>
          <a:bodyPr/>
          <a:lstStyle/>
          <a:p>
            <a:endParaRPr lang="es-PY"/>
          </a:p>
        </p:txBody>
      </p:sp>
      <p:sp>
        <p:nvSpPr>
          <p:cNvPr id="8" name="Text 6"/>
          <p:cNvSpPr/>
          <p:nvPr/>
        </p:nvSpPr>
        <p:spPr>
          <a:xfrm>
            <a:off x="640080" y="178308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280160" y="1728216"/>
            <a:ext cx="4572000" cy="50292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Abrir el Administrador de Tareas</a:t>
            </a:r>
            <a:endParaRPr lang="en-US" sz="1400" dirty="0"/>
          </a:p>
        </p:txBody>
      </p:sp>
      <p:sp>
        <p:nvSpPr>
          <p:cNvPr id="10" name="Text 8"/>
          <p:cNvSpPr/>
          <p:nvPr/>
        </p:nvSpPr>
        <p:spPr>
          <a:xfrm>
            <a:off x="5989320" y="1728216"/>
            <a:ext cx="548640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Ctrl + Shift + Esc (Windows) — o clic derecho en la barra de tareas</a:t>
            </a:r>
            <a:endParaRPr lang="en-US" sz="1200" dirty="0"/>
          </a:p>
        </p:txBody>
      </p:sp>
      <p:sp>
        <p:nvSpPr>
          <p:cNvPr id="11" name="Shape 9"/>
          <p:cNvSpPr/>
          <p:nvPr/>
        </p:nvSpPr>
        <p:spPr>
          <a:xfrm>
            <a:off x="640080" y="2441448"/>
            <a:ext cx="457200" cy="457200"/>
          </a:xfrm>
          <a:prstGeom prst="ellipse">
            <a:avLst/>
          </a:prstGeom>
          <a:solidFill>
            <a:srgbClr val="1F6F5C"/>
          </a:solidFill>
          <a:ln/>
        </p:spPr>
        <p:txBody>
          <a:bodyPr/>
          <a:lstStyle/>
          <a:p>
            <a:endParaRPr lang="es-PY"/>
          </a:p>
        </p:txBody>
      </p:sp>
      <p:sp>
        <p:nvSpPr>
          <p:cNvPr id="12" name="Text 10"/>
          <p:cNvSpPr/>
          <p:nvPr/>
        </p:nvSpPr>
        <p:spPr>
          <a:xfrm>
            <a:off x="640080" y="244144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280160" y="2386584"/>
            <a:ext cx="4572000" cy="50292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Ir a la pestaña "Procesos"</a:t>
            </a:r>
            <a:endParaRPr lang="en-US" sz="1400" dirty="0"/>
          </a:p>
        </p:txBody>
      </p:sp>
      <p:sp>
        <p:nvSpPr>
          <p:cNvPr id="14" name="Text 12"/>
          <p:cNvSpPr/>
          <p:nvPr/>
        </p:nvSpPr>
        <p:spPr>
          <a:xfrm>
            <a:off x="5989320" y="2386584"/>
            <a:ext cx="548640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Mostrar la lista completa: cada fila es un proceso corriendo ahora mismo</a:t>
            </a:r>
            <a:endParaRPr lang="en-US" sz="1200" dirty="0"/>
          </a:p>
        </p:txBody>
      </p:sp>
      <p:sp>
        <p:nvSpPr>
          <p:cNvPr id="15" name="Shape 13"/>
          <p:cNvSpPr/>
          <p:nvPr/>
        </p:nvSpPr>
        <p:spPr>
          <a:xfrm>
            <a:off x="640080" y="3099816"/>
            <a:ext cx="457200" cy="457200"/>
          </a:xfrm>
          <a:prstGeom prst="ellipse">
            <a:avLst/>
          </a:prstGeom>
          <a:solidFill>
            <a:srgbClr val="1F6F5C"/>
          </a:solidFill>
          <a:ln/>
        </p:spPr>
        <p:txBody>
          <a:bodyPr/>
          <a:lstStyle/>
          <a:p>
            <a:endParaRPr lang="es-PY"/>
          </a:p>
        </p:txBody>
      </p:sp>
      <p:sp>
        <p:nvSpPr>
          <p:cNvPr id="16" name="Text 14"/>
          <p:cNvSpPr/>
          <p:nvPr/>
        </p:nvSpPr>
        <p:spPr>
          <a:xfrm>
            <a:off x="640080" y="309981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80160" y="3044952"/>
            <a:ext cx="4572000" cy="50292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Señalar columnas clave</a:t>
            </a:r>
            <a:endParaRPr lang="en-US" sz="1400" dirty="0"/>
          </a:p>
        </p:txBody>
      </p:sp>
      <p:sp>
        <p:nvSpPr>
          <p:cNvPr id="18" name="Text 16"/>
          <p:cNvSpPr/>
          <p:nvPr/>
        </p:nvSpPr>
        <p:spPr>
          <a:xfrm>
            <a:off x="5989320" y="3044952"/>
            <a:ext cx="548640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CPU, Memoria, Disco — cada proceso consume recursos de forma independiente</a:t>
            </a:r>
            <a:endParaRPr lang="en-US" sz="1200" dirty="0"/>
          </a:p>
        </p:txBody>
      </p:sp>
      <p:sp>
        <p:nvSpPr>
          <p:cNvPr id="19" name="Shape 17"/>
          <p:cNvSpPr/>
          <p:nvPr/>
        </p:nvSpPr>
        <p:spPr>
          <a:xfrm>
            <a:off x="640080" y="3758184"/>
            <a:ext cx="457200" cy="457200"/>
          </a:xfrm>
          <a:prstGeom prst="ellipse">
            <a:avLst/>
          </a:prstGeom>
          <a:solidFill>
            <a:srgbClr val="1F6F5C"/>
          </a:solidFill>
          <a:ln/>
        </p:spPr>
        <p:txBody>
          <a:bodyPr/>
          <a:lstStyle/>
          <a:p>
            <a:endParaRPr lang="es-PY"/>
          </a:p>
        </p:txBody>
      </p:sp>
      <p:sp>
        <p:nvSpPr>
          <p:cNvPr id="20" name="Text 18"/>
          <p:cNvSpPr/>
          <p:nvPr/>
        </p:nvSpPr>
        <p:spPr>
          <a:xfrm>
            <a:off x="640080" y="375818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280160" y="3703320"/>
            <a:ext cx="4572000" cy="50292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Abrir una app nueva (ej. Calculadora)</a:t>
            </a:r>
            <a:endParaRPr lang="en-US" sz="1400" dirty="0"/>
          </a:p>
        </p:txBody>
      </p:sp>
      <p:sp>
        <p:nvSpPr>
          <p:cNvPr id="22" name="Text 20"/>
          <p:cNvSpPr/>
          <p:nvPr/>
        </p:nvSpPr>
        <p:spPr>
          <a:xfrm>
            <a:off x="5989320" y="3703320"/>
            <a:ext cx="548640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Mostrar cómo aparece INSTANTÁNEAMENTE como un nuevo proceso en la lista</a:t>
            </a:r>
            <a:endParaRPr lang="en-US" sz="1200" dirty="0"/>
          </a:p>
        </p:txBody>
      </p:sp>
      <p:sp>
        <p:nvSpPr>
          <p:cNvPr id="23" name="Shape 21"/>
          <p:cNvSpPr/>
          <p:nvPr/>
        </p:nvSpPr>
        <p:spPr>
          <a:xfrm>
            <a:off x="640080" y="4416552"/>
            <a:ext cx="457200" cy="457200"/>
          </a:xfrm>
          <a:prstGeom prst="ellipse">
            <a:avLst/>
          </a:prstGeom>
          <a:solidFill>
            <a:srgbClr val="1F6F5C"/>
          </a:solidFill>
          <a:ln/>
        </p:spPr>
        <p:txBody>
          <a:bodyPr/>
          <a:lstStyle/>
          <a:p>
            <a:endParaRPr lang="es-PY"/>
          </a:p>
        </p:txBody>
      </p:sp>
      <p:sp>
        <p:nvSpPr>
          <p:cNvPr id="24" name="Text 22"/>
          <p:cNvSpPr/>
          <p:nvPr/>
        </p:nvSpPr>
        <p:spPr>
          <a:xfrm>
            <a:off x="640080" y="441655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p:nvPr/>
        </p:nvSpPr>
        <p:spPr>
          <a:xfrm>
            <a:off x="1280160" y="4361688"/>
            <a:ext cx="4572000" cy="50292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Cerrar esa app</a:t>
            </a:r>
            <a:endParaRPr lang="en-US" sz="1400" dirty="0"/>
          </a:p>
        </p:txBody>
      </p:sp>
      <p:sp>
        <p:nvSpPr>
          <p:cNvPr id="26" name="Text 24"/>
          <p:cNvSpPr/>
          <p:nvPr/>
        </p:nvSpPr>
        <p:spPr>
          <a:xfrm>
            <a:off x="5989320" y="4361688"/>
            <a:ext cx="548640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Mostrar cómo el proceso DESAPARECE de la lista — ese es el fin de su vida</a:t>
            </a:r>
            <a:endParaRPr lang="en-US" sz="1200" dirty="0"/>
          </a:p>
        </p:txBody>
      </p:sp>
      <p:sp>
        <p:nvSpPr>
          <p:cNvPr id="27" name="Text 25"/>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CÓMO TRABAJA EL PROCESADOR</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Traza e intercalación de procesos</a:t>
            </a:r>
            <a:endParaRPr lang="en-US" sz="2800" dirty="0"/>
          </a:p>
        </p:txBody>
      </p:sp>
      <p:sp>
        <p:nvSpPr>
          <p:cNvPr id="6" name="Text 4"/>
          <p:cNvSpPr/>
          <p:nvPr/>
        </p:nvSpPr>
        <p:spPr>
          <a:xfrm>
            <a:off x="640080" y="1691640"/>
            <a:ext cx="10607040" cy="640080"/>
          </a:xfrm>
          <a:prstGeom prst="rect">
            <a:avLst/>
          </a:prstGeom>
          <a:noFill/>
          <a:ln/>
        </p:spPr>
        <p:txBody>
          <a:bodyPr wrap="square" rtlCol="0" anchor="ctr"/>
          <a:lstStyle/>
          <a:p>
            <a:pPr marL="0" indent="0">
              <a:lnSpc>
                <a:spcPts val="1900"/>
              </a:lnSpc>
              <a:buNone/>
            </a:pPr>
            <a:r>
              <a:rPr lang="en-US" sz="1450" dirty="0">
                <a:solidFill>
                  <a:srgbClr val="5B6584"/>
                </a:solidFill>
                <a:latin typeface="Calibri" pitchFamily="34" charset="0"/>
                <a:ea typeface="Calibri" pitchFamily="34" charset="-122"/>
                <a:cs typeface="Calibri" pitchFamily="34" charset="-120"/>
              </a:rPr>
              <a:t>La misión central del procesador es ejecutar las instrucciones en memoria. Un proceso individual se caracteriza por una traza: la secuencia de instrucciones que lo ejecutan.</a:t>
            </a:r>
            <a:endParaRPr lang="en-US" sz="1450" dirty="0"/>
          </a:p>
        </p:txBody>
      </p:sp>
      <p:sp>
        <p:nvSpPr>
          <p:cNvPr id="7" name="Shape 5"/>
          <p:cNvSpPr/>
          <p:nvPr/>
        </p:nvSpPr>
        <p:spPr>
          <a:xfrm>
            <a:off x="640080" y="2743200"/>
            <a:ext cx="2011680" cy="1371600"/>
          </a:xfrm>
          <a:prstGeom prst="rect">
            <a:avLst/>
          </a:prstGeom>
          <a:solidFill>
            <a:srgbClr val="1E2761"/>
          </a:solidFill>
          <a:ln/>
        </p:spPr>
        <p:txBody>
          <a:bodyPr/>
          <a:lstStyle/>
          <a:p>
            <a:endParaRPr lang="es-PY"/>
          </a:p>
        </p:txBody>
      </p:sp>
      <p:sp>
        <p:nvSpPr>
          <p:cNvPr id="8" name="Text 6"/>
          <p:cNvSpPr/>
          <p:nvPr/>
        </p:nvSpPr>
        <p:spPr>
          <a:xfrm>
            <a:off x="640080" y="2743200"/>
            <a:ext cx="2011680" cy="13716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Proceso A</a:t>
            </a:r>
            <a:endParaRPr lang="en-US" sz="1250" dirty="0"/>
          </a:p>
        </p:txBody>
      </p:sp>
      <p:sp>
        <p:nvSpPr>
          <p:cNvPr id="9" name="Shape 7"/>
          <p:cNvSpPr/>
          <p:nvPr/>
        </p:nvSpPr>
        <p:spPr>
          <a:xfrm>
            <a:off x="2651760" y="3429000"/>
            <a:ext cx="137160" cy="0"/>
          </a:xfrm>
          <a:prstGeom prst="line">
            <a:avLst/>
          </a:prstGeom>
          <a:noFill/>
          <a:ln w="25400">
            <a:solidFill>
              <a:srgbClr val="1E2761"/>
            </a:solidFill>
            <a:prstDash val="solid"/>
            <a:tailEnd type="triangle"/>
          </a:ln>
        </p:spPr>
        <p:txBody>
          <a:bodyPr/>
          <a:lstStyle/>
          <a:p>
            <a:endParaRPr lang="es-PY"/>
          </a:p>
        </p:txBody>
      </p:sp>
      <p:sp>
        <p:nvSpPr>
          <p:cNvPr id="10" name="Shape 8"/>
          <p:cNvSpPr/>
          <p:nvPr/>
        </p:nvSpPr>
        <p:spPr>
          <a:xfrm>
            <a:off x="2788920" y="2743200"/>
            <a:ext cx="2011680" cy="1371600"/>
          </a:xfrm>
          <a:prstGeom prst="rect">
            <a:avLst/>
          </a:prstGeom>
          <a:solidFill>
            <a:srgbClr val="9AA3C2"/>
          </a:solidFill>
          <a:ln/>
        </p:spPr>
        <p:txBody>
          <a:bodyPr/>
          <a:lstStyle/>
          <a:p>
            <a:endParaRPr lang="es-PY"/>
          </a:p>
        </p:txBody>
      </p:sp>
      <p:sp>
        <p:nvSpPr>
          <p:cNvPr id="11" name="Text 9"/>
          <p:cNvSpPr/>
          <p:nvPr/>
        </p:nvSpPr>
        <p:spPr>
          <a:xfrm>
            <a:off x="2788920" y="2743200"/>
            <a:ext cx="2011680" cy="13716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Distribuidor</a:t>
            </a:r>
            <a:endParaRPr lang="en-US" sz="1250" dirty="0"/>
          </a:p>
        </p:txBody>
      </p:sp>
      <p:sp>
        <p:nvSpPr>
          <p:cNvPr id="12" name="Shape 10"/>
          <p:cNvSpPr/>
          <p:nvPr/>
        </p:nvSpPr>
        <p:spPr>
          <a:xfrm>
            <a:off x="4800600" y="3429000"/>
            <a:ext cx="137160" cy="0"/>
          </a:xfrm>
          <a:prstGeom prst="line">
            <a:avLst/>
          </a:prstGeom>
          <a:noFill/>
          <a:ln w="25400">
            <a:solidFill>
              <a:srgbClr val="1E2761"/>
            </a:solidFill>
            <a:prstDash val="solid"/>
            <a:tailEnd type="triangle"/>
          </a:ln>
        </p:spPr>
        <p:txBody>
          <a:bodyPr/>
          <a:lstStyle/>
          <a:p>
            <a:endParaRPr lang="es-PY"/>
          </a:p>
        </p:txBody>
      </p:sp>
      <p:sp>
        <p:nvSpPr>
          <p:cNvPr id="13" name="Shape 11"/>
          <p:cNvSpPr/>
          <p:nvPr/>
        </p:nvSpPr>
        <p:spPr>
          <a:xfrm>
            <a:off x="4937760" y="2743200"/>
            <a:ext cx="2011680" cy="1371600"/>
          </a:xfrm>
          <a:prstGeom prst="rect">
            <a:avLst/>
          </a:prstGeom>
          <a:solidFill>
            <a:srgbClr val="E8B84B"/>
          </a:solidFill>
          <a:ln/>
        </p:spPr>
        <p:txBody>
          <a:bodyPr/>
          <a:lstStyle/>
          <a:p>
            <a:endParaRPr lang="es-PY"/>
          </a:p>
        </p:txBody>
      </p:sp>
      <p:sp>
        <p:nvSpPr>
          <p:cNvPr id="14" name="Text 12"/>
          <p:cNvSpPr/>
          <p:nvPr/>
        </p:nvSpPr>
        <p:spPr>
          <a:xfrm>
            <a:off x="4937760" y="2743200"/>
            <a:ext cx="2011680" cy="1371600"/>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Proceso B</a:t>
            </a:r>
            <a:endParaRPr lang="en-US" sz="1250" dirty="0"/>
          </a:p>
        </p:txBody>
      </p:sp>
      <p:sp>
        <p:nvSpPr>
          <p:cNvPr id="15" name="Shape 13"/>
          <p:cNvSpPr/>
          <p:nvPr/>
        </p:nvSpPr>
        <p:spPr>
          <a:xfrm>
            <a:off x="6949440" y="3429000"/>
            <a:ext cx="137160" cy="0"/>
          </a:xfrm>
          <a:prstGeom prst="line">
            <a:avLst/>
          </a:prstGeom>
          <a:noFill/>
          <a:ln w="25400">
            <a:solidFill>
              <a:srgbClr val="1E2761"/>
            </a:solidFill>
            <a:prstDash val="solid"/>
            <a:tailEnd type="triangle"/>
          </a:ln>
        </p:spPr>
        <p:txBody>
          <a:bodyPr/>
          <a:lstStyle/>
          <a:p>
            <a:endParaRPr lang="es-PY"/>
          </a:p>
        </p:txBody>
      </p:sp>
      <p:sp>
        <p:nvSpPr>
          <p:cNvPr id="16" name="Shape 14"/>
          <p:cNvSpPr/>
          <p:nvPr/>
        </p:nvSpPr>
        <p:spPr>
          <a:xfrm>
            <a:off x="7086600" y="2743200"/>
            <a:ext cx="2011680" cy="1371600"/>
          </a:xfrm>
          <a:prstGeom prst="rect">
            <a:avLst/>
          </a:prstGeom>
          <a:solidFill>
            <a:srgbClr val="9AA3C2"/>
          </a:solidFill>
          <a:ln/>
        </p:spPr>
        <p:txBody>
          <a:bodyPr/>
          <a:lstStyle/>
          <a:p>
            <a:endParaRPr lang="es-PY"/>
          </a:p>
        </p:txBody>
      </p:sp>
      <p:sp>
        <p:nvSpPr>
          <p:cNvPr id="17" name="Text 15"/>
          <p:cNvSpPr/>
          <p:nvPr/>
        </p:nvSpPr>
        <p:spPr>
          <a:xfrm>
            <a:off x="7086600" y="2743200"/>
            <a:ext cx="2011680" cy="13716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Distribuidor</a:t>
            </a:r>
            <a:endParaRPr lang="en-US" sz="1250" dirty="0"/>
          </a:p>
        </p:txBody>
      </p:sp>
      <p:sp>
        <p:nvSpPr>
          <p:cNvPr id="18" name="Shape 16"/>
          <p:cNvSpPr/>
          <p:nvPr/>
        </p:nvSpPr>
        <p:spPr>
          <a:xfrm>
            <a:off x="9098280" y="3429000"/>
            <a:ext cx="137160" cy="0"/>
          </a:xfrm>
          <a:prstGeom prst="line">
            <a:avLst/>
          </a:prstGeom>
          <a:noFill/>
          <a:ln w="25400">
            <a:solidFill>
              <a:srgbClr val="1E2761"/>
            </a:solidFill>
            <a:prstDash val="solid"/>
            <a:tailEnd type="triangle"/>
          </a:ln>
        </p:spPr>
        <p:txBody>
          <a:bodyPr/>
          <a:lstStyle/>
          <a:p>
            <a:endParaRPr lang="es-PY"/>
          </a:p>
        </p:txBody>
      </p:sp>
      <p:sp>
        <p:nvSpPr>
          <p:cNvPr id="19" name="Shape 17"/>
          <p:cNvSpPr/>
          <p:nvPr/>
        </p:nvSpPr>
        <p:spPr>
          <a:xfrm>
            <a:off x="9235440" y="2743200"/>
            <a:ext cx="2011680" cy="1371600"/>
          </a:xfrm>
          <a:prstGeom prst="rect">
            <a:avLst/>
          </a:prstGeom>
          <a:solidFill>
            <a:srgbClr val="232E6E"/>
          </a:solidFill>
          <a:ln/>
        </p:spPr>
        <p:txBody>
          <a:bodyPr/>
          <a:lstStyle/>
          <a:p>
            <a:endParaRPr lang="es-PY"/>
          </a:p>
        </p:txBody>
      </p:sp>
      <p:sp>
        <p:nvSpPr>
          <p:cNvPr id="20" name="Text 18"/>
          <p:cNvSpPr/>
          <p:nvPr/>
        </p:nvSpPr>
        <p:spPr>
          <a:xfrm>
            <a:off x="9235440" y="2743200"/>
            <a:ext cx="2011680" cy="13716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Proceso C</a:t>
            </a:r>
            <a:endParaRPr lang="en-US" sz="1250" dirty="0"/>
          </a:p>
        </p:txBody>
      </p:sp>
      <p:sp>
        <p:nvSpPr>
          <p:cNvPr id="21" name="Text 19"/>
          <p:cNvSpPr/>
          <p:nvPr/>
        </p:nvSpPr>
        <p:spPr>
          <a:xfrm>
            <a:off x="640080" y="4480560"/>
            <a:ext cx="10607040" cy="457200"/>
          </a:xfrm>
          <a:prstGeom prst="rect">
            <a:avLst/>
          </a:prstGeom>
          <a:noFill/>
          <a:ln/>
        </p:spPr>
        <p:txBody>
          <a:bodyPr wrap="square"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6 instrucciones de A → 6 del distribuidor → 6 de B → ... — así ningún proceso monopoliza el procesador</a:t>
            </a:r>
            <a:endParaRPr lang="en-US" sz="1300" dirty="0"/>
          </a:p>
        </p:txBody>
      </p:sp>
      <p:sp>
        <p:nvSpPr>
          <p:cNvPr id="22" name="Text 20"/>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EL MODELO MÁS SIMPLE</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Modelo de dos estados</a:t>
            </a:r>
            <a:endParaRPr lang="en-US" sz="2800" dirty="0"/>
          </a:p>
        </p:txBody>
      </p:sp>
      <p:sp>
        <p:nvSpPr>
          <p:cNvPr id="6" name="Shape 4"/>
          <p:cNvSpPr/>
          <p:nvPr/>
        </p:nvSpPr>
        <p:spPr>
          <a:xfrm>
            <a:off x="1280160" y="2103120"/>
            <a:ext cx="2377440" cy="2377440"/>
          </a:xfrm>
          <a:prstGeom prst="ellipse">
            <a:avLst/>
          </a:prstGeom>
          <a:solidFill>
            <a:srgbClr val="E8B84B"/>
          </a:solidFill>
          <a:ln w="12700">
            <a:solidFill>
              <a:srgbClr val="FFFFFF"/>
            </a:solidFill>
            <a:prstDash val="solid"/>
          </a:ln>
        </p:spPr>
        <p:txBody>
          <a:bodyPr/>
          <a:lstStyle/>
          <a:p>
            <a:endParaRPr lang="es-PY"/>
          </a:p>
        </p:txBody>
      </p:sp>
      <p:sp>
        <p:nvSpPr>
          <p:cNvPr id="7" name="Text 5"/>
          <p:cNvSpPr/>
          <p:nvPr/>
        </p:nvSpPr>
        <p:spPr>
          <a:xfrm>
            <a:off x="1280160" y="2103120"/>
            <a:ext cx="2377440" cy="2377440"/>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Ejecución</a:t>
            </a:r>
            <a:endParaRPr lang="en-US" sz="1700" dirty="0"/>
          </a:p>
        </p:txBody>
      </p:sp>
      <p:sp>
        <p:nvSpPr>
          <p:cNvPr id="8" name="Text 6"/>
          <p:cNvSpPr/>
          <p:nvPr/>
        </p:nvSpPr>
        <p:spPr>
          <a:xfrm>
            <a:off x="731520" y="4663440"/>
            <a:ext cx="3474720" cy="914400"/>
          </a:xfrm>
          <a:prstGeom prst="rect">
            <a:avLst/>
          </a:prstGeom>
          <a:noFill/>
          <a:ln/>
        </p:spPr>
        <p:txBody>
          <a:bodyPr wrap="square" rtlCol="0" anchor="ctr"/>
          <a:lstStyle/>
          <a:p>
            <a:pPr marL="0" indent="0" algn="ctr">
              <a:lnSpc>
                <a:spcPts val="1600"/>
              </a:lnSpc>
              <a:buNone/>
            </a:pPr>
            <a:r>
              <a:rPr lang="en-US" sz="1250" dirty="0">
                <a:solidFill>
                  <a:srgbClr val="CADCFC"/>
                </a:solidFill>
                <a:latin typeface="Calibri" pitchFamily="34" charset="0"/>
                <a:ea typeface="Calibri" pitchFamily="34" charset="-122"/>
                <a:cs typeface="Calibri" pitchFamily="34" charset="-120"/>
              </a:rPr>
              <a:t>El proceso está activo, corriendo en el procesador ahora mismo</a:t>
            </a:r>
            <a:endParaRPr lang="en-US" sz="1250" dirty="0"/>
          </a:p>
        </p:txBody>
      </p:sp>
      <p:sp>
        <p:nvSpPr>
          <p:cNvPr id="9" name="Shape 7"/>
          <p:cNvSpPr/>
          <p:nvPr/>
        </p:nvSpPr>
        <p:spPr>
          <a:xfrm>
            <a:off x="7680960" y="2103120"/>
            <a:ext cx="2377440" cy="2377440"/>
          </a:xfrm>
          <a:prstGeom prst="ellipse">
            <a:avLst/>
          </a:prstGeom>
          <a:solidFill>
            <a:srgbClr val="232E6E"/>
          </a:solidFill>
          <a:ln w="25400">
            <a:solidFill>
              <a:srgbClr val="FFFFFF"/>
            </a:solidFill>
            <a:prstDash val="solid"/>
          </a:ln>
        </p:spPr>
        <p:txBody>
          <a:bodyPr/>
          <a:lstStyle/>
          <a:p>
            <a:endParaRPr lang="es-PY"/>
          </a:p>
        </p:txBody>
      </p:sp>
      <p:sp>
        <p:nvSpPr>
          <p:cNvPr id="10" name="Text 8"/>
          <p:cNvSpPr/>
          <p:nvPr/>
        </p:nvSpPr>
        <p:spPr>
          <a:xfrm>
            <a:off x="7680960" y="2103120"/>
            <a:ext cx="2377440" cy="237744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No ejecución</a:t>
            </a:r>
            <a:endParaRPr lang="en-US" sz="1700" dirty="0"/>
          </a:p>
        </p:txBody>
      </p:sp>
      <p:sp>
        <p:nvSpPr>
          <p:cNvPr id="11" name="Text 9"/>
          <p:cNvSpPr/>
          <p:nvPr/>
        </p:nvSpPr>
        <p:spPr>
          <a:xfrm>
            <a:off x="7132320" y="4663440"/>
            <a:ext cx="3474720" cy="914400"/>
          </a:xfrm>
          <a:prstGeom prst="rect">
            <a:avLst/>
          </a:prstGeom>
          <a:noFill/>
          <a:ln/>
        </p:spPr>
        <p:txBody>
          <a:bodyPr wrap="square" rtlCol="0" anchor="ctr"/>
          <a:lstStyle/>
          <a:p>
            <a:pPr marL="0" indent="0" algn="ctr">
              <a:lnSpc>
                <a:spcPts val="1600"/>
              </a:lnSpc>
              <a:buNone/>
            </a:pPr>
            <a:r>
              <a:rPr lang="en-US" sz="1250" dirty="0">
                <a:solidFill>
                  <a:srgbClr val="CADCFC"/>
                </a:solidFill>
                <a:latin typeface="Calibri" pitchFamily="34" charset="0"/>
                <a:ea typeface="Calibri" pitchFamily="34" charset="-122"/>
                <a:cs typeface="Calibri" pitchFamily="34" charset="-120"/>
              </a:rPr>
              <a:t>El proceso existe pero espera su oportunidad para ejecutarse</a:t>
            </a:r>
            <a:endParaRPr lang="en-US" sz="1250" dirty="0"/>
          </a:p>
        </p:txBody>
      </p:sp>
      <p:sp>
        <p:nvSpPr>
          <p:cNvPr id="12" name="Shape 10"/>
          <p:cNvSpPr/>
          <p:nvPr/>
        </p:nvSpPr>
        <p:spPr>
          <a:xfrm>
            <a:off x="3657600" y="3291840"/>
            <a:ext cx="3108960" cy="0"/>
          </a:xfrm>
          <a:prstGeom prst="line">
            <a:avLst/>
          </a:prstGeom>
          <a:noFill/>
          <a:ln w="25400">
            <a:solidFill>
              <a:srgbClr val="E8B84B"/>
            </a:solidFill>
            <a:prstDash val="solid"/>
            <a:tailEnd type="triangle"/>
          </a:ln>
        </p:spPr>
        <p:txBody>
          <a:bodyPr/>
          <a:lstStyle/>
          <a:p>
            <a:endParaRPr lang="es-PY"/>
          </a:p>
        </p:txBody>
      </p:sp>
      <p:sp>
        <p:nvSpPr>
          <p:cNvPr id="13" name="Shape 11"/>
          <p:cNvSpPr/>
          <p:nvPr/>
        </p:nvSpPr>
        <p:spPr>
          <a:xfrm>
            <a:off x="3657600" y="3657600"/>
            <a:ext cx="3108960" cy="0"/>
          </a:xfrm>
          <a:prstGeom prst="line">
            <a:avLst/>
          </a:prstGeom>
          <a:noFill/>
          <a:ln w="25400">
            <a:solidFill>
              <a:srgbClr val="CADCFC"/>
            </a:solidFill>
            <a:prstDash val="solid"/>
            <a:headEnd type="triangle"/>
          </a:ln>
        </p:spPr>
        <p:txBody>
          <a:bodyPr/>
          <a:lstStyle/>
          <a:p>
            <a:endParaRPr lang="es-PY"/>
          </a:p>
        </p:txBody>
      </p:sp>
      <p:sp>
        <p:nvSpPr>
          <p:cNvPr id="14" name="Text 12"/>
          <p:cNvSpPr/>
          <p:nvPr/>
        </p:nvSpPr>
        <p:spPr>
          <a:xfrm>
            <a:off x="3657600" y="2880360"/>
            <a:ext cx="3108960" cy="320040"/>
          </a:xfrm>
          <a:prstGeom prst="rect">
            <a:avLst/>
          </a:prstGeom>
          <a:noFill/>
          <a:ln/>
        </p:spPr>
        <p:txBody>
          <a:bodyPr wrap="square"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Interrupción</a:t>
            </a:r>
            <a:endParaRPr lang="en-US" sz="1100" dirty="0"/>
          </a:p>
        </p:txBody>
      </p:sp>
      <p:sp>
        <p:nvSpPr>
          <p:cNvPr id="15" name="Text 1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1463040" cy="365760"/>
          </a:xfrm>
          <a:prstGeom prst="rect">
            <a:avLst/>
          </a:prstGeom>
          <a:solidFill>
            <a:srgbClr val="1F6F5C"/>
          </a:solidFill>
          <a:ln/>
        </p:spPr>
        <p:txBody>
          <a:bodyPr/>
          <a:lstStyle/>
          <a:p>
            <a:endParaRPr lang="es-PY"/>
          </a:p>
        </p:txBody>
      </p:sp>
      <p:sp>
        <p:nvSpPr>
          <p:cNvPr id="3" name="Text 1"/>
          <p:cNvSpPr/>
          <p:nvPr/>
        </p:nvSpPr>
        <p:spPr>
          <a:xfrm>
            <a:off x="640080" y="457200"/>
            <a:ext cx="14630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DEMO</a:t>
            </a:r>
            <a:endParaRPr lang="en-US" sz="1200" dirty="0"/>
          </a:p>
        </p:txBody>
      </p:sp>
      <p:sp>
        <p:nvSpPr>
          <p:cNvPr id="4" name="Text 2"/>
          <p:cNvSpPr/>
          <p:nvPr/>
        </p:nvSpPr>
        <p:spPr>
          <a:xfrm>
            <a:off x="640080" y="868680"/>
            <a:ext cx="91440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Consumo de memoria en vivo</a:t>
            </a:r>
            <a:endParaRPr lang="en-US" sz="2800" dirty="0"/>
          </a:p>
        </p:txBody>
      </p:sp>
      <p:sp>
        <p:nvSpPr>
          <p:cNvPr id="7" name="Shape 5"/>
          <p:cNvSpPr/>
          <p:nvPr/>
        </p:nvSpPr>
        <p:spPr>
          <a:xfrm>
            <a:off x="640080" y="1783080"/>
            <a:ext cx="457200" cy="457200"/>
          </a:xfrm>
          <a:prstGeom prst="ellipse">
            <a:avLst/>
          </a:prstGeom>
          <a:solidFill>
            <a:srgbClr val="1F6F5C"/>
          </a:solidFill>
          <a:ln/>
        </p:spPr>
        <p:txBody>
          <a:bodyPr/>
          <a:lstStyle/>
          <a:p>
            <a:endParaRPr lang="es-PY"/>
          </a:p>
        </p:txBody>
      </p:sp>
      <p:sp>
        <p:nvSpPr>
          <p:cNvPr id="8" name="Text 6"/>
          <p:cNvSpPr/>
          <p:nvPr/>
        </p:nvSpPr>
        <p:spPr>
          <a:xfrm>
            <a:off x="640080" y="178308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280160" y="1728216"/>
            <a:ext cx="4754880" cy="502920"/>
          </a:xfrm>
          <a:prstGeom prst="rect">
            <a:avLst/>
          </a:prstGeom>
          <a:noFill/>
          <a:ln/>
        </p:spPr>
        <p:txBody>
          <a:bodyPr wrap="square"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Ordenar procesos por columna "Memoria"</a:t>
            </a:r>
            <a:endParaRPr lang="en-US" sz="1350" dirty="0"/>
          </a:p>
        </p:txBody>
      </p:sp>
      <p:sp>
        <p:nvSpPr>
          <p:cNvPr id="10" name="Text 8"/>
          <p:cNvSpPr/>
          <p:nvPr/>
        </p:nvSpPr>
        <p:spPr>
          <a:xfrm>
            <a:off x="6172200" y="1728216"/>
            <a:ext cx="534924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Click en el encabezado de la columna para ordenar de mayor a menor consumo</a:t>
            </a:r>
            <a:endParaRPr lang="en-US" sz="1200" dirty="0"/>
          </a:p>
        </p:txBody>
      </p:sp>
      <p:sp>
        <p:nvSpPr>
          <p:cNvPr id="11" name="Shape 9"/>
          <p:cNvSpPr/>
          <p:nvPr/>
        </p:nvSpPr>
        <p:spPr>
          <a:xfrm>
            <a:off x="640080" y="2441448"/>
            <a:ext cx="457200" cy="457200"/>
          </a:xfrm>
          <a:prstGeom prst="ellipse">
            <a:avLst/>
          </a:prstGeom>
          <a:solidFill>
            <a:srgbClr val="1F6F5C"/>
          </a:solidFill>
          <a:ln/>
        </p:spPr>
        <p:txBody>
          <a:bodyPr/>
          <a:lstStyle/>
          <a:p>
            <a:endParaRPr lang="es-PY"/>
          </a:p>
        </p:txBody>
      </p:sp>
      <p:sp>
        <p:nvSpPr>
          <p:cNvPr id="12" name="Text 10"/>
          <p:cNvSpPr/>
          <p:nvPr/>
        </p:nvSpPr>
        <p:spPr>
          <a:xfrm>
            <a:off x="640080" y="244144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280160" y="2386584"/>
            <a:ext cx="4754880" cy="502920"/>
          </a:xfrm>
          <a:prstGeom prst="rect">
            <a:avLst/>
          </a:prstGeom>
          <a:noFill/>
          <a:ln/>
        </p:spPr>
        <p:txBody>
          <a:bodyPr wrap="square"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Elegir un proceso liviano en reposo</a:t>
            </a:r>
            <a:endParaRPr lang="en-US" sz="1350" dirty="0"/>
          </a:p>
        </p:txBody>
      </p:sp>
      <p:sp>
        <p:nvSpPr>
          <p:cNvPr id="14" name="Text 12"/>
          <p:cNvSpPr/>
          <p:nvPr/>
        </p:nvSpPr>
        <p:spPr>
          <a:xfrm>
            <a:off x="6172200" y="2386584"/>
            <a:ext cx="534924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Anotar mentalmente cuánta memoria usa (ej. Bloc de notas vacío)</a:t>
            </a:r>
            <a:endParaRPr lang="en-US" sz="1200" dirty="0"/>
          </a:p>
        </p:txBody>
      </p:sp>
      <p:sp>
        <p:nvSpPr>
          <p:cNvPr id="15" name="Shape 13"/>
          <p:cNvSpPr/>
          <p:nvPr/>
        </p:nvSpPr>
        <p:spPr>
          <a:xfrm>
            <a:off x="640080" y="3099816"/>
            <a:ext cx="457200" cy="457200"/>
          </a:xfrm>
          <a:prstGeom prst="ellipse">
            <a:avLst/>
          </a:prstGeom>
          <a:solidFill>
            <a:srgbClr val="1F6F5C"/>
          </a:solidFill>
          <a:ln/>
        </p:spPr>
        <p:txBody>
          <a:bodyPr/>
          <a:lstStyle/>
          <a:p>
            <a:endParaRPr lang="es-PY"/>
          </a:p>
        </p:txBody>
      </p:sp>
      <p:sp>
        <p:nvSpPr>
          <p:cNvPr id="16" name="Text 14"/>
          <p:cNvSpPr/>
          <p:nvPr/>
        </p:nvSpPr>
        <p:spPr>
          <a:xfrm>
            <a:off x="640080" y="309981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80160" y="3044952"/>
            <a:ext cx="4754880" cy="502920"/>
          </a:xfrm>
          <a:prstGeom prst="rect">
            <a:avLst/>
          </a:prstGeom>
          <a:noFill/>
          <a:ln/>
        </p:spPr>
        <p:txBody>
          <a:bodyPr wrap="square"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Abrir una app pesada (navegador, editor, juego)</a:t>
            </a:r>
            <a:endParaRPr lang="en-US" sz="1350" dirty="0"/>
          </a:p>
        </p:txBody>
      </p:sp>
      <p:sp>
        <p:nvSpPr>
          <p:cNvPr id="18" name="Text 16"/>
          <p:cNvSpPr/>
          <p:nvPr/>
        </p:nvSpPr>
        <p:spPr>
          <a:xfrm>
            <a:off x="6172200" y="3044952"/>
            <a:ext cx="534924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Observar en vivo cómo el número de memoria SUBE apenas se abre</a:t>
            </a:r>
            <a:endParaRPr lang="en-US" sz="1200" dirty="0"/>
          </a:p>
        </p:txBody>
      </p:sp>
      <p:sp>
        <p:nvSpPr>
          <p:cNvPr id="19" name="Shape 17"/>
          <p:cNvSpPr/>
          <p:nvPr/>
        </p:nvSpPr>
        <p:spPr>
          <a:xfrm>
            <a:off x="640080" y="3758184"/>
            <a:ext cx="457200" cy="457200"/>
          </a:xfrm>
          <a:prstGeom prst="ellipse">
            <a:avLst/>
          </a:prstGeom>
          <a:solidFill>
            <a:srgbClr val="1F6F5C"/>
          </a:solidFill>
          <a:ln/>
        </p:spPr>
        <p:txBody>
          <a:bodyPr/>
          <a:lstStyle/>
          <a:p>
            <a:endParaRPr lang="es-PY"/>
          </a:p>
        </p:txBody>
      </p:sp>
      <p:sp>
        <p:nvSpPr>
          <p:cNvPr id="20" name="Text 18"/>
          <p:cNvSpPr/>
          <p:nvPr/>
        </p:nvSpPr>
        <p:spPr>
          <a:xfrm>
            <a:off x="640080" y="375818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280160" y="3703320"/>
            <a:ext cx="4754880" cy="502920"/>
          </a:xfrm>
          <a:prstGeom prst="rect">
            <a:avLst/>
          </a:prstGeom>
          <a:noFill/>
          <a:ln/>
        </p:spPr>
        <p:txBody>
          <a:bodyPr wrap="square"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Agregar carga (más pestañas, abrir un archivo grande)</a:t>
            </a:r>
            <a:endParaRPr lang="en-US" sz="1350" dirty="0"/>
          </a:p>
        </p:txBody>
      </p:sp>
      <p:sp>
        <p:nvSpPr>
          <p:cNvPr id="22" name="Text 20"/>
          <p:cNvSpPr/>
          <p:nvPr/>
        </p:nvSpPr>
        <p:spPr>
          <a:xfrm>
            <a:off x="6172200" y="3703320"/>
            <a:ext cx="534924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El consumo sigue subiendo — cada pestaña/documento es más memoria reservada</a:t>
            </a:r>
            <a:endParaRPr lang="en-US" sz="1200" dirty="0"/>
          </a:p>
        </p:txBody>
      </p:sp>
      <p:sp>
        <p:nvSpPr>
          <p:cNvPr id="23" name="Shape 21"/>
          <p:cNvSpPr/>
          <p:nvPr/>
        </p:nvSpPr>
        <p:spPr>
          <a:xfrm>
            <a:off x="640080" y="4416552"/>
            <a:ext cx="457200" cy="457200"/>
          </a:xfrm>
          <a:prstGeom prst="ellipse">
            <a:avLst/>
          </a:prstGeom>
          <a:solidFill>
            <a:srgbClr val="1F6F5C"/>
          </a:solidFill>
          <a:ln/>
        </p:spPr>
        <p:txBody>
          <a:bodyPr/>
          <a:lstStyle/>
          <a:p>
            <a:endParaRPr lang="es-PY"/>
          </a:p>
        </p:txBody>
      </p:sp>
      <p:sp>
        <p:nvSpPr>
          <p:cNvPr id="24" name="Text 22"/>
          <p:cNvSpPr/>
          <p:nvPr/>
        </p:nvSpPr>
        <p:spPr>
          <a:xfrm>
            <a:off x="640080" y="441655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p:nvPr/>
        </p:nvSpPr>
        <p:spPr>
          <a:xfrm>
            <a:off x="1280160" y="4361688"/>
            <a:ext cx="4754880" cy="502920"/>
          </a:xfrm>
          <a:prstGeom prst="rect">
            <a:avLst/>
          </a:prstGeom>
          <a:noFill/>
          <a:ln/>
        </p:spPr>
        <p:txBody>
          <a:bodyPr wrap="square"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Cerrar pestañas o la app</a:t>
            </a:r>
            <a:endParaRPr lang="en-US" sz="1350" dirty="0"/>
          </a:p>
        </p:txBody>
      </p:sp>
      <p:sp>
        <p:nvSpPr>
          <p:cNvPr id="26" name="Text 24"/>
          <p:cNvSpPr/>
          <p:nvPr/>
        </p:nvSpPr>
        <p:spPr>
          <a:xfrm>
            <a:off x="6172200" y="4361688"/>
            <a:ext cx="5349240" cy="54864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El consumo BAJA — la memoria se libera para otros procesos</a:t>
            </a:r>
            <a:endParaRPr lang="en-US" sz="1200" dirty="0"/>
          </a:p>
        </p:txBody>
      </p:sp>
      <p:sp>
        <p:nvSpPr>
          <p:cNvPr id="27" name="Text 25"/>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EL NACIMIENTO DE UN PROCESO</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Razones para la creación de procesos</a:t>
            </a:r>
            <a:endParaRPr lang="en-US" sz="2800" dirty="0"/>
          </a:p>
        </p:txBody>
      </p:sp>
      <p:sp>
        <p:nvSpPr>
          <p:cNvPr id="4" name="Shape 2"/>
          <p:cNvSpPr/>
          <p:nvPr/>
        </p:nvSpPr>
        <p:spPr>
          <a:xfrm>
            <a:off x="9994392" y="457200"/>
            <a:ext cx="1554480" cy="365760"/>
          </a:xfrm>
          <a:prstGeom prst="rect">
            <a:avLst/>
          </a:prstGeom>
          <a:solidFill>
            <a:srgbClr val="232E6E"/>
          </a:solidFill>
          <a:ln/>
        </p:spPr>
        <p:txBody>
          <a:bodyPr/>
          <a:lstStyle/>
          <a:p>
            <a:endParaRPr lang="es-PY"/>
          </a:p>
        </p:txBody>
      </p:sp>
      <p:sp>
        <p:nvSpPr>
          <p:cNvPr id="6" name="Shape 4"/>
          <p:cNvSpPr/>
          <p:nvPr/>
        </p:nvSpPr>
        <p:spPr>
          <a:xfrm>
            <a:off x="640080" y="1920240"/>
            <a:ext cx="5257800" cy="1737360"/>
          </a:xfrm>
          <a:prstGeom prst="rect">
            <a:avLst/>
          </a:prstGeom>
          <a:solidFill>
            <a:srgbClr val="232E6E"/>
          </a:solidFill>
          <a:ln/>
        </p:spPr>
        <p:txBody>
          <a:bodyPr/>
          <a:lstStyle/>
          <a:p>
            <a:endParaRPr lang="es-PY"/>
          </a:p>
        </p:txBody>
      </p:sp>
      <p:sp>
        <p:nvSpPr>
          <p:cNvPr id="7" name="Text 5"/>
          <p:cNvSpPr/>
          <p:nvPr/>
        </p:nvSpPr>
        <p:spPr>
          <a:xfrm>
            <a:off x="914400" y="2103120"/>
            <a:ext cx="4754880" cy="50292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Nuevo trabajo por lotes</a:t>
            </a:r>
            <a:endParaRPr lang="en-US" sz="1450" dirty="0"/>
          </a:p>
        </p:txBody>
      </p:sp>
      <p:sp>
        <p:nvSpPr>
          <p:cNvPr id="8" name="Text 6"/>
          <p:cNvSpPr/>
          <p:nvPr/>
        </p:nvSpPr>
        <p:spPr>
          <a:xfrm>
            <a:off x="914400" y="2651760"/>
            <a:ext cx="4754880" cy="914400"/>
          </a:xfrm>
          <a:prstGeom prst="rect">
            <a:avLst/>
          </a:prstGeom>
          <a:noFill/>
          <a:ln/>
        </p:spPr>
        <p:txBody>
          <a:bodyPr wrap="square"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El SO da lectura a la próxima secuencia de órdenes de los procesos siguientes</a:t>
            </a:r>
            <a:endParaRPr lang="en-US" sz="1200" dirty="0"/>
          </a:p>
        </p:txBody>
      </p:sp>
      <p:sp>
        <p:nvSpPr>
          <p:cNvPr id="9" name="Shape 7"/>
          <p:cNvSpPr/>
          <p:nvPr/>
        </p:nvSpPr>
        <p:spPr>
          <a:xfrm>
            <a:off x="6263640" y="1920240"/>
            <a:ext cx="5257800" cy="1737360"/>
          </a:xfrm>
          <a:prstGeom prst="rect">
            <a:avLst/>
          </a:prstGeom>
          <a:solidFill>
            <a:srgbClr val="232E6E"/>
          </a:solidFill>
          <a:ln/>
        </p:spPr>
        <p:txBody>
          <a:bodyPr/>
          <a:lstStyle/>
          <a:p>
            <a:endParaRPr lang="es-PY"/>
          </a:p>
        </p:txBody>
      </p:sp>
      <p:sp>
        <p:nvSpPr>
          <p:cNvPr id="10" name="Text 8"/>
          <p:cNvSpPr/>
          <p:nvPr/>
        </p:nvSpPr>
        <p:spPr>
          <a:xfrm>
            <a:off x="6537960" y="2103120"/>
            <a:ext cx="4754880" cy="50292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Conexión interactiva</a:t>
            </a:r>
            <a:endParaRPr lang="en-US" sz="1450" dirty="0"/>
          </a:p>
        </p:txBody>
      </p:sp>
      <p:sp>
        <p:nvSpPr>
          <p:cNvPr id="11" name="Text 9"/>
          <p:cNvSpPr/>
          <p:nvPr/>
        </p:nvSpPr>
        <p:spPr>
          <a:xfrm>
            <a:off x="6537960" y="2651760"/>
            <a:ext cx="4754880" cy="914400"/>
          </a:xfrm>
          <a:prstGeom prst="rect">
            <a:avLst/>
          </a:prstGeom>
          <a:noFill/>
          <a:ln/>
        </p:spPr>
        <p:txBody>
          <a:bodyPr wrap="square"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Sucede cuando un usuario accede al sistema desde una terminal</a:t>
            </a:r>
            <a:endParaRPr lang="en-US" sz="1200" dirty="0"/>
          </a:p>
        </p:txBody>
      </p:sp>
      <p:sp>
        <p:nvSpPr>
          <p:cNvPr id="12" name="Shape 10"/>
          <p:cNvSpPr/>
          <p:nvPr/>
        </p:nvSpPr>
        <p:spPr>
          <a:xfrm>
            <a:off x="640080" y="3886200"/>
            <a:ext cx="5257800" cy="1737360"/>
          </a:xfrm>
          <a:prstGeom prst="rect">
            <a:avLst/>
          </a:prstGeom>
          <a:solidFill>
            <a:srgbClr val="232E6E"/>
          </a:solidFill>
          <a:ln/>
        </p:spPr>
        <p:txBody>
          <a:bodyPr/>
          <a:lstStyle/>
          <a:p>
            <a:endParaRPr lang="es-PY"/>
          </a:p>
        </p:txBody>
      </p:sp>
      <p:sp>
        <p:nvSpPr>
          <p:cNvPr id="13" name="Text 11"/>
          <p:cNvSpPr/>
          <p:nvPr/>
        </p:nvSpPr>
        <p:spPr>
          <a:xfrm>
            <a:off x="914400" y="4069080"/>
            <a:ext cx="4754880" cy="50292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Generado por el SO para un servicio</a:t>
            </a:r>
            <a:endParaRPr lang="en-US" sz="1450" dirty="0"/>
          </a:p>
        </p:txBody>
      </p:sp>
      <p:sp>
        <p:nvSpPr>
          <p:cNvPr id="14" name="Text 12"/>
          <p:cNvSpPr/>
          <p:nvPr/>
        </p:nvSpPr>
        <p:spPr>
          <a:xfrm>
            <a:off x="914400" y="4617720"/>
            <a:ext cx="4754880" cy="914400"/>
          </a:xfrm>
          <a:prstGeom prst="rect">
            <a:avLst/>
          </a:prstGeom>
          <a:noFill/>
          <a:ln/>
        </p:spPr>
        <p:txBody>
          <a:bodyPr wrap="square"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El SO crea procesos con funciones específicas (ej. imprimir) sin que el usuario espere</a:t>
            </a:r>
            <a:endParaRPr lang="en-US" sz="1200" dirty="0"/>
          </a:p>
        </p:txBody>
      </p:sp>
      <p:sp>
        <p:nvSpPr>
          <p:cNvPr id="15" name="Shape 13"/>
          <p:cNvSpPr/>
          <p:nvPr/>
        </p:nvSpPr>
        <p:spPr>
          <a:xfrm>
            <a:off x="6263640" y="3886200"/>
            <a:ext cx="5257800" cy="1737360"/>
          </a:xfrm>
          <a:prstGeom prst="rect">
            <a:avLst/>
          </a:prstGeom>
          <a:solidFill>
            <a:srgbClr val="232E6E"/>
          </a:solidFill>
          <a:ln/>
        </p:spPr>
        <p:txBody>
          <a:bodyPr/>
          <a:lstStyle/>
          <a:p>
            <a:endParaRPr lang="es-PY"/>
          </a:p>
        </p:txBody>
      </p:sp>
      <p:sp>
        <p:nvSpPr>
          <p:cNvPr id="16" name="Text 14"/>
          <p:cNvSpPr/>
          <p:nvPr/>
        </p:nvSpPr>
        <p:spPr>
          <a:xfrm>
            <a:off x="6537960" y="4069080"/>
            <a:ext cx="4754880" cy="50292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Un proceso existente genera otro</a:t>
            </a:r>
            <a:endParaRPr lang="en-US" sz="1450" dirty="0"/>
          </a:p>
        </p:txBody>
      </p:sp>
      <p:sp>
        <p:nvSpPr>
          <p:cNvPr id="17" name="Text 15"/>
          <p:cNvSpPr/>
          <p:nvPr/>
        </p:nvSpPr>
        <p:spPr>
          <a:xfrm>
            <a:off x="6537960" y="4617720"/>
            <a:ext cx="4754880" cy="914400"/>
          </a:xfrm>
          <a:prstGeom prst="rect">
            <a:avLst/>
          </a:prstGeom>
          <a:noFill/>
          <a:ln/>
        </p:spPr>
        <p:txBody>
          <a:bodyPr wrap="square"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Un programa de usuario crea varios procesos para aprovechar el paralelismo</a:t>
            </a:r>
            <a:endParaRPr lang="en-US" sz="120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EL FINAL DE UN PROCESO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Razones para la finalización de procesos</a:t>
            </a:r>
            <a:endParaRPr lang="en-US" sz="2800" dirty="0"/>
          </a:p>
        </p:txBody>
      </p:sp>
      <p:sp>
        <p:nvSpPr>
          <p:cNvPr id="6" name="Shape 4"/>
          <p:cNvSpPr/>
          <p:nvPr/>
        </p:nvSpPr>
        <p:spPr>
          <a:xfrm>
            <a:off x="640080" y="1828800"/>
            <a:ext cx="5257800" cy="1234440"/>
          </a:xfrm>
          <a:prstGeom prst="rect">
            <a:avLst/>
          </a:prstGeom>
          <a:solidFill>
            <a:srgbClr val="F7F8FC"/>
          </a:solidFill>
          <a:ln/>
        </p:spPr>
        <p:txBody>
          <a:bodyPr/>
          <a:lstStyle/>
          <a:p>
            <a:endParaRPr lang="es-PY"/>
          </a:p>
        </p:txBody>
      </p:sp>
      <p:sp>
        <p:nvSpPr>
          <p:cNvPr id="7" name="Text 5"/>
          <p:cNvSpPr/>
          <p:nvPr/>
        </p:nvSpPr>
        <p:spPr>
          <a:xfrm>
            <a:off x="868680" y="1938528"/>
            <a:ext cx="4800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Terminación normal</a:t>
            </a:r>
            <a:endParaRPr lang="en-US" sz="1300" dirty="0"/>
          </a:p>
        </p:txBody>
      </p:sp>
      <p:sp>
        <p:nvSpPr>
          <p:cNvPr id="8" name="Text 6"/>
          <p:cNvSpPr/>
          <p:nvPr/>
        </p:nvSpPr>
        <p:spPr>
          <a:xfrm>
            <a:off x="868680" y="233172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Se cumple cuando el propio SO lo indica</a:t>
            </a:r>
            <a:endParaRPr lang="en-US" sz="1150" dirty="0"/>
          </a:p>
        </p:txBody>
      </p:sp>
      <p:sp>
        <p:nvSpPr>
          <p:cNvPr id="9" name="Shape 7"/>
          <p:cNvSpPr/>
          <p:nvPr/>
        </p:nvSpPr>
        <p:spPr>
          <a:xfrm>
            <a:off x="6263640" y="1828800"/>
            <a:ext cx="5257800" cy="1234440"/>
          </a:xfrm>
          <a:prstGeom prst="rect">
            <a:avLst/>
          </a:prstGeom>
          <a:solidFill>
            <a:srgbClr val="F7F8FC"/>
          </a:solidFill>
          <a:ln/>
        </p:spPr>
        <p:txBody>
          <a:bodyPr/>
          <a:lstStyle/>
          <a:p>
            <a:endParaRPr lang="es-PY"/>
          </a:p>
        </p:txBody>
      </p:sp>
      <p:sp>
        <p:nvSpPr>
          <p:cNvPr id="10" name="Text 8"/>
          <p:cNvSpPr/>
          <p:nvPr/>
        </p:nvSpPr>
        <p:spPr>
          <a:xfrm>
            <a:off x="6492240" y="1938528"/>
            <a:ext cx="4800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Tiempo límite excedido</a:t>
            </a:r>
            <a:endParaRPr lang="en-US" sz="1300" dirty="0"/>
          </a:p>
        </p:txBody>
      </p:sp>
      <p:sp>
        <p:nvSpPr>
          <p:cNvPr id="11" name="Text 9"/>
          <p:cNvSpPr/>
          <p:nvPr/>
        </p:nvSpPr>
        <p:spPr>
          <a:xfrm>
            <a:off x="6492240" y="233172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Se ejecutó por más tiempo del límite indicado</a:t>
            </a:r>
            <a:endParaRPr lang="en-US" sz="1150" dirty="0"/>
          </a:p>
        </p:txBody>
      </p:sp>
      <p:sp>
        <p:nvSpPr>
          <p:cNvPr id="12" name="Shape 10"/>
          <p:cNvSpPr/>
          <p:nvPr/>
        </p:nvSpPr>
        <p:spPr>
          <a:xfrm>
            <a:off x="640080" y="3246120"/>
            <a:ext cx="5257800" cy="1234440"/>
          </a:xfrm>
          <a:prstGeom prst="rect">
            <a:avLst/>
          </a:prstGeom>
          <a:solidFill>
            <a:srgbClr val="F7F8FC"/>
          </a:solidFill>
          <a:ln/>
        </p:spPr>
        <p:txBody>
          <a:bodyPr/>
          <a:lstStyle/>
          <a:p>
            <a:endParaRPr lang="es-PY"/>
          </a:p>
        </p:txBody>
      </p:sp>
      <p:sp>
        <p:nvSpPr>
          <p:cNvPr id="13" name="Text 11"/>
          <p:cNvSpPr/>
          <p:nvPr/>
        </p:nvSpPr>
        <p:spPr>
          <a:xfrm>
            <a:off x="868680" y="3355848"/>
            <a:ext cx="4800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No hay memoria disponible</a:t>
            </a:r>
            <a:endParaRPr lang="en-US" sz="1300" dirty="0"/>
          </a:p>
        </p:txBody>
      </p:sp>
      <p:sp>
        <p:nvSpPr>
          <p:cNvPr id="14" name="Text 12"/>
          <p:cNvSpPr/>
          <p:nvPr/>
        </p:nvSpPr>
        <p:spPr>
          <a:xfrm>
            <a:off x="868680" y="374904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Se requiere más memoria de la que hay para mantenerlo activo</a:t>
            </a:r>
            <a:endParaRPr lang="en-US" sz="1150" dirty="0"/>
          </a:p>
        </p:txBody>
      </p:sp>
      <p:sp>
        <p:nvSpPr>
          <p:cNvPr id="15" name="Shape 13"/>
          <p:cNvSpPr/>
          <p:nvPr/>
        </p:nvSpPr>
        <p:spPr>
          <a:xfrm>
            <a:off x="6263640" y="3246120"/>
            <a:ext cx="5257800" cy="1234440"/>
          </a:xfrm>
          <a:prstGeom prst="rect">
            <a:avLst/>
          </a:prstGeom>
          <a:solidFill>
            <a:srgbClr val="F7F8FC"/>
          </a:solidFill>
          <a:ln/>
        </p:spPr>
        <p:txBody>
          <a:bodyPr/>
          <a:lstStyle/>
          <a:p>
            <a:endParaRPr lang="es-PY"/>
          </a:p>
        </p:txBody>
      </p:sp>
      <p:sp>
        <p:nvSpPr>
          <p:cNvPr id="16" name="Text 14"/>
          <p:cNvSpPr/>
          <p:nvPr/>
        </p:nvSpPr>
        <p:spPr>
          <a:xfrm>
            <a:off x="6492240" y="3355848"/>
            <a:ext cx="4800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Infracción de límites</a:t>
            </a:r>
            <a:endParaRPr lang="en-US" sz="1300" dirty="0"/>
          </a:p>
        </p:txBody>
      </p:sp>
      <p:sp>
        <p:nvSpPr>
          <p:cNvPr id="17" name="Text 15"/>
          <p:cNvSpPr/>
          <p:nvPr/>
        </p:nvSpPr>
        <p:spPr>
          <a:xfrm>
            <a:off x="6492240" y="374904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Intenta acceder a una posición de memoria no permitida</a:t>
            </a:r>
            <a:endParaRPr lang="en-US" sz="1150" dirty="0"/>
          </a:p>
        </p:txBody>
      </p:sp>
      <p:sp>
        <p:nvSpPr>
          <p:cNvPr id="18" name="Shape 16"/>
          <p:cNvSpPr/>
          <p:nvPr/>
        </p:nvSpPr>
        <p:spPr>
          <a:xfrm>
            <a:off x="640080" y="4663440"/>
            <a:ext cx="5257800" cy="1234440"/>
          </a:xfrm>
          <a:prstGeom prst="rect">
            <a:avLst/>
          </a:prstGeom>
          <a:solidFill>
            <a:srgbClr val="F7F8FC"/>
          </a:solidFill>
          <a:ln/>
        </p:spPr>
        <p:txBody>
          <a:bodyPr/>
          <a:lstStyle/>
          <a:p>
            <a:endParaRPr lang="es-PY"/>
          </a:p>
        </p:txBody>
      </p:sp>
      <p:sp>
        <p:nvSpPr>
          <p:cNvPr id="19" name="Text 17"/>
          <p:cNvSpPr/>
          <p:nvPr/>
        </p:nvSpPr>
        <p:spPr>
          <a:xfrm>
            <a:off x="868680" y="4773168"/>
            <a:ext cx="4800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Fallo de protección</a:t>
            </a:r>
            <a:endParaRPr lang="en-US" sz="1300" dirty="0"/>
          </a:p>
        </p:txBody>
      </p:sp>
      <p:sp>
        <p:nvSpPr>
          <p:cNvPr id="20" name="Text 18"/>
          <p:cNvSpPr/>
          <p:nvPr/>
        </p:nvSpPr>
        <p:spPr>
          <a:xfrm>
            <a:off x="868680" y="516636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Intenta usar archivos/recursos no permitidos, o escribir en solo-lectura</a:t>
            </a:r>
            <a:endParaRPr lang="en-US" sz="1150" dirty="0"/>
          </a:p>
        </p:txBody>
      </p:sp>
      <p:sp>
        <p:nvSpPr>
          <p:cNvPr id="21" name="Shape 19"/>
          <p:cNvSpPr/>
          <p:nvPr/>
        </p:nvSpPr>
        <p:spPr>
          <a:xfrm>
            <a:off x="6263640" y="4663440"/>
            <a:ext cx="5257800" cy="1234440"/>
          </a:xfrm>
          <a:prstGeom prst="rect">
            <a:avLst/>
          </a:prstGeom>
          <a:solidFill>
            <a:srgbClr val="F7F8FC"/>
          </a:solidFill>
          <a:ln/>
        </p:spPr>
        <p:txBody>
          <a:bodyPr/>
          <a:lstStyle/>
          <a:p>
            <a:endParaRPr lang="es-PY"/>
          </a:p>
        </p:txBody>
      </p:sp>
      <p:sp>
        <p:nvSpPr>
          <p:cNvPr id="22" name="Text 20"/>
          <p:cNvSpPr/>
          <p:nvPr/>
        </p:nvSpPr>
        <p:spPr>
          <a:xfrm>
            <a:off x="6492240" y="4773168"/>
            <a:ext cx="4800600" cy="3657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Fallo aritmético / error de E/S</a:t>
            </a:r>
            <a:endParaRPr lang="en-US" sz="1300" dirty="0"/>
          </a:p>
        </p:txBody>
      </p:sp>
      <p:sp>
        <p:nvSpPr>
          <p:cNvPr id="23" name="Text 21"/>
          <p:cNvSpPr/>
          <p:nvPr/>
        </p:nvSpPr>
        <p:spPr>
          <a:xfrm>
            <a:off x="6492240" y="5166360"/>
            <a:ext cx="4800600" cy="685800"/>
          </a:xfrm>
          <a:prstGeom prst="rect">
            <a:avLst/>
          </a:prstGeom>
          <a:noFill/>
          <a:ln/>
        </p:spPr>
        <p:txBody>
          <a:bodyPr wrap="square" rtlCol="0" anchor="ctr"/>
          <a:lstStyle/>
          <a:p>
            <a:pPr marL="0" indent="0">
              <a:lnSpc>
                <a:spcPts val="1400"/>
              </a:lnSpc>
              <a:buNone/>
            </a:pPr>
            <a:r>
              <a:rPr lang="en-US" sz="1150" dirty="0">
                <a:solidFill>
                  <a:srgbClr val="5B6584"/>
                </a:solidFill>
                <a:latin typeface="Calibri" pitchFamily="34" charset="0"/>
                <a:ea typeface="Calibri" pitchFamily="34" charset="-122"/>
                <a:cs typeface="Calibri" pitchFamily="34" charset="-120"/>
              </a:rPr>
              <a:t>Cálculo no permitido, o problema al leer/escribir datos</a:t>
            </a:r>
            <a:endParaRPr lang="en-US" sz="1150" dirty="0"/>
          </a:p>
        </p:txBody>
      </p:sp>
      <p:sp>
        <p:nvSpPr>
          <p:cNvPr id="24" name="Text 2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DOS ESTADOS NO ALCANZAN</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Modelo de cinco estados</a:t>
            </a:r>
            <a:endParaRPr lang="en-US" sz="2800" dirty="0"/>
          </a:p>
        </p:txBody>
      </p:sp>
      <p:sp>
        <p:nvSpPr>
          <p:cNvPr id="6" name="Text 4"/>
          <p:cNvSpPr/>
          <p:nvPr/>
        </p:nvSpPr>
        <p:spPr>
          <a:xfrm>
            <a:off x="640080" y="1691640"/>
            <a:ext cx="10607040" cy="548640"/>
          </a:xfrm>
          <a:prstGeom prst="rect">
            <a:avLst/>
          </a:prstGeom>
          <a:noFill/>
          <a:ln/>
        </p:spPr>
        <p:txBody>
          <a:bodyPr wrap="square" rtlCol="0" anchor="ctr"/>
          <a:lstStyle/>
          <a:p>
            <a:pPr marL="0" indent="0">
              <a:lnSpc>
                <a:spcPts val="1800"/>
              </a:lnSpc>
              <a:buNone/>
            </a:pPr>
            <a:r>
              <a:rPr lang="en-US" sz="1400" i="1" dirty="0">
                <a:solidFill>
                  <a:srgbClr val="CADCFC"/>
                </a:solidFill>
                <a:latin typeface="Calibri" pitchFamily="34" charset="0"/>
                <a:ea typeface="Calibri" pitchFamily="34" charset="-122"/>
                <a:cs typeface="Calibri" pitchFamily="34" charset="-120"/>
              </a:rPr>
              <a:t>"No ejecución" se divide en Listo y Bloqueado — porque no es lo mismo estar esperando turno que estar trabado esperando otra cosa.</a:t>
            </a:r>
            <a:endParaRPr lang="en-US" sz="1400" dirty="0"/>
          </a:p>
        </p:txBody>
      </p:sp>
      <p:sp>
        <p:nvSpPr>
          <p:cNvPr id="7" name="Shape 5"/>
          <p:cNvSpPr/>
          <p:nvPr/>
        </p:nvSpPr>
        <p:spPr>
          <a:xfrm>
            <a:off x="502920" y="2468880"/>
            <a:ext cx="2103120" cy="1188720"/>
          </a:xfrm>
          <a:prstGeom prst="rect">
            <a:avLst/>
          </a:prstGeom>
          <a:solidFill>
            <a:srgbClr val="232E6E"/>
          </a:solidFill>
          <a:ln/>
        </p:spPr>
        <p:txBody>
          <a:bodyPr/>
          <a:lstStyle/>
          <a:p>
            <a:endParaRPr lang="es-PY"/>
          </a:p>
        </p:txBody>
      </p:sp>
      <p:sp>
        <p:nvSpPr>
          <p:cNvPr id="8" name="Text 6"/>
          <p:cNvSpPr/>
          <p:nvPr/>
        </p:nvSpPr>
        <p:spPr>
          <a:xfrm>
            <a:off x="502920" y="2468880"/>
            <a:ext cx="2103120" cy="11887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Nuevo</a:t>
            </a:r>
            <a:endParaRPr lang="en-US" sz="1350" dirty="0"/>
          </a:p>
        </p:txBody>
      </p:sp>
      <p:sp>
        <p:nvSpPr>
          <p:cNvPr id="9" name="Text 7"/>
          <p:cNvSpPr/>
          <p:nvPr/>
        </p:nvSpPr>
        <p:spPr>
          <a:xfrm>
            <a:off x="365760" y="3794760"/>
            <a:ext cx="2377440" cy="1188720"/>
          </a:xfrm>
          <a:prstGeom prst="rect">
            <a:avLst/>
          </a:prstGeom>
          <a:noFill/>
          <a:ln/>
        </p:spPr>
        <p:txBody>
          <a:bodyPr wrap="square" rtlCol="0" anchor="ctr"/>
          <a:lstStyle/>
          <a:p>
            <a:pPr marL="0" indent="0" algn="ctr">
              <a:lnSpc>
                <a:spcPts val="1300"/>
              </a:lnSpc>
              <a:buNone/>
            </a:pPr>
            <a:r>
              <a:rPr lang="en-US" sz="1050" dirty="0">
                <a:solidFill>
                  <a:srgbClr val="CADCFC"/>
                </a:solidFill>
                <a:latin typeface="Calibri" pitchFamily="34" charset="0"/>
                <a:ea typeface="Calibri" pitchFamily="34" charset="-122"/>
                <a:cs typeface="Calibri" pitchFamily="34" charset="-120"/>
              </a:rPr>
              <a:t>Recién creado, aún no admitido en el grupo de procesos ejecutables</a:t>
            </a:r>
            <a:endParaRPr lang="en-US" sz="1050" dirty="0"/>
          </a:p>
        </p:txBody>
      </p:sp>
      <p:sp>
        <p:nvSpPr>
          <p:cNvPr id="10" name="Shape 8"/>
          <p:cNvSpPr/>
          <p:nvPr/>
        </p:nvSpPr>
        <p:spPr>
          <a:xfrm>
            <a:off x="2624328" y="3063240"/>
            <a:ext cx="146304" cy="0"/>
          </a:xfrm>
          <a:prstGeom prst="line">
            <a:avLst/>
          </a:prstGeom>
          <a:noFill/>
          <a:ln w="19050">
            <a:solidFill>
              <a:srgbClr val="FFFFFF"/>
            </a:solidFill>
            <a:prstDash val="solid"/>
            <a:tailEnd type="triangle"/>
          </a:ln>
        </p:spPr>
        <p:txBody>
          <a:bodyPr/>
          <a:lstStyle/>
          <a:p>
            <a:endParaRPr lang="es-PY"/>
          </a:p>
        </p:txBody>
      </p:sp>
      <p:sp>
        <p:nvSpPr>
          <p:cNvPr id="11" name="Shape 9"/>
          <p:cNvSpPr/>
          <p:nvPr/>
        </p:nvSpPr>
        <p:spPr>
          <a:xfrm>
            <a:off x="2788920" y="2468880"/>
            <a:ext cx="2103120" cy="1188720"/>
          </a:xfrm>
          <a:prstGeom prst="rect">
            <a:avLst/>
          </a:prstGeom>
          <a:solidFill>
            <a:srgbClr val="232E6E"/>
          </a:solidFill>
          <a:ln/>
        </p:spPr>
        <p:txBody>
          <a:bodyPr/>
          <a:lstStyle/>
          <a:p>
            <a:endParaRPr lang="es-PY"/>
          </a:p>
        </p:txBody>
      </p:sp>
      <p:sp>
        <p:nvSpPr>
          <p:cNvPr id="12" name="Text 10"/>
          <p:cNvSpPr/>
          <p:nvPr/>
        </p:nvSpPr>
        <p:spPr>
          <a:xfrm>
            <a:off x="2788920" y="2468880"/>
            <a:ext cx="2103120" cy="11887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Listo</a:t>
            </a:r>
            <a:endParaRPr lang="en-US" sz="1350" dirty="0"/>
          </a:p>
        </p:txBody>
      </p:sp>
      <p:sp>
        <p:nvSpPr>
          <p:cNvPr id="13" name="Text 11"/>
          <p:cNvSpPr/>
          <p:nvPr/>
        </p:nvSpPr>
        <p:spPr>
          <a:xfrm>
            <a:off x="2651760" y="3794760"/>
            <a:ext cx="2377440" cy="1188720"/>
          </a:xfrm>
          <a:prstGeom prst="rect">
            <a:avLst/>
          </a:prstGeom>
          <a:noFill/>
          <a:ln/>
        </p:spPr>
        <p:txBody>
          <a:bodyPr wrap="square" rtlCol="0" anchor="ctr"/>
          <a:lstStyle/>
          <a:p>
            <a:pPr marL="0" indent="0" algn="ctr">
              <a:lnSpc>
                <a:spcPts val="1300"/>
              </a:lnSpc>
              <a:buNone/>
            </a:pPr>
            <a:r>
              <a:rPr lang="en-US" sz="1050" dirty="0">
                <a:solidFill>
                  <a:srgbClr val="CADCFC"/>
                </a:solidFill>
                <a:latin typeface="Calibri" pitchFamily="34" charset="0"/>
                <a:ea typeface="Calibri" pitchFamily="34" charset="-122"/>
                <a:cs typeface="Calibri" pitchFamily="34" charset="-120"/>
              </a:rPr>
              <a:t>Está listo para ejecutarse, solo espera que le den la oportunidad</a:t>
            </a:r>
            <a:endParaRPr lang="en-US" sz="1050" dirty="0"/>
          </a:p>
        </p:txBody>
      </p:sp>
      <p:sp>
        <p:nvSpPr>
          <p:cNvPr id="14" name="Shape 12"/>
          <p:cNvSpPr/>
          <p:nvPr/>
        </p:nvSpPr>
        <p:spPr>
          <a:xfrm>
            <a:off x="4910328" y="3063240"/>
            <a:ext cx="146304" cy="0"/>
          </a:xfrm>
          <a:prstGeom prst="line">
            <a:avLst/>
          </a:prstGeom>
          <a:noFill/>
          <a:ln w="19050">
            <a:solidFill>
              <a:srgbClr val="FFFFFF"/>
            </a:solidFill>
            <a:prstDash val="solid"/>
            <a:tailEnd type="triangle"/>
          </a:ln>
        </p:spPr>
        <p:txBody>
          <a:bodyPr/>
          <a:lstStyle/>
          <a:p>
            <a:endParaRPr lang="es-PY"/>
          </a:p>
        </p:txBody>
      </p:sp>
      <p:sp>
        <p:nvSpPr>
          <p:cNvPr id="15" name="Shape 13"/>
          <p:cNvSpPr/>
          <p:nvPr/>
        </p:nvSpPr>
        <p:spPr>
          <a:xfrm>
            <a:off x="5074920" y="2468880"/>
            <a:ext cx="2103120" cy="1188720"/>
          </a:xfrm>
          <a:prstGeom prst="rect">
            <a:avLst/>
          </a:prstGeom>
          <a:solidFill>
            <a:srgbClr val="E8B84B"/>
          </a:solidFill>
          <a:ln/>
        </p:spPr>
        <p:txBody>
          <a:bodyPr/>
          <a:lstStyle/>
          <a:p>
            <a:endParaRPr lang="es-PY"/>
          </a:p>
        </p:txBody>
      </p:sp>
      <p:sp>
        <p:nvSpPr>
          <p:cNvPr id="16" name="Text 14"/>
          <p:cNvSpPr/>
          <p:nvPr/>
        </p:nvSpPr>
        <p:spPr>
          <a:xfrm>
            <a:off x="5074920" y="2468880"/>
            <a:ext cx="2103120" cy="1188720"/>
          </a:xfrm>
          <a:prstGeom prst="rect">
            <a:avLst/>
          </a:prstGeom>
          <a:noFill/>
          <a:ln/>
        </p:spPr>
        <p:txBody>
          <a:bodyPr wrap="square" rtlCol="0" anchor="ctr"/>
          <a:lstStyle/>
          <a:p>
            <a:pPr marL="0" indent="0" algn="ctr">
              <a:buNone/>
            </a:pPr>
            <a:r>
              <a:rPr lang="en-US" sz="1350" b="1" dirty="0">
                <a:solidFill>
                  <a:srgbClr val="1E2761"/>
                </a:solidFill>
                <a:latin typeface="Calibri" pitchFamily="34" charset="0"/>
                <a:ea typeface="Calibri" pitchFamily="34" charset="-122"/>
                <a:cs typeface="Calibri" pitchFamily="34" charset="-120"/>
              </a:rPr>
              <a:t>Ejecución</a:t>
            </a:r>
            <a:endParaRPr lang="en-US" sz="1350" dirty="0"/>
          </a:p>
        </p:txBody>
      </p:sp>
      <p:sp>
        <p:nvSpPr>
          <p:cNvPr id="17" name="Text 15"/>
          <p:cNvSpPr/>
          <p:nvPr/>
        </p:nvSpPr>
        <p:spPr>
          <a:xfrm>
            <a:off x="4937760" y="3794760"/>
            <a:ext cx="2377440" cy="1188720"/>
          </a:xfrm>
          <a:prstGeom prst="rect">
            <a:avLst/>
          </a:prstGeom>
          <a:noFill/>
          <a:ln/>
        </p:spPr>
        <p:txBody>
          <a:bodyPr wrap="square" rtlCol="0" anchor="ctr"/>
          <a:lstStyle/>
          <a:p>
            <a:pPr marL="0" indent="0" algn="ctr">
              <a:lnSpc>
                <a:spcPts val="1300"/>
              </a:lnSpc>
              <a:buNone/>
            </a:pPr>
            <a:r>
              <a:rPr lang="en-US" sz="1050" dirty="0">
                <a:solidFill>
                  <a:srgbClr val="CADCFC"/>
                </a:solidFill>
                <a:latin typeface="Calibri" pitchFamily="34" charset="0"/>
                <a:ea typeface="Calibri" pitchFamily="34" charset="-122"/>
                <a:cs typeface="Calibri" pitchFamily="34" charset="-120"/>
              </a:rPr>
              <a:t>Está activo, corriendo en el procesador</a:t>
            </a:r>
            <a:endParaRPr lang="en-US" sz="1050" dirty="0"/>
          </a:p>
        </p:txBody>
      </p:sp>
      <p:sp>
        <p:nvSpPr>
          <p:cNvPr id="18" name="Shape 16"/>
          <p:cNvSpPr/>
          <p:nvPr/>
        </p:nvSpPr>
        <p:spPr>
          <a:xfrm>
            <a:off x="7196328" y="3063240"/>
            <a:ext cx="146304" cy="0"/>
          </a:xfrm>
          <a:prstGeom prst="line">
            <a:avLst/>
          </a:prstGeom>
          <a:noFill/>
          <a:ln w="19050">
            <a:solidFill>
              <a:srgbClr val="FFFFFF"/>
            </a:solidFill>
            <a:prstDash val="solid"/>
            <a:tailEnd type="triangle"/>
          </a:ln>
        </p:spPr>
        <p:txBody>
          <a:bodyPr/>
          <a:lstStyle/>
          <a:p>
            <a:endParaRPr lang="es-PY"/>
          </a:p>
        </p:txBody>
      </p:sp>
      <p:sp>
        <p:nvSpPr>
          <p:cNvPr id="19" name="Shape 17"/>
          <p:cNvSpPr/>
          <p:nvPr/>
        </p:nvSpPr>
        <p:spPr>
          <a:xfrm>
            <a:off x="7360920" y="2468880"/>
            <a:ext cx="2103120" cy="1188720"/>
          </a:xfrm>
          <a:prstGeom prst="rect">
            <a:avLst/>
          </a:prstGeom>
          <a:solidFill>
            <a:srgbClr val="232E6E"/>
          </a:solidFill>
          <a:ln/>
        </p:spPr>
        <p:txBody>
          <a:bodyPr/>
          <a:lstStyle/>
          <a:p>
            <a:endParaRPr lang="es-PY"/>
          </a:p>
        </p:txBody>
      </p:sp>
      <p:sp>
        <p:nvSpPr>
          <p:cNvPr id="20" name="Text 18"/>
          <p:cNvSpPr/>
          <p:nvPr/>
        </p:nvSpPr>
        <p:spPr>
          <a:xfrm>
            <a:off x="7360920" y="2468880"/>
            <a:ext cx="2103120" cy="11887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Bloqueado</a:t>
            </a:r>
            <a:endParaRPr lang="en-US" sz="1350" dirty="0"/>
          </a:p>
        </p:txBody>
      </p:sp>
      <p:sp>
        <p:nvSpPr>
          <p:cNvPr id="21" name="Text 19"/>
          <p:cNvSpPr/>
          <p:nvPr/>
        </p:nvSpPr>
        <p:spPr>
          <a:xfrm>
            <a:off x="7223760" y="3794760"/>
            <a:ext cx="2377440" cy="1188720"/>
          </a:xfrm>
          <a:prstGeom prst="rect">
            <a:avLst/>
          </a:prstGeom>
          <a:noFill/>
          <a:ln/>
        </p:spPr>
        <p:txBody>
          <a:bodyPr wrap="square" rtlCol="0" anchor="ctr"/>
          <a:lstStyle/>
          <a:p>
            <a:pPr marL="0" indent="0" algn="ctr">
              <a:lnSpc>
                <a:spcPts val="1300"/>
              </a:lnSpc>
              <a:buNone/>
            </a:pPr>
            <a:r>
              <a:rPr lang="en-US" sz="1050" dirty="0">
                <a:solidFill>
                  <a:srgbClr val="CADCFC"/>
                </a:solidFill>
                <a:latin typeface="Calibri" pitchFamily="34" charset="0"/>
                <a:ea typeface="Calibri" pitchFamily="34" charset="-122"/>
                <a:cs typeface="Calibri" pitchFamily="34" charset="-120"/>
              </a:rPr>
              <a:t>No puede ejecutarse hasta que ocurra algo — espera otro proceso o recurso</a:t>
            </a:r>
            <a:endParaRPr lang="en-US" sz="1050" dirty="0"/>
          </a:p>
        </p:txBody>
      </p:sp>
      <p:sp>
        <p:nvSpPr>
          <p:cNvPr id="22" name="Shape 20"/>
          <p:cNvSpPr/>
          <p:nvPr/>
        </p:nvSpPr>
        <p:spPr>
          <a:xfrm>
            <a:off x="9482328" y="3063240"/>
            <a:ext cx="146304" cy="0"/>
          </a:xfrm>
          <a:prstGeom prst="line">
            <a:avLst/>
          </a:prstGeom>
          <a:noFill/>
          <a:ln w="19050">
            <a:solidFill>
              <a:srgbClr val="FFFFFF"/>
            </a:solidFill>
            <a:prstDash val="solid"/>
            <a:tailEnd type="triangle"/>
          </a:ln>
        </p:spPr>
        <p:txBody>
          <a:bodyPr/>
          <a:lstStyle/>
          <a:p>
            <a:endParaRPr lang="es-PY"/>
          </a:p>
        </p:txBody>
      </p:sp>
      <p:sp>
        <p:nvSpPr>
          <p:cNvPr id="23" name="Shape 21"/>
          <p:cNvSpPr/>
          <p:nvPr/>
        </p:nvSpPr>
        <p:spPr>
          <a:xfrm>
            <a:off x="9646920" y="2468880"/>
            <a:ext cx="2103120" cy="1188720"/>
          </a:xfrm>
          <a:prstGeom prst="rect">
            <a:avLst/>
          </a:prstGeom>
          <a:solidFill>
            <a:srgbClr val="232E6E"/>
          </a:solidFill>
          <a:ln/>
        </p:spPr>
        <p:txBody>
          <a:bodyPr/>
          <a:lstStyle/>
          <a:p>
            <a:endParaRPr lang="es-PY"/>
          </a:p>
        </p:txBody>
      </p:sp>
      <p:sp>
        <p:nvSpPr>
          <p:cNvPr id="24" name="Text 22"/>
          <p:cNvSpPr/>
          <p:nvPr/>
        </p:nvSpPr>
        <p:spPr>
          <a:xfrm>
            <a:off x="9646920" y="2468880"/>
            <a:ext cx="2103120" cy="118872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Terminado</a:t>
            </a:r>
            <a:endParaRPr lang="en-US" sz="1350" dirty="0"/>
          </a:p>
        </p:txBody>
      </p:sp>
      <p:sp>
        <p:nvSpPr>
          <p:cNvPr id="25" name="Text 23"/>
          <p:cNvSpPr/>
          <p:nvPr/>
        </p:nvSpPr>
        <p:spPr>
          <a:xfrm>
            <a:off x="9509760" y="3794760"/>
            <a:ext cx="2377440" cy="1188720"/>
          </a:xfrm>
          <a:prstGeom prst="rect">
            <a:avLst/>
          </a:prstGeom>
          <a:noFill/>
          <a:ln/>
        </p:spPr>
        <p:txBody>
          <a:bodyPr wrap="square" rtlCol="0" anchor="ctr"/>
          <a:lstStyle/>
          <a:p>
            <a:pPr marL="0" indent="0" algn="ctr">
              <a:lnSpc>
                <a:spcPts val="1300"/>
              </a:lnSpc>
              <a:buNone/>
            </a:pPr>
            <a:r>
              <a:rPr lang="en-US" sz="1050" dirty="0">
                <a:solidFill>
                  <a:srgbClr val="CADCFC"/>
                </a:solidFill>
                <a:latin typeface="Calibri" pitchFamily="34" charset="0"/>
                <a:ea typeface="Calibri" pitchFamily="34" charset="-122"/>
                <a:cs typeface="Calibri" pitchFamily="34" charset="-120"/>
              </a:rPr>
              <a:t>Fue descartado del grupo de procesos ejecutables</a:t>
            </a:r>
            <a:endParaRPr lang="en-US" sz="1050" dirty="0"/>
          </a:p>
        </p:txBody>
      </p:sp>
      <p:sp>
        <p:nvSpPr>
          <p:cNvPr id="26" name="Text 2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CUANDO NO HAY MEMORIA VIRTUAL</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Estados suspendidos</a:t>
            </a:r>
            <a:endParaRPr lang="en-US" sz="2800" dirty="0"/>
          </a:p>
        </p:txBody>
      </p:sp>
      <p:sp>
        <p:nvSpPr>
          <p:cNvPr id="6" name="Text 4"/>
          <p:cNvSpPr/>
          <p:nvPr/>
        </p:nvSpPr>
        <p:spPr>
          <a:xfrm>
            <a:off x="640080" y="1691640"/>
            <a:ext cx="10607040" cy="640080"/>
          </a:xfrm>
          <a:prstGeom prst="rect">
            <a:avLst/>
          </a:prstGeom>
          <a:noFill/>
          <a:ln/>
        </p:spPr>
        <p:txBody>
          <a:bodyPr wrap="square" rtlCol="0" anchor="ctr"/>
          <a:lstStyle/>
          <a:p>
            <a:pPr marL="0" indent="0">
              <a:lnSpc>
                <a:spcPts val="1900"/>
              </a:lnSpc>
              <a:buNone/>
            </a:pPr>
            <a:r>
              <a:rPr lang="en-US" sz="1450" dirty="0">
                <a:solidFill>
                  <a:srgbClr val="5B6584"/>
                </a:solidFill>
                <a:latin typeface="Calibri" pitchFamily="34" charset="0"/>
                <a:ea typeface="Calibri" pitchFamily="34" charset="-122"/>
                <a:cs typeface="Calibri" pitchFamily="34" charset="-120"/>
              </a:rPr>
              <a:t>Si el sistema no usa memoria virtual, cada proceso debe cargarse completo en memoria principal para ejecutarse. Esto agrega dos combinaciones:</a:t>
            </a:r>
            <a:endParaRPr lang="en-US" sz="1450" dirty="0"/>
          </a:p>
        </p:txBody>
      </p:sp>
      <p:sp>
        <p:nvSpPr>
          <p:cNvPr id="7" name="Shape 5"/>
          <p:cNvSpPr/>
          <p:nvPr/>
        </p:nvSpPr>
        <p:spPr>
          <a:xfrm>
            <a:off x="640080" y="2651760"/>
            <a:ext cx="10881360" cy="1371600"/>
          </a:xfrm>
          <a:prstGeom prst="rect">
            <a:avLst/>
          </a:prstGeom>
          <a:solidFill>
            <a:srgbClr val="F2F4FB"/>
          </a:solidFill>
          <a:ln/>
        </p:spPr>
        <p:txBody>
          <a:bodyPr/>
          <a:lstStyle/>
          <a:p>
            <a:endParaRPr lang="es-PY"/>
          </a:p>
        </p:txBody>
      </p:sp>
      <p:sp>
        <p:nvSpPr>
          <p:cNvPr id="8" name="Text 6"/>
          <p:cNvSpPr/>
          <p:nvPr/>
        </p:nvSpPr>
        <p:spPr>
          <a:xfrm>
            <a:off x="960120" y="2834640"/>
            <a:ext cx="10241280" cy="41148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Bloqueado y Suspendido</a:t>
            </a:r>
            <a:endParaRPr lang="en-US" sz="1600" dirty="0"/>
          </a:p>
        </p:txBody>
      </p:sp>
      <p:sp>
        <p:nvSpPr>
          <p:cNvPr id="9" name="Text 7"/>
          <p:cNvSpPr/>
          <p:nvPr/>
        </p:nvSpPr>
        <p:spPr>
          <a:xfrm>
            <a:off x="960120" y="3291840"/>
            <a:ext cx="10241280" cy="594360"/>
          </a:xfrm>
          <a:prstGeom prst="rect">
            <a:avLst/>
          </a:prstGeom>
          <a:noFill/>
          <a:ln/>
        </p:spPr>
        <p:txBody>
          <a:bodyPr wrap="square" rtlCol="0" anchor="ctr"/>
          <a:lstStyle/>
          <a:p>
            <a:pPr marL="0" indent="0">
              <a:lnSpc>
                <a:spcPts val="1700"/>
              </a:lnSpc>
              <a:buNone/>
            </a:pPr>
            <a:r>
              <a:rPr lang="en-US" sz="1350" dirty="0">
                <a:solidFill>
                  <a:srgbClr val="1B1F3B"/>
                </a:solidFill>
                <a:latin typeface="Calibri" pitchFamily="34" charset="0"/>
                <a:ea typeface="Calibri" pitchFamily="34" charset="-122"/>
                <a:cs typeface="Calibri" pitchFamily="34" charset="-120"/>
              </a:rPr>
              <a:t>El proceso está en memoria SECUNDARIA, esperando una acción</a:t>
            </a:r>
            <a:endParaRPr lang="en-US" sz="1350" dirty="0"/>
          </a:p>
        </p:txBody>
      </p:sp>
      <p:sp>
        <p:nvSpPr>
          <p:cNvPr id="10" name="Shape 8"/>
          <p:cNvSpPr/>
          <p:nvPr/>
        </p:nvSpPr>
        <p:spPr>
          <a:xfrm>
            <a:off x="640080" y="4206240"/>
            <a:ext cx="10881360" cy="1371600"/>
          </a:xfrm>
          <a:prstGeom prst="rect">
            <a:avLst/>
          </a:prstGeom>
          <a:solidFill>
            <a:srgbClr val="F2F4FB"/>
          </a:solidFill>
          <a:ln/>
        </p:spPr>
        <p:txBody>
          <a:bodyPr/>
          <a:lstStyle/>
          <a:p>
            <a:endParaRPr lang="es-PY"/>
          </a:p>
        </p:txBody>
      </p:sp>
      <p:sp>
        <p:nvSpPr>
          <p:cNvPr id="11" name="Text 9"/>
          <p:cNvSpPr/>
          <p:nvPr/>
        </p:nvSpPr>
        <p:spPr>
          <a:xfrm>
            <a:off x="960120" y="4389120"/>
            <a:ext cx="10241280" cy="41148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Listo y Suspendido</a:t>
            </a:r>
            <a:endParaRPr lang="en-US" sz="1600" dirty="0"/>
          </a:p>
        </p:txBody>
      </p:sp>
      <p:sp>
        <p:nvSpPr>
          <p:cNvPr id="12" name="Text 10"/>
          <p:cNvSpPr/>
          <p:nvPr/>
        </p:nvSpPr>
        <p:spPr>
          <a:xfrm>
            <a:off x="960120" y="4846320"/>
            <a:ext cx="10241280" cy="594360"/>
          </a:xfrm>
          <a:prstGeom prst="rect">
            <a:avLst/>
          </a:prstGeom>
          <a:noFill/>
          <a:ln/>
        </p:spPr>
        <p:txBody>
          <a:bodyPr wrap="square" rtlCol="0" anchor="ctr"/>
          <a:lstStyle/>
          <a:p>
            <a:pPr marL="0" indent="0">
              <a:lnSpc>
                <a:spcPts val="1700"/>
              </a:lnSpc>
              <a:buNone/>
            </a:pPr>
            <a:r>
              <a:rPr lang="en-US" sz="1350" dirty="0">
                <a:solidFill>
                  <a:srgbClr val="1B1F3B"/>
                </a:solidFill>
                <a:latin typeface="Calibri" pitchFamily="34" charset="0"/>
                <a:ea typeface="Calibri" pitchFamily="34" charset="-122"/>
                <a:cs typeface="Calibri" pitchFamily="34" charset="-120"/>
              </a:rPr>
              <a:t>El proceso está en memoria SECUNDARIA, pero listo para ejecutarse en cuanto se cargue a memoria principal</a:t>
            </a:r>
            <a:endParaRPr lang="en-US" sz="1350" dirty="0"/>
          </a:p>
        </p:txBody>
      </p:sp>
      <p:sp>
        <p:nvSpPr>
          <p:cNvPr id="13" name="Text 11"/>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1463040" cy="365760"/>
          </a:xfrm>
          <a:prstGeom prst="rect">
            <a:avLst/>
          </a:prstGeom>
          <a:solidFill>
            <a:srgbClr val="1F6F5C"/>
          </a:solidFill>
          <a:ln/>
        </p:spPr>
        <p:txBody>
          <a:bodyPr/>
          <a:lstStyle/>
          <a:p>
            <a:endParaRPr lang="es-PY"/>
          </a:p>
        </p:txBody>
      </p:sp>
      <p:sp>
        <p:nvSpPr>
          <p:cNvPr id="3" name="Text 1"/>
          <p:cNvSpPr/>
          <p:nvPr/>
        </p:nvSpPr>
        <p:spPr>
          <a:xfrm>
            <a:off x="640080" y="457200"/>
            <a:ext cx="14630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DEMO</a:t>
            </a:r>
            <a:endParaRPr lang="en-US" sz="1200" dirty="0"/>
          </a:p>
        </p:txBody>
      </p:sp>
      <p:sp>
        <p:nvSpPr>
          <p:cNvPr id="4" name="Text 2"/>
          <p:cNvSpPr/>
          <p:nvPr/>
        </p:nvSpPr>
        <p:spPr>
          <a:xfrm>
            <a:off x="640080" y="868680"/>
            <a:ext cx="91440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Cambio de contexto y uso de CPU</a:t>
            </a:r>
            <a:endParaRPr lang="en-US" sz="2800" dirty="0"/>
          </a:p>
        </p:txBody>
      </p:sp>
      <p:sp>
        <p:nvSpPr>
          <p:cNvPr id="7" name="Shape 5"/>
          <p:cNvSpPr/>
          <p:nvPr/>
        </p:nvSpPr>
        <p:spPr>
          <a:xfrm>
            <a:off x="640080" y="1920240"/>
            <a:ext cx="457200" cy="457200"/>
          </a:xfrm>
          <a:prstGeom prst="ellipse">
            <a:avLst/>
          </a:prstGeom>
          <a:solidFill>
            <a:srgbClr val="1F6F5C"/>
          </a:solidFill>
          <a:ln/>
        </p:spPr>
        <p:txBody>
          <a:bodyPr/>
          <a:lstStyle/>
          <a:p>
            <a:endParaRPr lang="es-PY"/>
          </a:p>
        </p:txBody>
      </p:sp>
      <p:sp>
        <p:nvSpPr>
          <p:cNvPr id="8" name="Text 6"/>
          <p:cNvSpPr/>
          <p:nvPr/>
        </p:nvSpPr>
        <p:spPr>
          <a:xfrm>
            <a:off x="640080" y="192024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280160" y="1828800"/>
            <a:ext cx="4572000" cy="5943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Ir a la pestaña "Rendimiento" &gt; CPU</a:t>
            </a:r>
            <a:endParaRPr lang="en-US" sz="1400" dirty="0"/>
          </a:p>
        </p:txBody>
      </p:sp>
      <p:sp>
        <p:nvSpPr>
          <p:cNvPr id="10" name="Text 8"/>
          <p:cNvSpPr/>
          <p:nvPr/>
        </p:nvSpPr>
        <p:spPr>
          <a:xfrm>
            <a:off x="5989320" y="1828800"/>
            <a:ext cx="5486400" cy="64008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Mostrar el gráfico de uso de CPU en tiempo real</a:t>
            </a:r>
            <a:endParaRPr lang="en-US" sz="1200" dirty="0"/>
          </a:p>
        </p:txBody>
      </p:sp>
      <p:sp>
        <p:nvSpPr>
          <p:cNvPr id="11" name="Shape 9"/>
          <p:cNvSpPr/>
          <p:nvPr/>
        </p:nvSpPr>
        <p:spPr>
          <a:xfrm>
            <a:off x="640080" y="2743200"/>
            <a:ext cx="457200" cy="457200"/>
          </a:xfrm>
          <a:prstGeom prst="ellipse">
            <a:avLst/>
          </a:prstGeom>
          <a:solidFill>
            <a:srgbClr val="1F6F5C"/>
          </a:solidFill>
          <a:ln/>
        </p:spPr>
        <p:txBody>
          <a:bodyPr/>
          <a:lstStyle/>
          <a:p>
            <a:endParaRPr lang="es-PY"/>
          </a:p>
        </p:txBody>
      </p:sp>
      <p:sp>
        <p:nvSpPr>
          <p:cNvPr id="12" name="Text 10"/>
          <p:cNvSpPr/>
          <p:nvPr/>
        </p:nvSpPr>
        <p:spPr>
          <a:xfrm>
            <a:off x="640080" y="274320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280160" y="2651760"/>
            <a:ext cx="4572000" cy="5943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Abrir varias apps al mismo tiempo</a:t>
            </a:r>
            <a:endParaRPr lang="en-US" sz="1400" dirty="0"/>
          </a:p>
        </p:txBody>
      </p:sp>
      <p:sp>
        <p:nvSpPr>
          <p:cNvPr id="14" name="Text 12"/>
          <p:cNvSpPr/>
          <p:nvPr/>
        </p:nvSpPr>
        <p:spPr>
          <a:xfrm>
            <a:off x="5989320" y="2651760"/>
            <a:ext cx="5486400" cy="64008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Observar cómo el gráfico "salta" — el procesador reparte su tiempo entre todas</a:t>
            </a:r>
            <a:endParaRPr lang="en-US" sz="1200" dirty="0"/>
          </a:p>
        </p:txBody>
      </p:sp>
      <p:sp>
        <p:nvSpPr>
          <p:cNvPr id="15" name="Shape 13"/>
          <p:cNvSpPr/>
          <p:nvPr/>
        </p:nvSpPr>
        <p:spPr>
          <a:xfrm>
            <a:off x="640080" y="3566160"/>
            <a:ext cx="457200" cy="457200"/>
          </a:xfrm>
          <a:prstGeom prst="ellipse">
            <a:avLst/>
          </a:prstGeom>
          <a:solidFill>
            <a:srgbClr val="1F6F5C"/>
          </a:solidFill>
          <a:ln/>
        </p:spPr>
        <p:txBody>
          <a:bodyPr/>
          <a:lstStyle/>
          <a:p>
            <a:endParaRPr lang="es-PY"/>
          </a:p>
        </p:txBody>
      </p:sp>
      <p:sp>
        <p:nvSpPr>
          <p:cNvPr id="16" name="Text 14"/>
          <p:cNvSpPr/>
          <p:nvPr/>
        </p:nvSpPr>
        <p:spPr>
          <a:xfrm>
            <a:off x="640080" y="356616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80160" y="3474720"/>
            <a:ext cx="4572000" cy="5943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Volver a "Procesos" y ordenar por CPU</a:t>
            </a:r>
            <a:endParaRPr lang="en-US" sz="1400" dirty="0"/>
          </a:p>
        </p:txBody>
      </p:sp>
      <p:sp>
        <p:nvSpPr>
          <p:cNvPr id="18" name="Text 16"/>
          <p:cNvSpPr/>
          <p:nvPr/>
        </p:nvSpPr>
        <p:spPr>
          <a:xfrm>
            <a:off x="5989320" y="3474720"/>
            <a:ext cx="5486400" cy="64008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Ver qué proceso está usando más procesador en este instante</a:t>
            </a:r>
            <a:endParaRPr lang="en-US" sz="1200" dirty="0"/>
          </a:p>
        </p:txBody>
      </p:sp>
      <p:sp>
        <p:nvSpPr>
          <p:cNvPr id="19" name="Shape 17"/>
          <p:cNvSpPr/>
          <p:nvPr/>
        </p:nvSpPr>
        <p:spPr>
          <a:xfrm>
            <a:off x="640080" y="4389120"/>
            <a:ext cx="457200" cy="457200"/>
          </a:xfrm>
          <a:prstGeom prst="ellipse">
            <a:avLst/>
          </a:prstGeom>
          <a:solidFill>
            <a:srgbClr val="1F6F5C"/>
          </a:solidFill>
          <a:ln/>
        </p:spPr>
        <p:txBody>
          <a:bodyPr/>
          <a:lstStyle/>
          <a:p>
            <a:endParaRPr lang="es-PY"/>
          </a:p>
        </p:txBody>
      </p:sp>
      <p:sp>
        <p:nvSpPr>
          <p:cNvPr id="20" name="Text 18"/>
          <p:cNvSpPr/>
          <p:nvPr/>
        </p:nvSpPr>
        <p:spPr>
          <a:xfrm>
            <a:off x="640080" y="438912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280160" y="4297680"/>
            <a:ext cx="4572000" cy="5943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Señalar que el orden cambia solo</a:t>
            </a:r>
            <a:endParaRPr lang="en-US" sz="1400" dirty="0"/>
          </a:p>
        </p:txBody>
      </p:sp>
      <p:sp>
        <p:nvSpPr>
          <p:cNvPr id="22" name="Text 20"/>
          <p:cNvSpPr/>
          <p:nvPr/>
        </p:nvSpPr>
        <p:spPr>
          <a:xfrm>
            <a:off x="5989320" y="4297680"/>
            <a:ext cx="5486400" cy="640080"/>
          </a:xfrm>
          <a:prstGeom prst="rect">
            <a:avLst/>
          </a:prstGeom>
          <a:noFill/>
          <a:ln/>
        </p:spPr>
        <p:txBody>
          <a:bodyPr wrap="square" rtlCol="0" anchor="ctr"/>
          <a:lstStyle/>
          <a:p>
            <a:pPr marL="0" indent="0">
              <a:lnSpc>
                <a:spcPts val="1500"/>
              </a:lnSpc>
              <a:buNone/>
            </a:pPr>
            <a:r>
              <a:rPr lang="en-US" sz="1200" dirty="0">
                <a:solidFill>
                  <a:srgbClr val="5B6584"/>
                </a:solidFill>
                <a:latin typeface="Calibri" pitchFamily="34" charset="0"/>
                <a:ea typeface="Calibri" pitchFamily="34" charset="-122"/>
                <a:cs typeface="Calibri" pitchFamily="34" charset="-120"/>
              </a:rPr>
              <a:t>Cada pocos segundos, otro proceso pasa a usar más CPU — esa alternancia ES el cambio de proceso</a:t>
            </a:r>
            <a:endParaRPr lang="en-US" sz="1200" dirty="0"/>
          </a:p>
        </p:txBody>
      </p:sp>
      <p:sp>
        <p:nvSpPr>
          <p:cNvPr id="23" name="Text 21"/>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QUIÉN MANDA</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Modo usuario vs. modo núcleo</a:t>
            </a:r>
            <a:endParaRPr lang="en-US" sz="2800" dirty="0"/>
          </a:p>
        </p:txBody>
      </p:sp>
      <p:sp>
        <p:nvSpPr>
          <p:cNvPr id="6" name="Shape 4"/>
          <p:cNvSpPr/>
          <p:nvPr/>
        </p:nvSpPr>
        <p:spPr>
          <a:xfrm>
            <a:off x="640080" y="2103120"/>
            <a:ext cx="5349240" cy="2377440"/>
          </a:xfrm>
          <a:prstGeom prst="rect">
            <a:avLst/>
          </a:prstGeom>
          <a:solidFill>
            <a:srgbClr val="232E6E"/>
          </a:solidFill>
          <a:ln/>
        </p:spPr>
        <p:txBody>
          <a:bodyPr/>
          <a:lstStyle/>
          <a:p>
            <a:endParaRPr lang="es-PY"/>
          </a:p>
        </p:txBody>
      </p:sp>
      <p:sp>
        <p:nvSpPr>
          <p:cNvPr id="7" name="Text 5"/>
          <p:cNvSpPr/>
          <p:nvPr/>
        </p:nvSpPr>
        <p:spPr>
          <a:xfrm>
            <a:off x="914400" y="2377440"/>
            <a:ext cx="4800600" cy="640080"/>
          </a:xfrm>
          <a:prstGeom prst="rect">
            <a:avLst/>
          </a:prstGeom>
          <a:noFill/>
          <a:ln/>
        </p:spPr>
        <p:txBody>
          <a:bodyPr wrap="square" rtlCol="0" anchor="ctr"/>
          <a:lstStyle/>
          <a:p>
            <a:pPr marL="0" indent="0">
              <a:lnSpc>
                <a:spcPts val="2000"/>
              </a:lnSpc>
              <a:buNone/>
            </a:pPr>
            <a:r>
              <a:rPr lang="en-US" sz="1700" b="1" dirty="0">
                <a:solidFill>
                  <a:srgbClr val="E8B84B"/>
                </a:solidFill>
                <a:latin typeface="Calibri" pitchFamily="34" charset="0"/>
                <a:ea typeface="Calibri" pitchFamily="34" charset="-122"/>
                <a:cs typeface="Calibri" pitchFamily="34" charset="-120"/>
              </a:rPr>
              <a:t>Modo usuario</a:t>
            </a:r>
            <a:endParaRPr lang="en-US" sz="1700" dirty="0"/>
          </a:p>
        </p:txBody>
      </p:sp>
      <p:sp>
        <p:nvSpPr>
          <p:cNvPr id="8" name="Text 6"/>
          <p:cNvSpPr/>
          <p:nvPr/>
        </p:nvSpPr>
        <p:spPr>
          <a:xfrm>
            <a:off x="914400" y="3108960"/>
            <a:ext cx="4800600" cy="1188720"/>
          </a:xfrm>
          <a:prstGeom prst="rect">
            <a:avLst/>
          </a:prstGeom>
          <a:noFill/>
          <a:ln/>
        </p:spPr>
        <p:txBody>
          <a:bodyPr wrap="square"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Menos privilegiado. Es donde corren los programas de aplicación comunes</a:t>
            </a:r>
            <a:endParaRPr lang="en-US" sz="1350" dirty="0"/>
          </a:p>
        </p:txBody>
      </p:sp>
      <p:sp>
        <p:nvSpPr>
          <p:cNvPr id="9" name="Shape 7"/>
          <p:cNvSpPr/>
          <p:nvPr/>
        </p:nvSpPr>
        <p:spPr>
          <a:xfrm>
            <a:off x="6217920" y="2103120"/>
            <a:ext cx="5349240" cy="2377440"/>
          </a:xfrm>
          <a:prstGeom prst="rect">
            <a:avLst/>
          </a:prstGeom>
          <a:solidFill>
            <a:srgbClr val="232E6E"/>
          </a:solidFill>
          <a:ln/>
        </p:spPr>
        <p:txBody>
          <a:bodyPr/>
          <a:lstStyle/>
          <a:p>
            <a:endParaRPr lang="es-PY"/>
          </a:p>
        </p:txBody>
      </p:sp>
      <p:sp>
        <p:nvSpPr>
          <p:cNvPr id="10" name="Text 8"/>
          <p:cNvSpPr/>
          <p:nvPr/>
        </p:nvSpPr>
        <p:spPr>
          <a:xfrm>
            <a:off x="6492240" y="2377440"/>
            <a:ext cx="4800600" cy="640080"/>
          </a:xfrm>
          <a:prstGeom prst="rect">
            <a:avLst/>
          </a:prstGeom>
          <a:noFill/>
          <a:ln/>
        </p:spPr>
        <p:txBody>
          <a:bodyPr wrap="square" rtlCol="0" anchor="ctr"/>
          <a:lstStyle/>
          <a:p>
            <a:pPr marL="0" indent="0">
              <a:lnSpc>
                <a:spcPts val="2000"/>
              </a:lnSpc>
              <a:buNone/>
            </a:pPr>
            <a:r>
              <a:rPr lang="en-US" sz="1700" b="1" dirty="0">
                <a:solidFill>
                  <a:srgbClr val="E8B84B"/>
                </a:solidFill>
                <a:latin typeface="Calibri" pitchFamily="34" charset="0"/>
                <a:ea typeface="Calibri" pitchFamily="34" charset="-122"/>
                <a:cs typeface="Calibri" pitchFamily="34" charset="-120"/>
              </a:rPr>
              <a:t>Modo núcleo (sistema/control)</a:t>
            </a:r>
            <a:endParaRPr lang="en-US" sz="1700" dirty="0"/>
          </a:p>
        </p:txBody>
      </p:sp>
      <p:sp>
        <p:nvSpPr>
          <p:cNvPr id="11" name="Text 9"/>
          <p:cNvSpPr/>
          <p:nvPr/>
        </p:nvSpPr>
        <p:spPr>
          <a:xfrm>
            <a:off x="6492240" y="3108960"/>
            <a:ext cx="4800600" cy="1188720"/>
          </a:xfrm>
          <a:prstGeom prst="rect">
            <a:avLst/>
          </a:prstGeom>
          <a:noFill/>
          <a:ln/>
        </p:spPr>
        <p:txBody>
          <a:bodyPr wrap="square"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Más privilegiado. Ejecuta las funciones más importantes del sistema operativo</a:t>
            </a:r>
            <a:endParaRPr lang="en-US" sz="1350" dirty="0"/>
          </a:p>
        </p:txBody>
      </p:sp>
      <p:sp>
        <p:nvSpPr>
          <p:cNvPr id="12" name="Text 10"/>
          <p:cNvSpPr/>
          <p:nvPr/>
        </p:nvSpPr>
        <p:spPr>
          <a:xfrm>
            <a:off x="640080" y="4754880"/>
            <a:ext cx="10881360" cy="548640"/>
          </a:xfrm>
          <a:prstGeom prst="rect">
            <a:avLst/>
          </a:prstGeom>
          <a:noFill/>
          <a:ln/>
        </p:spPr>
        <p:txBody>
          <a:bodyPr wrap="square" rtlCol="0" anchor="ctr"/>
          <a:lstStyle/>
          <a:p>
            <a:pPr marL="0" indent="0">
              <a:lnSpc>
                <a:spcPts val="1700"/>
              </a:lnSpc>
              <a:buNone/>
            </a:pPr>
            <a:r>
              <a:rPr lang="en-US" sz="1300" i="1" dirty="0">
                <a:solidFill>
                  <a:srgbClr val="CADCFC"/>
                </a:solidFill>
                <a:latin typeface="Calibri" pitchFamily="34" charset="0"/>
                <a:ea typeface="Calibri" pitchFamily="34" charset="-122"/>
                <a:cs typeface="Calibri" pitchFamily="34" charset="-120"/>
              </a:rPr>
              <a:t>El cambio entre modos se hace con una instrucción especial: CHM (Change Mode) — se ejecuta cuando el usuario llama a un servicio del sistema operativo.</a:t>
            </a:r>
            <a:endParaRPr lang="en-US" sz="1300" dirty="0"/>
          </a:p>
        </p:txBody>
      </p:sp>
      <p:sp>
        <p:nvSpPr>
          <p:cNvPr id="13" name="Text 11"/>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POR DENTRO DEL SISTEMA OPERATIVO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Bloque de control y cambio de proceso</a:t>
            </a:r>
            <a:endParaRPr lang="en-US" sz="2800" dirty="0"/>
          </a:p>
        </p:txBody>
      </p:sp>
      <p:sp>
        <p:nvSpPr>
          <p:cNvPr id="6" name="Text 4"/>
          <p:cNvSpPr/>
          <p:nvPr/>
        </p:nvSpPr>
        <p:spPr>
          <a:xfrm>
            <a:off x="640080" y="1691640"/>
            <a:ext cx="8229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Al crear un proceso, el sistema operativo debe:</a:t>
            </a:r>
            <a:endParaRPr lang="en-US" sz="1450" dirty="0"/>
          </a:p>
        </p:txBody>
      </p:sp>
      <p:sp>
        <p:nvSpPr>
          <p:cNvPr id="7" name="Text 5"/>
          <p:cNvSpPr/>
          <p:nvPr/>
        </p:nvSpPr>
        <p:spPr>
          <a:xfrm>
            <a:off x="640080" y="2103120"/>
            <a:ext cx="10607040" cy="1737360"/>
          </a:xfrm>
          <a:prstGeom prst="rect">
            <a:avLst/>
          </a:prstGeom>
          <a:noFill/>
          <a:ln/>
        </p:spPr>
        <p:txBody>
          <a:bodyPr wrap="square" rtlCol="0" anchor="ctr"/>
          <a:lstStyle/>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Asignar un identificador único (nueva entrada en la tabla de procesos)</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Determinar el espacio que ese proceso necesita (programas y datos)</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Inicializar el bloque de control del proceso (ID propio + ID del proceso padre), normalmente en estado Listo</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Establecer los enlaces en la cola de listos (lista enlazada)</a:t>
            </a:r>
            <a:endParaRPr lang="en-US" sz="1300" dirty="0"/>
          </a:p>
        </p:txBody>
      </p:sp>
      <p:sp>
        <p:nvSpPr>
          <p:cNvPr id="8" name="Shape 6"/>
          <p:cNvSpPr/>
          <p:nvPr/>
        </p:nvSpPr>
        <p:spPr>
          <a:xfrm>
            <a:off x="640080" y="4023360"/>
            <a:ext cx="10881360" cy="1737360"/>
          </a:xfrm>
          <a:prstGeom prst="rect">
            <a:avLst/>
          </a:prstGeom>
          <a:solidFill>
            <a:srgbClr val="F2F4FB"/>
          </a:solidFill>
          <a:ln/>
        </p:spPr>
        <p:txBody>
          <a:bodyPr/>
          <a:lstStyle/>
          <a:p>
            <a:endParaRPr lang="es-PY"/>
          </a:p>
        </p:txBody>
      </p:sp>
      <p:sp>
        <p:nvSpPr>
          <p:cNvPr id="9" name="Text 7"/>
          <p:cNvSpPr/>
          <p:nvPr/>
        </p:nvSpPr>
        <p:spPr>
          <a:xfrm>
            <a:off x="960120" y="4251960"/>
            <a:ext cx="10241280" cy="1371600"/>
          </a:xfrm>
          <a:prstGeom prst="rect">
            <a:avLst/>
          </a:prstGeom>
          <a:noFill/>
          <a:ln/>
        </p:spPr>
        <p:txBody>
          <a:bodyPr wrap="square" rtlCol="0" anchor="ctr"/>
          <a:lstStyle/>
          <a:p>
            <a:pPr marL="0" indent="0">
              <a:lnSpc>
                <a:spcPts val="1800"/>
              </a:lnSpc>
              <a:buNone/>
            </a:pPr>
            <a:r>
              <a:rPr lang="en-US" sz="1350" dirty="0">
                <a:solidFill>
                  <a:srgbClr val="1B1F3B"/>
                </a:solidFill>
                <a:latin typeface="Calibri" pitchFamily="34" charset="0"/>
                <a:ea typeface="Calibri" pitchFamily="34" charset="-122"/>
                <a:cs typeface="Calibri" pitchFamily="34" charset="-120"/>
              </a:rPr>
              <a:t>Cambio de proceso: puede ocurrir en cualquier momento en que ocurre una interrupción — el gestor de interrupciones toma el control, hace sus tareas primordiales, y luego ejecuta una rutina del sistema operativo.</a:t>
            </a:r>
            <a:endParaRPr lang="en-US" sz="1350" dirty="0"/>
          </a:p>
        </p:txBody>
      </p:sp>
      <p:sp>
        <p:nvSpPr>
          <p:cNvPr id="10" name="Text 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LO QUE DISPARA UN CAMBIO DE ESTADO</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Interrupciones que afectan a los procesos</a:t>
            </a:r>
            <a:endParaRPr lang="en-US" sz="2800" dirty="0"/>
          </a:p>
        </p:txBody>
      </p:sp>
      <p:sp>
        <p:nvSpPr>
          <p:cNvPr id="6" name="Shape 4"/>
          <p:cNvSpPr/>
          <p:nvPr/>
        </p:nvSpPr>
        <p:spPr>
          <a:xfrm>
            <a:off x="640080" y="1965960"/>
            <a:ext cx="10881360" cy="1280160"/>
          </a:xfrm>
          <a:prstGeom prst="rect">
            <a:avLst/>
          </a:prstGeom>
          <a:solidFill>
            <a:srgbClr val="232E6E"/>
          </a:solidFill>
          <a:ln/>
        </p:spPr>
        <p:txBody>
          <a:bodyPr/>
          <a:lstStyle/>
          <a:p>
            <a:endParaRPr lang="es-PY"/>
          </a:p>
        </p:txBody>
      </p:sp>
      <p:sp>
        <p:nvSpPr>
          <p:cNvPr id="7" name="Text 5"/>
          <p:cNvSpPr/>
          <p:nvPr/>
        </p:nvSpPr>
        <p:spPr>
          <a:xfrm>
            <a:off x="960120" y="2130552"/>
            <a:ext cx="10241280" cy="411480"/>
          </a:xfrm>
          <a:prstGeom prst="rect">
            <a:avLst/>
          </a:prstGeom>
          <a:noFill/>
          <a:ln/>
        </p:spPr>
        <p:txBody>
          <a:bodyPr wrap="square" rtlCol="0" anchor="ctr"/>
          <a:lstStyle/>
          <a:p>
            <a:pPr marL="0" indent="0">
              <a:buNone/>
            </a:pPr>
            <a:r>
              <a:rPr lang="en-US" sz="1550" b="1" dirty="0">
                <a:solidFill>
                  <a:srgbClr val="E8B84B"/>
                </a:solidFill>
                <a:latin typeface="Calibri" pitchFamily="34" charset="0"/>
                <a:ea typeface="Calibri" pitchFamily="34" charset="-122"/>
                <a:cs typeface="Calibri" pitchFamily="34" charset="-120"/>
              </a:rPr>
              <a:t>Interrupción de reloj</a:t>
            </a:r>
            <a:endParaRPr lang="en-US" sz="1550" dirty="0"/>
          </a:p>
        </p:txBody>
      </p:sp>
      <p:sp>
        <p:nvSpPr>
          <p:cNvPr id="8" name="Text 6"/>
          <p:cNvSpPr/>
          <p:nvPr/>
        </p:nvSpPr>
        <p:spPr>
          <a:xfrm>
            <a:off x="960120" y="2560320"/>
            <a:ext cx="10241280" cy="59436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Se cumplió el tiempo máximo permitido — el proceso pasa a estado Listo para dar lugar a otros</a:t>
            </a:r>
            <a:endParaRPr lang="en-US" sz="1250" dirty="0"/>
          </a:p>
        </p:txBody>
      </p:sp>
      <p:sp>
        <p:nvSpPr>
          <p:cNvPr id="9" name="Shape 7"/>
          <p:cNvSpPr/>
          <p:nvPr/>
        </p:nvSpPr>
        <p:spPr>
          <a:xfrm>
            <a:off x="640080" y="3383280"/>
            <a:ext cx="10881360" cy="1280160"/>
          </a:xfrm>
          <a:prstGeom prst="rect">
            <a:avLst/>
          </a:prstGeom>
          <a:solidFill>
            <a:srgbClr val="232E6E"/>
          </a:solidFill>
          <a:ln/>
        </p:spPr>
        <p:txBody>
          <a:bodyPr/>
          <a:lstStyle/>
          <a:p>
            <a:endParaRPr lang="es-PY"/>
          </a:p>
        </p:txBody>
      </p:sp>
      <p:sp>
        <p:nvSpPr>
          <p:cNvPr id="10" name="Text 8"/>
          <p:cNvSpPr/>
          <p:nvPr/>
        </p:nvSpPr>
        <p:spPr>
          <a:xfrm>
            <a:off x="960120" y="3547872"/>
            <a:ext cx="10241280" cy="411480"/>
          </a:xfrm>
          <a:prstGeom prst="rect">
            <a:avLst/>
          </a:prstGeom>
          <a:noFill/>
          <a:ln/>
        </p:spPr>
        <p:txBody>
          <a:bodyPr wrap="square" rtlCol="0" anchor="ctr"/>
          <a:lstStyle/>
          <a:p>
            <a:pPr marL="0" indent="0">
              <a:buNone/>
            </a:pPr>
            <a:r>
              <a:rPr lang="en-US" sz="1550" b="1" dirty="0">
                <a:solidFill>
                  <a:srgbClr val="E8B84B"/>
                </a:solidFill>
                <a:latin typeface="Calibri" pitchFamily="34" charset="0"/>
                <a:ea typeface="Calibri" pitchFamily="34" charset="-122"/>
                <a:cs typeface="Calibri" pitchFamily="34" charset="-120"/>
              </a:rPr>
              <a:t>Interrupción de E/S</a:t>
            </a:r>
            <a:endParaRPr lang="en-US" sz="1550" dirty="0"/>
          </a:p>
        </p:txBody>
      </p:sp>
      <p:sp>
        <p:nvSpPr>
          <p:cNvPr id="11" name="Text 9"/>
          <p:cNvSpPr/>
          <p:nvPr/>
        </p:nvSpPr>
        <p:spPr>
          <a:xfrm>
            <a:off x="960120" y="3977640"/>
            <a:ext cx="10241280" cy="59436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El SO identifica que ocurrió una acción de E/S y cambia el estado de los procesos bloqueados a Listo (o Listo y Suspendido)</a:t>
            </a:r>
            <a:endParaRPr lang="en-US" sz="1250" dirty="0"/>
          </a:p>
        </p:txBody>
      </p:sp>
      <p:sp>
        <p:nvSpPr>
          <p:cNvPr id="12" name="Shape 10"/>
          <p:cNvSpPr/>
          <p:nvPr/>
        </p:nvSpPr>
        <p:spPr>
          <a:xfrm>
            <a:off x="640080" y="4800600"/>
            <a:ext cx="10881360" cy="1280160"/>
          </a:xfrm>
          <a:prstGeom prst="rect">
            <a:avLst/>
          </a:prstGeom>
          <a:solidFill>
            <a:srgbClr val="232E6E"/>
          </a:solidFill>
          <a:ln/>
        </p:spPr>
        <p:txBody>
          <a:bodyPr/>
          <a:lstStyle/>
          <a:p>
            <a:endParaRPr lang="es-PY"/>
          </a:p>
        </p:txBody>
      </p:sp>
      <p:sp>
        <p:nvSpPr>
          <p:cNvPr id="13" name="Text 11"/>
          <p:cNvSpPr/>
          <p:nvPr/>
        </p:nvSpPr>
        <p:spPr>
          <a:xfrm>
            <a:off x="960120" y="4965192"/>
            <a:ext cx="10241280" cy="411480"/>
          </a:xfrm>
          <a:prstGeom prst="rect">
            <a:avLst/>
          </a:prstGeom>
          <a:noFill/>
          <a:ln/>
        </p:spPr>
        <p:txBody>
          <a:bodyPr wrap="square" rtlCol="0" anchor="ctr"/>
          <a:lstStyle/>
          <a:p>
            <a:pPr marL="0" indent="0">
              <a:buNone/>
            </a:pPr>
            <a:r>
              <a:rPr lang="en-US" sz="1550" b="1" dirty="0">
                <a:solidFill>
                  <a:srgbClr val="E8B84B"/>
                </a:solidFill>
                <a:latin typeface="Calibri" pitchFamily="34" charset="0"/>
                <a:ea typeface="Calibri" pitchFamily="34" charset="-122"/>
                <a:cs typeface="Calibri" pitchFamily="34" charset="-120"/>
              </a:rPr>
              <a:t>Error de memoria</a:t>
            </a:r>
            <a:endParaRPr lang="en-US" sz="1550" dirty="0"/>
          </a:p>
        </p:txBody>
      </p:sp>
      <p:sp>
        <p:nvSpPr>
          <p:cNvPr id="14" name="Text 12"/>
          <p:cNvSpPr/>
          <p:nvPr/>
        </p:nvSpPr>
        <p:spPr>
          <a:xfrm>
            <a:off x="960120" y="5394960"/>
            <a:ext cx="10241280" cy="59436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El procesador referencia algo de memoria virtual que no está en memoria principal — el SO trae esa referencia desde memoria secundaria</a:t>
            </a:r>
            <a:endParaRPr lang="en-US" sz="1250" dirty="0"/>
          </a:p>
        </p:txBody>
      </p:sp>
      <p:sp>
        <p:nvSpPr>
          <p:cNvPr id="15" name="Text 1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PARA CERRAR HOY</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Síntesis y próxima clase</a:t>
            </a:r>
            <a:endParaRPr lang="en-US" sz="2800" dirty="0"/>
          </a:p>
        </p:txBody>
      </p:sp>
      <p:sp>
        <p:nvSpPr>
          <p:cNvPr id="6" name="Shape 4"/>
          <p:cNvSpPr/>
          <p:nvPr/>
        </p:nvSpPr>
        <p:spPr>
          <a:xfrm>
            <a:off x="640080" y="1828800"/>
            <a:ext cx="10881360" cy="2468880"/>
          </a:xfrm>
          <a:prstGeom prst="rect">
            <a:avLst/>
          </a:prstGeom>
          <a:solidFill>
            <a:srgbClr val="F2F4FB"/>
          </a:solidFill>
          <a:ln/>
        </p:spPr>
        <p:txBody>
          <a:bodyPr/>
          <a:lstStyle/>
          <a:p>
            <a:endParaRPr lang="es-PY"/>
          </a:p>
        </p:txBody>
      </p:sp>
      <p:sp>
        <p:nvSpPr>
          <p:cNvPr id="7" name="Text 5"/>
          <p:cNvSpPr/>
          <p:nvPr/>
        </p:nvSpPr>
        <p:spPr>
          <a:xfrm>
            <a:off x="960120" y="2057400"/>
            <a:ext cx="102412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Hoy vimos:</a:t>
            </a:r>
            <a:endParaRPr lang="en-US" sz="1500" dirty="0"/>
          </a:p>
        </p:txBody>
      </p:sp>
      <p:sp>
        <p:nvSpPr>
          <p:cNvPr id="8" name="Text 6"/>
          <p:cNvSpPr/>
          <p:nvPr/>
        </p:nvSpPr>
        <p:spPr>
          <a:xfrm>
            <a:off x="960120" y="2468880"/>
            <a:ext cx="10241280" cy="1737360"/>
          </a:xfrm>
          <a:prstGeom prst="rect">
            <a:avLst/>
          </a:prstGeom>
          <a:noFill/>
          <a:ln/>
        </p:spPr>
        <p:txBody>
          <a:bodyPr wrap="square" rtlCol="0" anchor="ctr"/>
          <a:lstStyle/>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Concepto de proceso y requisitos primordiales del SO</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Traza, intercalación, y modelo de dos y cinco estados</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Creación, finalización y estados suspendidos de un proceso</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Control de procesos: modos de ejecución, bloque de control y cambio de proceso</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3 demos en vivo con el Administrador de Tareas</a:t>
            </a:r>
            <a:endParaRPr lang="en-US" sz="1300" dirty="0"/>
          </a:p>
        </p:txBody>
      </p:sp>
      <p:sp>
        <p:nvSpPr>
          <p:cNvPr id="9" name="Text 7"/>
          <p:cNvSpPr/>
          <p:nvPr/>
        </p:nvSpPr>
        <p:spPr>
          <a:xfrm>
            <a:off x="640080" y="4572000"/>
            <a:ext cx="10881360" cy="548640"/>
          </a:xfrm>
          <a:prstGeom prst="rect">
            <a:avLst/>
          </a:prstGeom>
          <a:noFill/>
          <a:ln/>
        </p:spPr>
        <p:txBody>
          <a:bodyPr wrap="square" rtlCol="0" anchor="ctr"/>
          <a:lstStyle/>
          <a:p>
            <a:pPr marL="0" indent="0">
              <a:buNone/>
            </a:pPr>
            <a:r>
              <a:rPr lang="en-US" sz="1400" i="1" dirty="0">
                <a:solidFill>
                  <a:srgbClr val="5B6584"/>
                </a:solidFill>
                <a:latin typeface="Calibri" pitchFamily="34" charset="0"/>
                <a:ea typeface="Calibri" pitchFamily="34" charset="-122"/>
                <a:cs typeface="Calibri" pitchFamily="34" charset="-120"/>
              </a:rPr>
              <a:t>Próxima clase (08/09): cierre de Unidad 2 — Procesos e hilos, multihilos, SMP y micronúcleos.</a:t>
            </a:r>
            <a:endParaRPr lang="en-US" sz="1400" dirty="0"/>
          </a:p>
        </p:txBody>
      </p:sp>
      <p:sp>
        <p:nvSpPr>
          <p:cNvPr id="10" name="Text 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TotalTime>
  <Words>3624</Words>
  <Application>Microsoft Office PowerPoint</Application>
  <PresentationFormat>Panorámica</PresentationFormat>
  <Paragraphs>226</Paragraphs>
  <Slides>17</Slides>
  <Notes>17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Jose Avalos Palacio</cp:lastModifiedBy>
  <cp:revision>2</cp:revision>
  <dcterms:created xsi:type="dcterms:W3CDTF">2026-09-01T11:20:30Z</dcterms:created>
  <dcterms:modified xsi:type="dcterms:W3CDTF">2026-09-01T20:00:42Z</dcterms:modified>
</cp:coreProperties>
</file>