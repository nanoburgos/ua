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5" r:id="rId10"/>
    <p:sldId id="266" r:id="rId11"/>
    <p:sldId id="267" r:id="rId12"/>
    <p:sldId id="268" r:id="rId13"/>
    <p:sldId id="269" r:id="rId14"/>
    <p:sldId id="270"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66" d="100"/>
          <a:sy n="66" d="100"/>
        </p:scale>
        <p:origin x="1301" y="6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48778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 5 min]
Saludo. Recordar en una frase qué se vio en la Clase 2 (registros, ciclo de instrucción, interrupciones, jerarquía de memoria/caché, técnicas de E/S) — todo eso es "hardware puro".
Frase de enganche: "Hoy cerramos la Unidad 1: dejamos el hardware de lado y vemos qué hace exactamente el sistema operativo con todo eso, cómo llegó a ser como es hoy, y cómo protege la información."
Recordatorio de contexto: esta es la última clase de Unidad 1 antes de empezar Unidad 2 (Procesos) el 01/09.</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 3 min]
Leer la agenda señalando los 4 bloques grandes. Remarcar que hoy hay MÁS bloque de seguridad que de evolución — es el tema con más "carne" para el parcial.
Recordar el corte de 15 min a mitad de clase.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[REPASO — 5 min]
Nombrar los 5 puntos rápido, sin volver a explicar — solo para anclar. Preguntar si quedó alguna duda pendiente de la clase pasada antes de avanzar (y de la tarea de investigación individual que hicieron).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[SERVICIOS DEL SO — 20 min]
Retomar la metáfora de interfaz vista en la Clase de Introducción: el SO es programa que controla programas, sin que el usuario final necesite conocer la estructura interna de la computadora.
Explicar los 6 servicios uno por uno. Poner foco en "Contabilidad": aclarar que en sistemas multiusuario esto es clave para mejorar la gestión de cuentas (quién usa cuántos recursos).
Conectar con lo visto en Clase 2: cada uno de estos servicios en algún momento involucra registros, interrupciones o memoria — el SO es quien coordina todo eso "desde arriba".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[GESTIÓN DE RECURSOS Y KERNEL — 15 min]
Idea clave: el SO es "un programa más" que corre en el procesador, igual que cualquier otro — la diferencia no es técnica sino de PROPÓSITO: dirige a los demás programas.
Kernel: la parte que siempre está en memoria principal porque se usa todo el tiempo. Analogía: es como los músculos que un cuerpo usa constantemente y por eso siempre están "calientes"/listos, a diferencia de otras funciones que se cargan solo cuando se necesitan.
Conectar con la jerarquía de memoria vista la clase pasada: el kernel vive en el nivel de memoria principal, no en disco, justamente por la frecuencia de uso.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[EVOLUCIÓN: RAZONES — 10 min]
Las 3 razones son simples pero conviene que quede claro que son taxativas según el material: nuevos servicios, corrección de errores, renovación de hardware.
Pedir un ejemplo actual de cada una si el grupo participa fácil (ej. "Windows update" como corrección de errores + nuevos servicios; soporte para nuevos procesadores como renovación de hardware). Si no participan, seguir sin forzarlo — hay actividad más adelante.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2 PROBLEMAS DEL PROCESO SERIAL — 20 min, incluye actividad]
Explicar ambos problemas con calma (10 min) — esto se llamaba "proceso serial" en conjunto.
Planificación por reserva de tiempo: dar el ejemplo del material tal cual (reserva de 1 hora, termina en 45 min = desperdicio; o al revés, se lo corta sin terminar).
Tiempo de preparación: enumerar los pasos (cargar compilador, montar/cargar programa objeto, montar/desmontar cintas) y remarcar lo doloroso que era: un solo error obligaba a reiniciar TODO desde cero.
ACTIVIDAD (10 min): Pregunta de comparación con hoy: "¿Alguna vez tuvieron que 'empezar de cero' por un error en un trabajo de programación? ¿Cómo se comparan esos minutos perdidos con lo que describe el material sobre el proceso serial?" — dejar 3-4 minutos de intercambio libre.
Cierre: estos dos problemas son exactamente la motivación de todo lo que van a ver en Unidad 2 (Procesos) y Unidad 5 (Planificación) más adelante en la materia.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[BIBLIOTECAS DE RUTINAS Y LOGROS — 20 min]
Bibliotecas de funciones comunes: explicar que antes cada programador reescribía sus propias rutinas de E/S o de depuración — la evolución permitió compartir montadores, depuradores y rutinas de E/S entre todos los usuarios. Esto reduce directamente el "tiempo de preparación" que se vio en la diapositiva anterior.
Repasar los 5 logros más significativos — mencionar que cada uno de ellos es, literalmente, una unidad de esta materia (procesos = Unidad 2, memoria = Unidad 4, seguridad = hoy mismo, planificación = Unidad 5). Esto ayuda a que el estudiante vea el programa completo de la materia como reflejo de la propia historia de los sistemas operativos.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[PROTECCIÓN Y SEGURIDAD: INTRO — 15 min]
Idea disparadora: en los primeros sistemas operativos, un solo usuario tenía acceso exclusivo a la máquina. Con redes y tiempo compartido (varios usuarios/procesos en simultáneo), aparece la necesidad real de proteger información de otros usuarios del MISMO sistema, no solo de atacantes externos.
Pregunta para generar contexto: "¿Por qué una notebook personal necesita menos seguridad interna que un servidor bancario compartido por miles de usuarios?" — dejar que respondan con sus palabras antes de pasar a las amenazas formales.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[AMENAZAS A LA SEGURIDAD — 25 min, incluye actividad]
Leer y explicar las 4 amenazas del material tal cual, con un ejemplo actualizado de cada una (12 min):
  1. Espionaje corporativo o de datos gubernamentales — ej. filtraciones de información de licitaciones.
  2. Acceso inadvertido — ej. un empleado que ve por error datos de otro cliente en un sistema mal configurado.
  3. Fraude por acceso ilegal a bancos de datos — ej. robo de identidad usando datos financieros filtrados.
  4. Importunación de derechos individuales — ej. vigilancia excesiva o uso indebido de datos personales por parte de una autoridad.
ACTIVIDAD (13 min): dividir el curso en 4 grupos rápidos (por fila o por cercanía). Asignar una amenaza a cada grupo y pedirles que en 5 minutos piensen UN ejemplo real o hipotético de esa amenaza aplicado a un banco o entidad financiera (dado el contexto profesional de la cátedra). Compartir en 1 minuto por grupo.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[POLÍTICAS DE PROTECCIÓN — 30 min]
Este es el bloque más largo de la clase — dar tiempo real a cada tarjeta (7 min c/u aprox).
No compartición: la más simple — cada proceso aislado con sus propios recursos, sin compartir nada.
Compartiendo originales / código reentrante: aclarar qué es código reentrante en términos simples — un mismo código ejecutable que puede ser usado por varios procesos "leyéndolo" al mismo tiempo, sin que cada uno necesite su propia copia completa en memoria.
Subsistemas sin memoria: usar el ejemplo cliente/servidor del material — cada uno protege su propia info durante la interacción, sin exponerla al otro directamente.
Diseminación controlada: conectar con algo que conocen — niveles de acceso tipo "necesito saber" (need-to-know), común en bancos y en el ámbito militar — cada credencial define qué información puede ver esa persona.
Dar tiempo para preguntas al final de esta diapositiva antes de seguir — es contenido denso.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[ACL vs CAPACIDADES — 25 min]
Explicar los 3 componentes tal como los presenta el material (12 min): acceso controlado, flujo de información controlado, y certificación.
Puente conceptual (no está en el material pero ayuda a fijar el concepto, aclarar que es una simplificación docente): una Lista de Control de Acceso (ACL) responde "¿quién puede acceder a ESTE recurso?" mirándolo desde el recurso; el modelo de capacidades responde "¿a qué recursos puede acceder ESTE usuario?" mirándolo desde el usuario. Ambos enfoques buscan lo mismo — regular el acceso — desde ángulos distintos.
Dejar 8-10 min de preguntas — este tema suele generar dudas por lo abstracto de los términos.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[CIFRADO Y AUTENTICACIÓN — 20 min, incluye actividad]
Explicar las 2 tarjetas (10 min). Diferencia clave a remarcar: cifrado protege el CONTENIDO del mensaje; autenticación protege la IDENTIDAD de quién lo envía o lo recibe — son cosas distintas y complementarias.
Ejemplo cotidiano: al entrar a home banking, la conexión HTTPS cifra los datos en tránsito; el usuario y contraseña (o la huella digital) autentican que sos realmente vos.
ACTIVIDAD (8 min): pregunta para el curso — "si alguien INTERCEPTA un mensaje cifrado pero NO tiene la clave, ¿qué puede hacer con él?" (respuesta esperada: nada útil, lo ve pero no lo entiende). Luego: "¿y si el sistema NO tuviera autenticación, aunque todo esté cifrado?" (respuesta esperada: cualquiera podría hacerse pasar por otra persona, aunque el contenido viaje protegido). Esto ayuda a fijar que son dos problemas distintos.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 UNIDAD 1 — 12 min]
Repasar los 4 puntos de la síntesis en voz alta — es el cierre de una unidad completa, vale la pena dar un poco más de espacio a las preguntas que en clases intermedias.
Recordar que la Unidad 1 (Clases 2 y 3) entra en el 1er Parcial (22/09) junto con la Unidad 2, que arranca la próxima clase.
Anunciar el tema de la próxima clase: Unidad 2 — Procesos (concepto, descripción, estados de un proceso, control de procesos).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754880" cy="4754880"/>
          </a:xfrm>
          <a:prstGeom prst="ellipse">
            <a:avLst/>
          </a:prstGeom>
          <a:solidFill>
            <a:srgbClr val="24316F"/>
          </a:solidFill>
          <a:ln/>
        </p:spPr>
        <p:txBody>
          <a:bodyPr/>
          <a:lstStyle/>
          <a:p>
            <a:endParaRPr lang="es-MX"/>
          </a:p>
        </p:txBody>
      </p:sp>
      <p:sp>
        <p:nvSpPr>
          <p:cNvPr id="3" name="Shape 1"/>
          <p:cNvSpPr/>
          <p:nvPr/>
        </p:nvSpPr>
        <p:spPr>
          <a:xfrm>
            <a:off x="10789920" y="4206240"/>
            <a:ext cx="2926080" cy="2926080"/>
          </a:xfrm>
          <a:prstGeom prst="ellipse">
            <a:avLst/>
          </a:prstGeom>
          <a:solidFill>
            <a:srgbClr val="273580"/>
          </a:solidFill>
          <a:ln/>
        </p:spPr>
        <p:txBody>
          <a:bodyPr/>
          <a:lstStyle/>
          <a:p>
            <a:endParaRPr lang="es-MX"/>
          </a:p>
        </p:txBody>
      </p:sp>
      <p:sp>
        <p:nvSpPr>
          <p:cNvPr id="4" name="Text 2"/>
          <p:cNvSpPr/>
          <p:nvPr/>
        </p:nvSpPr>
        <p:spPr>
          <a:xfrm>
            <a:off x="731520" y="1554480"/>
            <a:ext cx="8229600" cy="365760"/>
          </a:xfrm>
          <a:prstGeom prst="rect">
            <a:avLst/>
          </a:prstGeom>
          <a:noFill/>
          <a:ln/>
        </p:spPr>
        <p:txBody>
          <a:bodyPr wrap="square" rtlCol="0" anchor="ctr"/>
          <a:lstStyle/>
          <a:p>
            <a:pPr marL="0" indent="0">
              <a:buNone/>
            </a:pPr>
            <a:r>
              <a:rPr lang="en-US" sz="1400" b="1" kern="0" spc="200" dirty="0">
                <a:solidFill>
                  <a:srgbClr val="E8B84B"/>
                </a:solidFill>
                <a:latin typeface="Calibri" pitchFamily="34" charset="0"/>
                <a:ea typeface="Calibri" pitchFamily="34" charset="-122"/>
                <a:cs typeface="Calibri" pitchFamily="34" charset="-120"/>
              </a:rPr>
              <a:t>CÁTEDRA · SISTEMAS OPERATIVOS</a:t>
            </a:r>
            <a:endParaRPr lang="en-US" sz="1400" dirty="0"/>
          </a:p>
        </p:txBody>
      </p:sp>
      <p:sp>
        <p:nvSpPr>
          <p:cNvPr id="5" name="Text 3"/>
          <p:cNvSpPr/>
          <p:nvPr/>
        </p:nvSpPr>
        <p:spPr>
          <a:xfrm>
            <a:off x="685800" y="1965960"/>
            <a:ext cx="9601200" cy="2011680"/>
          </a:xfrm>
          <a:prstGeom prst="rect">
            <a:avLst/>
          </a:prstGeom>
          <a:noFill/>
          <a:ln/>
        </p:spPr>
        <p:txBody>
          <a:bodyPr wrap="square" rtlCol="0" anchor="ctr"/>
          <a:lstStyle/>
          <a:p>
            <a:pPr marL="0" indent="0">
              <a:lnSpc>
                <a:spcPts val="4400"/>
              </a:lnSpc>
              <a:buNone/>
            </a:pPr>
            <a:r>
              <a:rPr lang="en-US" sz="3800" b="1" dirty="0">
                <a:solidFill>
                  <a:srgbClr val="FFFFFF"/>
                </a:solidFill>
                <a:latin typeface="Cambria" pitchFamily="34" charset="0"/>
                <a:ea typeface="Cambria" pitchFamily="34" charset="-122"/>
                <a:cs typeface="Cambria" pitchFamily="34" charset="-120"/>
              </a:rPr>
              <a:t>Unidad 1 (cierre)</a:t>
            </a:r>
            <a:endParaRPr lang="en-US" sz="3800" dirty="0"/>
          </a:p>
          <a:p>
            <a:pPr marL="0" indent="0">
              <a:lnSpc>
                <a:spcPts val="4400"/>
              </a:lnSpc>
              <a:buNone/>
            </a:pPr>
            <a:r>
              <a:rPr lang="en-US" sz="3800" b="1" dirty="0">
                <a:solidFill>
                  <a:srgbClr val="FFFFFF"/>
                </a:solidFill>
                <a:latin typeface="Cambria" pitchFamily="34" charset="0"/>
                <a:ea typeface="Cambria" pitchFamily="34" charset="-122"/>
                <a:cs typeface="Cambria" pitchFamily="34" charset="-120"/>
              </a:rPr>
              <a:t>Servicios, evolución y seguridad</a:t>
            </a:r>
            <a:endParaRPr lang="en-US" sz="3800" dirty="0"/>
          </a:p>
        </p:txBody>
      </p:sp>
      <p:sp>
        <p:nvSpPr>
          <p:cNvPr id="6" name="Text 4"/>
          <p:cNvSpPr/>
          <p:nvPr/>
        </p:nvSpPr>
        <p:spPr>
          <a:xfrm>
            <a:off x="731520" y="3977640"/>
            <a:ext cx="9144000" cy="457200"/>
          </a:xfrm>
          <a:prstGeom prst="rect">
            <a:avLst/>
          </a:prstGeom>
          <a:noFill/>
          <a:ln/>
        </p:spPr>
        <p:txBody>
          <a:bodyPr wrap="square" rtlCol="0" anchor="ctr"/>
          <a:lstStyle/>
          <a:p>
            <a:pPr marL="0" indent="0">
              <a:buNone/>
            </a:pPr>
            <a:r>
              <a:rPr lang="en-US" sz="1700" dirty="0">
                <a:solidFill>
                  <a:srgbClr val="CADCFC"/>
                </a:solidFill>
                <a:latin typeface="Calibri" pitchFamily="34" charset="0"/>
                <a:ea typeface="Calibri" pitchFamily="34" charset="-122"/>
                <a:cs typeface="Calibri" pitchFamily="34" charset="-120"/>
              </a:rPr>
              <a:t>Clase 3 · Servicios del SO, evolución histórica, protección y seguridad</a:t>
            </a:r>
            <a:endParaRPr lang="en-US" sz="1700" dirty="0"/>
          </a:p>
        </p:txBody>
      </p:sp>
      <p:sp>
        <p:nvSpPr>
          <p:cNvPr id="7" name="Shape 5"/>
          <p:cNvSpPr/>
          <p:nvPr/>
        </p:nvSpPr>
        <p:spPr>
          <a:xfrm>
            <a:off x="731520" y="5349240"/>
            <a:ext cx="3291840" cy="0"/>
          </a:xfrm>
          <a:prstGeom prst="line">
            <a:avLst/>
          </a:prstGeom>
          <a:noFill/>
          <a:ln w="12700">
            <a:solidFill>
              <a:srgbClr val="3C4A93"/>
            </a:solidFill>
            <a:prstDash val="solid"/>
          </a:ln>
        </p:spPr>
        <p:txBody>
          <a:bodyPr/>
          <a:lstStyle/>
          <a:p>
            <a:endParaRPr lang="es-MX"/>
          </a:p>
        </p:txBody>
      </p:sp>
      <p:sp>
        <p:nvSpPr>
          <p:cNvPr id="8" name="Text 6"/>
          <p:cNvSpPr/>
          <p:nvPr/>
        </p:nvSpPr>
        <p:spPr>
          <a:xfrm>
            <a:off x="731520" y="5486400"/>
            <a:ext cx="548640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25 de agosto, 2026 · 4 horas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HOY VEMOS</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Agenda de la clase</a:t>
            </a:r>
            <a:endParaRPr lang="en-US" sz="2800" dirty="0"/>
          </a:p>
        </p:txBody>
      </p:sp>
      <p:sp>
        <p:nvSpPr>
          <p:cNvPr id="6" name="Shape 4"/>
          <p:cNvSpPr/>
          <p:nvPr/>
        </p:nvSpPr>
        <p:spPr>
          <a:xfrm>
            <a:off x="640080" y="2103120"/>
            <a:ext cx="10881360" cy="777240"/>
          </a:xfrm>
          <a:prstGeom prst="rect">
            <a:avLst/>
          </a:prstGeom>
          <a:solidFill>
            <a:srgbClr val="F7F8FC"/>
          </a:solidFill>
          <a:ln/>
        </p:spPr>
        <p:txBody>
          <a:bodyPr/>
          <a:lstStyle/>
          <a:p>
            <a:endParaRPr lang="es-MX"/>
          </a:p>
        </p:txBody>
      </p:sp>
      <p:sp>
        <p:nvSpPr>
          <p:cNvPr id="7" name="Text 5"/>
          <p:cNvSpPr/>
          <p:nvPr/>
        </p:nvSpPr>
        <p:spPr>
          <a:xfrm>
            <a:off x="822960" y="2103120"/>
            <a:ext cx="457200" cy="777240"/>
          </a:xfrm>
          <a:prstGeom prst="rect">
            <a:avLst/>
          </a:prstGeom>
          <a:noFill/>
          <a:ln/>
        </p:spPr>
        <p:txBody>
          <a:bodyPr wrap="square" rtlCol="0" anchor="ctr"/>
          <a:lstStyle/>
          <a:p>
            <a:pPr marL="0" indent="0">
              <a:buNone/>
            </a:pPr>
            <a:r>
              <a:rPr lang="en-US" sz="2000" b="1" dirty="0">
                <a:solidFill>
                  <a:srgbClr val="E8B84B"/>
                </a:solidFill>
                <a:latin typeface="Cambria" pitchFamily="34" charset="0"/>
                <a:ea typeface="Cambria" pitchFamily="34" charset="-122"/>
                <a:cs typeface="Cambria" pitchFamily="34" charset="-120"/>
              </a:rPr>
              <a:t>1</a:t>
            </a:r>
            <a:endParaRPr lang="en-US" sz="2000" dirty="0"/>
          </a:p>
        </p:txBody>
      </p:sp>
      <p:sp>
        <p:nvSpPr>
          <p:cNvPr id="8" name="Text 6"/>
          <p:cNvSpPr/>
          <p:nvPr/>
        </p:nvSpPr>
        <p:spPr>
          <a:xfrm>
            <a:off x="1371600" y="2103120"/>
            <a:ext cx="7772400" cy="777240"/>
          </a:xfrm>
          <a:prstGeom prst="rect">
            <a:avLst/>
          </a:prstGeom>
          <a:noFill/>
          <a:ln/>
        </p:spPr>
        <p:txBody>
          <a:bodyPr wrap="square" rtlCol="0" anchor="ctr"/>
          <a:lstStyle/>
          <a:p>
            <a:pPr marL="0" indent="0">
              <a:buNone/>
            </a:pPr>
            <a:r>
              <a:rPr lang="en-US" sz="1600" b="1" dirty="0">
                <a:solidFill>
                  <a:srgbClr val="1B1F3B"/>
                </a:solidFill>
                <a:latin typeface="Calibri" pitchFamily="34" charset="0"/>
                <a:ea typeface="Calibri" pitchFamily="34" charset="-122"/>
                <a:cs typeface="Calibri" pitchFamily="34" charset="-120"/>
              </a:rPr>
              <a:t>Servicios y gestión de recursos del SO</a:t>
            </a:r>
            <a:endParaRPr lang="en-US" sz="1600" dirty="0"/>
          </a:p>
        </p:txBody>
      </p:sp>
      <p:sp>
        <p:nvSpPr>
          <p:cNvPr id="10" name="Shape 8"/>
          <p:cNvSpPr/>
          <p:nvPr/>
        </p:nvSpPr>
        <p:spPr>
          <a:xfrm>
            <a:off x="640080" y="2971800"/>
            <a:ext cx="10881360" cy="777240"/>
          </a:xfrm>
          <a:prstGeom prst="rect">
            <a:avLst/>
          </a:prstGeom>
          <a:solidFill>
            <a:srgbClr val="FFFFFF"/>
          </a:solidFill>
          <a:ln/>
        </p:spPr>
        <p:txBody>
          <a:bodyPr/>
          <a:lstStyle/>
          <a:p>
            <a:endParaRPr lang="es-MX"/>
          </a:p>
        </p:txBody>
      </p:sp>
      <p:sp>
        <p:nvSpPr>
          <p:cNvPr id="11" name="Text 9"/>
          <p:cNvSpPr/>
          <p:nvPr/>
        </p:nvSpPr>
        <p:spPr>
          <a:xfrm>
            <a:off x="822960" y="2971800"/>
            <a:ext cx="457200" cy="777240"/>
          </a:xfrm>
          <a:prstGeom prst="rect">
            <a:avLst/>
          </a:prstGeom>
          <a:noFill/>
          <a:ln/>
        </p:spPr>
        <p:txBody>
          <a:bodyPr wrap="square" rtlCol="0" anchor="ctr"/>
          <a:lstStyle/>
          <a:p>
            <a:pPr marL="0" indent="0">
              <a:buNone/>
            </a:pPr>
            <a:r>
              <a:rPr lang="en-US" sz="2000" b="1" dirty="0">
                <a:solidFill>
                  <a:srgbClr val="E8B84B"/>
                </a:solidFill>
                <a:latin typeface="Cambria" pitchFamily="34" charset="0"/>
                <a:ea typeface="Cambria" pitchFamily="34" charset="-122"/>
                <a:cs typeface="Cambria" pitchFamily="34" charset="-120"/>
              </a:rPr>
              <a:t>2</a:t>
            </a:r>
            <a:endParaRPr lang="en-US" sz="2000" dirty="0"/>
          </a:p>
        </p:txBody>
      </p:sp>
      <p:sp>
        <p:nvSpPr>
          <p:cNvPr id="12" name="Text 10"/>
          <p:cNvSpPr/>
          <p:nvPr/>
        </p:nvSpPr>
        <p:spPr>
          <a:xfrm>
            <a:off x="1371600" y="2971800"/>
            <a:ext cx="7772400" cy="777240"/>
          </a:xfrm>
          <a:prstGeom prst="rect">
            <a:avLst/>
          </a:prstGeom>
          <a:noFill/>
          <a:ln/>
        </p:spPr>
        <p:txBody>
          <a:bodyPr wrap="square" rtlCol="0" anchor="ctr"/>
          <a:lstStyle/>
          <a:p>
            <a:pPr marL="0" indent="0">
              <a:buNone/>
            </a:pPr>
            <a:r>
              <a:rPr lang="en-US" sz="1600" b="1" dirty="0">
                <a:solidFill>
                  <a:srgbClr val="1B1F3B"/>
                </a:solidFill>
                <a:latin typeface="Calibri" pitchFamily="34" charset="0"/>
                <a:ea typeface="Calibri" pitchFamily="34" charset="-122"/>
                <a:cs typeface="Calibri" pitchFamily="34" charset="-120"/>
              </a:rPr>
              <a:t>Evolución de los sistemas operativos</a:t>
            </a:r>
            <a:endParaRPr lang="en-US" sz="1600" dirty="0"/>
          </a:p>
        </p:txBody>
      </p:sp>
      <p:sp>
        <p:nvSpPr>
          <p:cNvPr id="14" name="Shape 12"/>
          <p:cNvSpPr/>
          <p:nvPr/>
        </p:nvSpPr>
        <p:spPr>
          <a:xfrm>
            <a:off x="640080" y="3840480"/>
            <a:ext cx="10881360" cy="777240"/>
          </a:xfrm>
          <a:prstGeom prst="rect">
            <a:avLst/>
          </a:prstGeom>
          <a:solidFill>
            <a:srgbClr val="F7F8FC"/>
          </a:solidFill>
          <a:ln/>
        </p:spPr>
        <p:txBody>
          <a:bodyPr/>
          <a:lstStyle/>
          <a:p>
            <a:endParaRPr lang="es-MX"/>
          </a:p>
        </p:txBody>
      </p:sp>
      <p:sp>
        <p:nvSpPr>
          <p:cNvPr id="15" name="Text 13"/>
          <p:cNvSpPr/>
          <p:nvPr/>
        </p:nvSpPr>
        <p:spPr>
          <a:xfrm>
            <a:off x="822960" y="3840480"/>
            <a:ext cx="457200" cy="777240"/>
          </a:xfrm>
          <a:prstGeom prst="rect">
            <a:avLst/>
          </a:prstGeom>
          <a:noFill/>
          <a:ln/>
        </p:spPr>
        <p:txBody>
          <a:bodyPr wrap="square" rtlCol="0" anchor="ctr"/>
          <a:lstStyle/>
          <a:p>
            <a:pPr marL="0" indent="0">
              <a:buNone/>
            </a:pPr>
            <a:r>
              <a:rPr lang="en-US" sz="2000" b="1" dirty="0">
                <a:solidFill>
                  <a:srgbClr val="E8B84B"/>
                </a:solidFill>
                <a:latin typeface="Cambria" pitchFamily="34" charset="0"/>
                <a:ea typeface="Cambria" pitchFamily="34" charset="-122"/>
                <a:cs typeface="Cambria" pitchFamily="34" charset="-120"/>
              </a:rPr>
              <a:t>3</a:t>
            </a:r>
            <a:endParaRPr lang="en-US" sz="2000" dirty="0"/>
          </a:p>
        </p:txBody>
      </p:sp>
      <p:sp>
        <p:nvSpPr>
          <p:cNvPr id="16" name="Text 14"/>
          <p:cNvSpPr/>
          <p:nvPr/>
        </p:nvSpPr>
        <p:spPr>
          <a:xfrm>
            <a:off x="1371600" y="3840480"/>
            <a:ext cx="7772400" cy="777240"/>
          </a:xfrm>
          <a:prstGeom prst="rect">
            <a:avLst/>
          </a:prstGeom>
          <a:noFill/>
          <a:ln/>
        </p:spPr>
        <p:txBody>
          <a:bodyPr wrap="square" rtlCol="0" anchor="ctr"/>
          <a:lstStyle/>
          <a:p>
            <a:pPr marL="0" indent="0">
              <a:buNone/>
            </a:pPr>
            <a:r>
              <a:rPr lang="en-US" sz="1600" b="1" dirty="0">
                <a:solidFill>
                  <a:srgbClr val="1B1F3B"/>
                </a:solidFill>
                <a:latin typeface="Calibri" pitchFamily="34" charset="0"/>
                <a:ea typeface="Calibri" pitchFamily="34" charset="-122"/>
                <a:cs typeface="Calibri" pitchFamily="34" charset="-120"/>
              </a:rPr>
              <a:t>Protección y seguridad: amenazas y políticas</a:t>
            </a:r>
            <a:endParaRPr lang="en-US" sz="1600" dirty="0"/>
          </a:p>
        </p:txBody>
      </p:sp>
      <p:sp>
        <p:nvSpPr>
          <p:cNvPr id="18" name="Shape 16"/>
          <p:cNvSpPr/>
          <p:nvPr/>
        </p:nvSpPr>
        <p:spPr>
          <a:xfrm>
            <a:off x="640080" y="4709160"/>
            <a:ext cx="10881360" cy="777240"/>
          </a:xfrm>
          <a:prstGeom prst="rect">
            <a:avLst/>
          </a:prstGeom>
          <a:solidFill>
            <a:srgbClr val="FFFFFF"/>
          </a:solidFill>
          <a:ln/>
        </p:spPr>
        <p:txBody>
          <a:bodyPr/>
          <a:lstStyle/>
          <a:p>
            <a:endParaRPr lang="es-MX"/>
          </a:p>
        </p:txBody>
      </p:sp>
      <p:sp>
        <p:nvSpPr>
          <p:cNvPr id="19" name="Text 17"/>
          <p:cNvSpPr/>
          <p:nvPr/>
        </p:nvSpPr>
        <p:spPr>
          <a:xfrm>
            <a:off x="822960" y="4709160"/>
            <a:ext cx="457200" cy="777240"/>
          </a:xfrm>
          <a:prstGeom prst="rect">
            <a:avLst/>
          </a:prstGeom>
          <a:noFill/>
          <a:ln/>
        </p:spPr>
        <p:txBody>
          <a:bodyPr wrap="square" rtlCol="0" anchor="ctr"/>
          <a:lstStyle/>
          <a:p>
            <a:pPr marL="0" indent="0">
              <a:buNone/>
            </a:pPr>
            <a:r>
              <a:rPr lang="en-US" sz="2000" b="1" dirty="0">
                <a:solidFill>
                  <a:srgbClr val="E8B84B"/>
                </a:solidFill>
                <a:latin typeface="Cambria" pitchFamily="34" charset="0"/>
                <a:ea typeface="Cambria" pitchFamily="34" charset="-122"/>
                <a:cs typeface="Cambria" pitchFamily="34" charset="-120"/>
              </a:rPr>
              <a:t>4</a:t>
            </a:r>
            <a:endParaRPr lang="en-US" sz="2000" dirty="0"/>
          </a:p>
        </p:txBody>
      </p:sp>
      <p:sp>
        <p:nvSpPr>
          <p:cNvPr id="20" name="Text 18"/>
          <p:cNvSpPr/>
          <p:nvPr/>
        </p:nvSpPr>
        <p:spPr>
          <a:xfrm>
            <a:off x="1371600" y="4709160"/>
            <a:ext cx="7772400" cy="777240"/>
          </a:xfrm>
          <a:prstGeom prst="rect">
            <a:avLst/>
          </a:prstGeom>
          <a:noFill/>
          <a:ln/>
        </p:spPr>
        <p:txBody>
          <a:bodyPr wrap="square" rtlCol="0" anchor="ctr"/>
          <a:lstStyle/>
          <a:p>
            <a:pPr marL="0" indent="0">
              <a:buNone/>
            </a:pPr>
            <a:r>
              <a:rPr lang="en-US" sz="1600" b="1" dirty="0">
                <a:solidFill>
                  <a:srgbClr val="1B1F3B"/>
                </a:solidFill>
                <a:latin typeface="Calibri" pitchFamily="34" charset="0"/>
                <a:ea typeface="Calibri" pitchFamily="34" charset="-122"/>
                <a:cs typeface="Calibri" pitchFamily="34" charset="-120"/>
              </a:rPr>
              <a:t>Control de acceso, cifrado y autenticación</a:t>
            </a:r>
            <a:endParaRPr lang="en-US" sz="1600" dirty="0"/>
          </a:p>
        </p:txBody>
      </p:sp>
      <p:sp>
        <p:nvSpPr>
          <p:cNvPr id="22" name="Text 20"/>
          <p:cNvSpPr/>
          <p:nvPr/>
        </p:nvSpPr>
        <p:spPr>
          <a:xfrm>
            <a:off x="640080" y="6035040"/>
            <a:ext cx="8229600" cy="365760"/>
          </a:xfrm>
          <a:prstGeom prst="rect">
            <a:avLst/>
          </a:prstGeom>
          <a:noFill/>
          <a:ln/>
        </p:spPr>
        <p:txBody>
          <a:bodyPr wrap="square" rtlCol="0" anchor="ctr"/>
          <a:lstStyle/>
          <a:p>
            <a:pPr marL="0" indent="0">
              <a:buNone/>
            </a:pPr>
            <a:r>
              <a:rPr lang="en-US" sz="1100" i="1" dirty="0">
                <a:solidFill>
                  <a:srgbClr val="5B6584"/>
                </a:solidFill>
                <a:latin typeface="Calibri" pitchFamily="34" charset="0"/>
                <a:ea typeface="Calibri" pitchFamily="34" charset="-122"/>
                <a:cs typeface="Calibri" pitchFamily="34" charset="-120"/>
              </a:rPr>
              <a:t>* Incluye 15 min de descanso a mitad de clase — cierra la Unidad 1</a:t>
            </a:r>
            <a:endParaRPr lang="en-US" sz="1100" dirty="0"/>
          </a:p>
        </p:txBody>
      </p:sp>
      <p:sp>
        <p:nvSpPr>
          <p:cNvPr id="23" name="Text 21"/>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REPASO RÁPIDO</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¿Qué vimos la clase pasada?</a:t>
            </a:r>
            <a:endParaRPr lang="en-US" sz="2800" dirty="0"/>
          </a:p>
        </p:txBody>
      </p:sp>
      <p:sp>
        <p:nvSpPr>
          <p:cNvPr id="6" name="Shape 4"/>
          <p:cNvSpPr/>
          <p:nvPr/>
        </p:nvSpPr>
        <p:spPr>
          <a:xfrm>
            <a:off x="640080" y="2176272"/>
            <a:ext cx="128016" cy="128016"/>
          </a:xfrm>
          <a:prstGeom prst="ellipse">
            <a:avLst/>
          </a:prstGeom>
          <a:solidFill>
            <a:srgbClr val="E8B84B"/>
          </a:solidFill>
          <a:ln/>
        </p:spPr>
        <p:txBody>
          <a:bodyPr/>
          <a:lstStyle/>
          <a:p>
            <a:endParaRPr lang="es-MX"/>
          </a:p>
        </p:txBody>
      </p:sp>
      <p:sp>
        <p:nvSpPr>
          <p:cNvPr id="7" name="Text 5"/>
          <p:cNvSpPr/>
          <p:nvPr/>
        </p:nvSpPr>
        <p:spPr>
          <a:xfrm>
            <a:off x="960120" y="2103120"/>
            <a:ext cx="9875520" cy="457200"/>
          </a:xfrm>
          <a:prstGeom prst="rect">
            <a:avLst/>
          </a:prstGeom>
          <a:noFill/>
          <a:ln/>
        </p:spPr>
        <p:txBody>
          <a:bodyPr wrap="square" rtlCol="0" anchor="ctr"/>
          <a:lstStyle/>
          <a:p>
            <a:pPr marL="0" indent="0">
              <a:buNone/>
            </a:pPr>
            <a:r>
              <a:rPr lang="en-US" sz="1600" dirty="0">
                <a:solidFill>
                  <a:srgbClr val="1B1F3B"/>
                </a:solidFill>
                <a:latin typeface="Calibri" pitchFamily="34" charset="0"/>
                <a:ea typeface="Calibri" pitchFamily="34" charset="-122"/>
                <a:cs typeface="Calibri" pitchFamily="34" charset="-120"/>
              </a:rPr>
              <a:t>Registros del procesador</a:t>
            </a:r>
            <a:endParaRPr lang="en-US" sz="1600" dirty="0"/>
          </a:p>
        </p:txBody>
      </p:sp>
      <p:sp>
        <p:nvSpPr>
          <p:cNvPr id="8" name="Shape 6"/>
          <p:cNvSpPr/>
          <p:nvPr/>
        </p:nvSpPr>
        <p:spPr>
          <a:xfrm>
            <a:off x="640080" y="2770632"/>
            <a:ext cx="128016" cy="128016"/>
          </a:xfrm>
          <a:prstGeom prst="ellipse">
            <a:avLst/>
          </a:prstGeom>
          <a:solidFill>
            <a:srgbClr val="E8B84B"/>
          </a:solidFill>
          <a:ln/>
        </p:spPr>
        <p:txBody>
          <a:bodyPr/>
          <a:lstStyle/>
          <a:p>
            <a:endParaRPr lang="es-MX"/>
          </a:p>
        </p:txBody>
      </p:sp>
      <p:sp>
        <p:nvSpPr>
          <p:cNvPr id="9" name="Text 7"/>
          <p:cNvSpPr/>
          <p:nvPr/>
        </p:nvSpPr>
        <p:spPr>
          <a:xfrm>
            <a:off x="960120" y="2697480"/>
            <a:ext cx="9875520" cy="457200"/>
          </a:xfrm>
          <a:prstGeom prst="rect">
            <a:avLst/>
          </a:prstGeom>
          <a:noFill/>
          <a:ln/>
        </p:spPr>
        <p:txBody>
          <a:bodyPr wrap="square" rtlCol="0" anchor="ctr"/>
          <a:lstStyle/>
          <a:p>
            <a:pPr marL="0" indent="0">
              <a:buNone/>
            </a:pPr>
            <a:r>
              <a:rPr lang="en-US" sz="1600" dirty="0">
                <a:solidFill>
                  <a:srgbClr val="1B1F3B"/>
                </a:solidFill>
                <a:latin typeface="Calibri" pitchFamily="34" charset="0"/>
                <a:ea typeface="Calibri" pitchFamily="34" charset="-122"/>
                <a:cs typeface="Calibri" pitchFamily="34" charset="-120"/>
              </a:rPr>
              <a:t>Ciclo de ejecución de instrucciones</a:t>
            </a:r>
            <a:endParaRPr lang="en-US" sz="1600" dirty="0"/>
          </a:p>
        </p:txBody>
      </p:sp>
      <p:sp>
        <p:nvSpPr>
          <p:cNvPr id="10" name="Shape 8"/>
          <p:cNvSpPr/>
          <p:nvPr/>
        </p:nvSpPr>
        <p:spPr>
          <a:xfrm>
            <a:off x="640080" y="3364992"/>
            <a:ext cx="128016" cy="128016"/>
          </a:xfrm>
          <a:prstGeom prst="ellipse">
            <a:avLst/>
          </a:prstGeom>
          <a:solidFill>
            <a:srgbClr val="E8B84B"/>
          </a:solidFill>
          <a:ln/>
        </p:spPr>
        <p:txBody>
          <a:bodyPr/>
          <a:lstStyle/>
          <a:p>
            <a:endParaRPr lang="es-MX"/>
          </a:p>
        </p:txBody>
      </p:sp>
      <p:sp>
        <p:nvSpPr>
          <p:cNvPr id="11" name="Text 9"/>
          <p:cNvSpPr/>
          <p:nvPr/>
        </p:nvSpPr>
        <p:spPr>
          <a:xfrm>
            <a:off x="960120" y="3291840"/>
            <a:ext cx="9875520" cy="457200"/>
          </a:xfrm>
          <a:prstGeom prst="rect">
            <a:avLst/>
          </a:prstGeom>
          <a:noFill/>
          <a:ln/>
        </p:spPr>
        <p:txBody>
          <a:bodyPr wrap="square" rtlCol="0" anchor="ctr"/>
          <a:lstStyle/>
          <a:p>
            <a:pPr marL="0" indent="0">
              <a:buNone/>
            </a:pPr>
            <a:r>
              <a:rPr lang="en-US" sz="1600" dirty="0">
                <a:solidFill>
                  <a:srgbClr val="1B1F3B"/>
                </a:solidFill>
                <a:latin typeface="Calibri" pitchFamily="34" charset="0"/>
                <a:ea typeface="Calibri" pitchFamily="34" charset="-122"/>
                <a:cs typeface="Calibri" pitchFamily="34" charset="-120"/>
              </a:rPr>
              <a:t>Interrupciones</a:t>
            </a:r>
            <a:endParaRPr lang="en-US" sz="1600" dirty="0"/>
          </a:p>
        </p:txBody>
      </p:sp>
      <p:sp>
        <p:nvSpPr>
          <p:cNvPr id="12" name="Shape 10"/>
          <p:cNvSpPr/>
          <p:nvPr/>
        </p:nvSpPr>
        <p:spPr>
          <a:xfrm>
            <a:off x="640080" y="3959352"/>
            <a:ext cx="128016" cy="128016"/>
          </a:xfrm>
          <a:prstGeom prst="ellipse">
            <a:avLst/>
          </a:prstGeom>
          <a:solidFill>
            <a:srgbClr val="E8B84B"/>
          </a:solidFill>
          <a:ln/>
        </p:spPr>
        <p:txBody>
          <a:bodyPr/>
          <a:lstStyle/>
          <a:p>
            <a:endParaRPr lang="es-MX"/>
          </a:p>
        </p:txBody>
      </p:sp>
      <p:sp>
        <p:nvSpPr>
          <p:cNvPr id="13" name="Text 11"/>
          <p:cNvSpPr/>
          <p:nvPr/>
        </p:nvSpPr>
        <p:spPr>
          <a:xfrm>
            <a:off x="960120" y="3886200"/>
            <a:ext cx="9875520" cy="457200"/>
          </a:xfrm>
          <a:prstGeom prst="rect">
            <a:avLst/>
          </a:prstGeom>
          <a:noFill/>
          <a:ln/>
        </p:spPr>
        <p:txBody>
          <a:bodyPr wrap="square" rtlCol="0" anchor="ctr"/>
          <a:lstStyle/>
          <a:p>
            <a:pPr marL="0" indent="0">
              <a:buNone/>
            </a:pPr>
            <a:r>
              <a:rPr lang="en-US" sz="1600" dirty="0">
                <a:solidFill>
                  <a:srgbClr val="1B1F3B"/>
                </a:solidFill>
                <a:latin typeface="Calibri" pitchFamily="34" charset="0"/>
                <a:ea typeface="Calibri" pitchFamily="34" charset="-122"/>
                <a:cs typeface="Calibri" pitchFamily="34" charset="-120"/>
              </a:rPr>
              <a:t>Jerarquía de memoria y caché</a:t>
            </a:r>
            <a:endParaRPr lang="en-US" sz="1600" dirty="0"/>
          </a:p>
        </p:txBody>
      </p:sp>
      <p:sp>
        <p:nvSpPr>
          <p:cNvPr id="14" name="Shape 12"/>
          <p:cNvSpPr/>
          <p:nvPr/>
        </p:nvSpPr>
        <p:spPr>
          <a:xfrm>
            <a:off x="640080" y="4553712"/>
            <a:ext cx="128016" cy="128016"/>
          </a:xfrm>
          <a:prstGeom prst="ellipse">
            <a:avLst/>
          </a:prstGeom>
          <a:solidFill>
            <a:srgbClr val="E8B84B"/>
          </a:solidFill>
          <a:ln/>
        </p:spPr>
        <p:txBody>
          <a:bodyPr/>
          <a:lstStyle/>
          <a:p>
            <a:endParaRPr lang="es-MX"/>
          </a:p>
        </p:txBody>
      </p:sp>
      <p:sp>
        <p:nvSpPr>
          <p:cNvPr id="15" name="Text 13"/>
          <p:cNvSpPr/>
          <p:nvPr/>
        </p:nvSpPr>
        <p:spPr>
          <a:xfrm>
            <a:off x="960120" y="4480560"/>
            <a:ext cx="9875520" cy="457200"/>
          </a:xfrm>
          <a:prstGeom prst="rect">
            <a:avLst/>
          </a:prstGeom>
          <a:noFill/>
          <a:ln/>
        </p:spPr>
        <p:txBody>
          <a:bodyPr wrap="square" rtlCol="0" anchor="ctr"/>
          <a:lstStyle/>
          <a:p>
            <a:pPr marL="0" indent="0">
              <a:buNone/>
            </a:pPr>
            <a:r>
              <a:rPr lang="en-US" sz="1600" dirty="0">
                <a:solidFill>
                  <a:srgbClr val="1B1F3B"/>
                </a:solidFill>
                <a:latin typeface="Calibri" pitchFamily="34" charset="0"/>
                <a:ea typeface="Calibri" pitchFamily="34" charset="-122"/>
                <a:cs typeface="Calibri" pitchFamily="34" charset="-120"/>
              </a:rPr>
              <a:t>Técnicas de comunicación de E/S</a:t>
            </a:r>
            <a:endParaRPr lang="en-US" sz="1600" dirty="0"/>
          </a:p>
        </p:txBody>
      </p:sp>
      <p:sp>
        <p:nvSpPr>
          <p:cNvPr id="16" name="Text 14"/>
          <p:cNvSpPr/>
          <p:nvPr/>
        </p:nvSpPr>
        <p:spPr>
          <a:xfrm>
            <a:off x="640080" y="5212080"/>
            <a:ext cx="10515600" cy="548640"/>
          </a:xfrm>
          <a:prstGeom prst="rect">
            <a:avLst/>
          </a:prstGeom>
          <a:noFill/>
          <a:ln/>
        </p:spPr>
        <p:txBody>
          <a:bodyPr wrap="square" rtlCol="0" anchor="ctr"/>
          <a:lstStyle/>
          <a:p>
            <a:pPr marL="0" indent="0">
              <a:buNone/>
            </a:pPr>
            <a:r>
              <a:rPr lang="en-US" sz="1500" i="1" dirty="0">
                <a:solidFill>
                  <a:srgbClr val="1E2761"/>
                </a:solidFill>
                <a:latin typeface="Calibri" pitchFamily="34" charset="0"/>
                <a:ea typeface="Calibri" pitchFamily="34" charset="-122"/>
                <a:cs typeface="Calibri" pitchFamily="34" charset="-120"/>
              </a:rPr>
              <a:t>Todo eso era hardware. Hoy: ¿qué hace el sistema operativo con eso?</a:t>
            </a:r>
            <a:endParaRPr lang="en-US" sz="1500" dirty="0"/>
          </a:p>
        </p:txBody>
      </p:sp>
      <p:sp>
        <p:nvSpPr>
          <p:cNvPr id="17" name="Text 15"/>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320040"/>
          </a:xfrm>
          <a:prstGeom prst="rect">
            <a:avLst/>
          </a:prstGeom>
          <a:noFill/>
          <a:ln/>
        </p:spPr>
        <p:txBody>
          <a:bodyPr wrap="square" rtlCol="0" anchor="ctr"/>
          <a:lstStyle/>
          <a:p>
            <a:pPr marL="0" indent="0">
              <a:buNone/>
            </a:pPr>
            <a:r>
              <a:rPr lang="en-US" sz="1300" b="1" kern="0" spc="200" dirty="0">
                <a:solidFill>
                  <a:srgbClr val="E8B84B"/>
                </a:solidFill>
                <a:latin typeface="Calibri" pitchFamily="34" charset="0"/>
                <a:ea typeface="Calibri" pitchFamily="34" charset="-122"/>
                <a:cs typeface="Calibri" pitchFamily="34" charset="-120"/>
              </a:rPr>
              <a:t>EL SO COMO INTERFAZ</a:t>
            </a:r>
            <a:endParaRPr lang="en-US" sz="1300" dirty="0"/>
          </a:p>
        </p:txBody>
      </p:sp>
      <p:sp>
        <p:nvSpPr>
          <p:cNvPr id="3" name="Text 1"/>
          <p:cNvSpPr/>
          <p:nvPr/>
        </p:nvSpPr>
        <p:spPr>
          <a:xfrm>
            <a:off x="640080" y="868680"/>
            <a:ext cx="1069848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¿Qué servicios presta el sistema operativo?</a:t>
            </a:r>
            <a:endParaRPr lang="en-US" sz="2800" dirty="0"/>
          </a:p>
        </p:txBody>
      </p:sp>
      <p:sp>
        <p:nvSpPr>
          <p:cNvPr id="6" name="Text 4"/>
          <p:cNvSpPr/>
          <p:nvPr/>
        </p:nvSpPr>
        <p:spPr>
          <a:xfrm>
            <a:off x="640080" y="1691640"/>
            <a:ext cx="10607040" cy="548640"/>
          </a:xfrm>
          <a:prstGeom prst="rect">
            <a:avLst/>
          </a:prstGeom>
          <a:noFill/>
          <a:ln/>
        </p:spPr>
        <p:txBody>
          <a:bodyPr wrap="square" rtlCol="0" anchor="ctr"/>
          <a:lstStyle/>
          <a:p>
            <a:pPr marL="0" indent="0">
              <a:lnSpc>
                <a:spcPts val="2000"/>
              </a:lnSpc>
              <a:buNone/>
            </a:pPr>
            <a:r>
              <a:rPr lang="en-US" sz="1500" dirty="0">
                <a:solidFill>
                  <a:srgbClr val="CADCFC"/>
                </a:solidFill>
                <a:latin typeface="Calibri" pitchFamily="34" charset="0"/>
                <a:ea typeface="Calibri" pitchFamily="34" charset="-122"/>
                <a:cs typeface="Calibri" pitchFamily="34" charset="-120"/>
              </a:rPr>
              <a:t>Es el programa que controla otros programas — debe ser eficaz, agradable de usar y capaz de evolucionar.</a:t>
            </a:r>
            <a:endParaRPr lang="en-US" sz="1500" dirty="0"/>
          </a:p>
        </p:txBody>
      </p:sp>
      <p:sp>
        <p:nvSpPr>
          <p:cNvPr id="7" name="Shape 5"/>
          <p:cNvSpPr/>
          <p:nvPr/>
        </p:nvSpPr>
        <p:spPr>
          <a:xfrm>
            <a:off x="640080" y="2423160"/>
            <a:ext cx="5257800" cy="1051560"/>
          </a:xfrm>
          <a:prstGeom prst="rect">
            <a:avLst/>
          </a:prstGeom>
          <a:solidFill>
            <a:srgbClr val="232E6E"/>
          </a:solidFill>
          <a:ln/>
        </p:spPr>
        <p:txBody>
          <a:bodyPr/>
          <a:lstStyle/>
          <a:p>
            <a:endParaRPr lang="es-MX"/>
          </a:p>
        </p:txBody>
      </p:sp>
      <p:sp>
        <p:nvSpPr>
          <p:cNvPr id="8" name="Text 6"/>
          <p:cNvSpPr/>
          <p:nvPr/>
        </p:nvSpPr>
        <p:spPr>
          <a:xfrm>
            <a:off x="822960" y="2423160"/>
            <a:ext cx="548640" cy="1051560"/>
          </a:xfrm>
          <a:prstGeom prst="rect">
            <a:avLst/>
          </a:prstGeom>
          <a:noFill/>
          <a:ln/>
        </p:spPr>
        <p:txBody>
          <a:bodyPr wrap="square" rtlCol="0" anchor="ctr"/>
          <a:lstStyle/>
          <a:p>
            <a:pPr marL="0" indent="0">
              <a:buNone/>
            </a:pPr>
            <a:r>
              <a:rPr lang="en-US" sz="2200" b="1" dirty="0">
                <a:solidFill>
                  <a:srgbClr val="E8B84B"/>
                </a:solidFill>
                <a:latin typeface="Cambria" pitchFamily="34" charset="0"/>
                <a:ea typeface="Cambria" pitchFamily="34" charset="-122"/>
                <a:cs typeface="Cambria" pitchFamily="34" charset="-120"/>
              </a:rPr>
              <a:t>1</a:t>
            </a:r>
            <a:endParaRPr lang="en-US" sz="2200" dirty="0"/>
          </a:p>
        </p:txBody>
      </p:sp>
      <p:sp>
        <p:nvSpPr>
          <p:cNvPr id="9" name="Text 7"/>
          <p:cNvSpPr/>
          <p:nvPr/>
        </p:nvSpPr>
        <p:spPr>
          <a:xfrm>
            <a:off x="1463040" y="2423160"/>
            <a:ext cx="4297680" cy="1051560"/>
          </a:xfrm>
          <a:prstGeom prst="rect">
            <a:avLst/>
          </a:prstGeom>
          <a:noFill/>
          <a:ln/>
        </p:spPr>
        <p:txBody>
          <a:bodyPr wrap="square" rtlCol="0" anchor="ctr"/>
          <a:lstStyle/>
          <a:p>
            <a:pPr marL="0" indent="0">
              <a:lnSpc>
                <a:spcPts val="1600"/>
              </a:lnSpc>
              <a:buNone/>
            </a:pPr>
            <a:r>
              <a:rPr lang="en-US" sz="1300" dirty="0">
                <a:solidFill>
                  <a:srgbClr val="FFFFFF"/>
                </a:solidFill>
                <a:latin typeface="Calibri" pitchFamily="34" charset="0"/>
                <a:ea typeface="Calibri" pitchFamily="34" charset="-122"/>
                <a:cs typeface="Calibri" pitchFamily="34" charset="-120"/>
              </a:rPr>
              <a:t>Crear y ejecutar programas</a:t>
            </a:r>
            <a:endParaRPr lang="en-US" sz="1300" dirty="0"/>
          </a:p>
        </p:txBody>
      </p:sp>
      <p:sp>
        <p:nvSpPr>
          <p:cNvPr id="10" name="Shape 8"/>
          <p:cNvSpPr/>
          <p:nvPr/>
        </p:nvSpPr>
        <p:spPr>
          <a:xfrm>
            <a:off x="6263640" y="2423160"/>
            <a:ext cx="5257800" cy="1051560"/>
          </a:xfrm>
          <a:prstGeom prst="rect">
            <a:avLst/>
          </a:prstGeom>
          <a:solidFill>
            <a:srgbClr val="232E6E"/>
          </a:solidFill>
          <a:ln/>
        </p:spPr>
        <p:txBody>
          <a:bodyPr/>
          <a:lstStyle/>
          <a:p>
            <a:endParaRPr lang="es-MX"/>
          </a:p>
        </p:txBody>
      </p:sp>
      <p:sp>
        <p:nvSpPr>
          <p:cNvPr id="11" name="Text 9"/>
          <p:cNvSpPr/>
          <p:nvPr/>
        </p:nvSpPr>
        <p:spPr>
          <a:xfrm>
            <a:off x="6446520" y="2423160"/>
            <a:ext cx="548640" cy="1051560"/>
          </a:xfrm>
          <a:prstGeom prst="rect">
            <a:avLst/>
          </a:prstGeom>
          <a:noFill/>
          <a:ln/>
        </p:spPr>
        <p:txBody>
          <a:bodyPr wrap="square" rtlCol="0" anchor="ctr"/>
          <a:lstStyle/>
          <a:p>
            <a:pPr marL="0" indent="0">
              <a:buNone/>
            </a:pPr>
            <a:r>
              <a:rPr lang="en-US" sz="2200" b="1" dirty="0">
                <a:solidFill>
                  <a:srgbClr val="E8B84B"/>
                </a:solidFill>
                <a:latin typeface="Cambria" pitchFamily="34" charset="0"/>
                <a:ea typeface="Cambria" pitchFamily="34" charset="-122"/>
                <a:cs typeface="Cambria" pitchFamily="34" charset="-120"/>
              </a:rPr>
              <a:t>2</a:t>
            </a:r>
            <a:endParaRPr lang="en-US" sz="2200" dirty="0"/>
          </a:p>
        </p:txBody>
      </p:sp>
      <p:sp>
        <p:nvSpPr>
          <p:cNvPr id="12" name="Text 10"/>
          <p:cNvSpPr/>
          <p:nvPr/>
        </p:nvSpPr>
        <p:spPr>
          <a:xfrm>
            <a:off x="7086600" y="2423160"/>
            <a:ext cx="4297680" cy="1051560"/>
          </a:xfrm>
          <a:prstGeom prst="rect">
            <a:avLst/>
          </a:prstGeom>
          <a:noFill/>
          <a:ln/>
        </p:spPr>
        <p:txBody>
          <a:bodyPr wrap="square" rtlCol="0" anchor="ctr"/>
          <a:lstStyle/>
          <a:p>
            <a:pPr marL="0" indent="0">
              <a:lnSpc>
                <a:spcPts val="1600"/>
              </a:lnSpc>
              <a:buNone/>
            </a:pPr>
            <a:r>
              <a:rPr lang="en-US" sz="1300" dirty="0">
                <a:solidFill>
                  <a:srgbClr val="FFFFFF"/>
                </a:solidFill>
                <a:latin typeface="Calibri" pitchFamily="34" charset="0"/>
                <a:ea typeface="Calibri" pitchFamily="34" charset="-122"/>
                <a:cs typeface="Calibri" pitchFamily="34" charset="-120"/>
              </a:rPr>
              <a:t>Gestionar dispositivos de E/S</a:t>
            </a:r>
            <a:endParaRPr lang="en-US" sz="1300" dirty="0"/>
          </a:p>
        </p:txBody>
      </p:sp>
      <p:sp>
        <p:nvSpPr>
          <p:cNvPr id="13" name="Shape 11"/>
          <p:cNvSpPr/>
          <p:nvPr/>
        </p:nvSpPr>
        <p:spPr>
          <a:xfrm>
            <a:off x="640080" y="3703320"/>
            <a:ext cx="5257800" cy="1051560"/>
          </a:xfrm>
          <a:prstGeom prst="rect">
            <a:avLst/>
          </a:prstGeom>
          <a:solidFill>
            <a:srgbClr val="232E6E"/>
          </a:solidFill>
          <a:ln/>
        </p:spPr>
        <p:txBody>
          <a:bodyPr/>
          <a:lstStyle/>
          <a:p>
            <a:endParaRPr lang="es-MX"/>
          </a:p>
        </p:txBody>
      </p:sp>
      <p:sp>
        <p:nvSpPr>
          <p:cNvPr id="14" name="Text 12"/>
          <p:cNvSpPr/>
          <p:nvPr/>
        </p:nvSpPr>
        <p:spPr>
          <a:xfrm>
            <a:off x="822960" y="3703320"/>
            <a:ext cx="548640" cy="1051560"/>
          </a:xfrm>
          <a:prstGeom prst="rect">
            <a:avLst/>
          </a:prstGeom>
          <a:noFill/>
          <a:ln/>
        </p:spPr>
        <p:txBody>
          <a:bodyPr wrap="square" rtlCol="0" anchor="ctr"/>
          <a:lstStyle/>
          <a:p>
            <a:pPr marL="0" indent="0">
              <a:buNone/>
            </a:pPr>
            <a:r>
              <a:rPr lang="en-US" sz="2200" b="1" dirty="0">
                <a:solidFill>
                  <a:srgbClr val="E8B84B"/>
                </a:solidFill>
                <a:latin typeface="Cambria" pitchFamily="34" charset="0"/>
                <a:ea typeface="Cambria" pitchFamily="34" charset="-122"/>
                <a:cs typeface="Cambria" pitchFamily="34" charset="-120"/>
              </a:rPr>
              <a:t>3</a:t>
            </a:r>
            <a:endParaRPr lang="en-US" sz="2200" dirty="0"/>
          </a:p>
        </p:txBody>
      </p:sp>
      <p:sp>
        <p:nvSpPr>
          <p:cNvPr id="15" name="Text 13"/>
          <p:cNvSpPr/>
          <p:nvPr/>
        </p:nvSpPr>
        <p:spPr>
          <a:xfrm>
            <a:off x="1463040" y="3703320"/>
            <a:ext cx="4297680" cy="1051560"/>
          </a:xfrm>
          <a:prstGeom prst="rect">
            <a:avLst/>
          </a:prstGeom>
          <a:noFill/>
          <a:ln/>
        </p:spPr>
        <p:txBody>
          <a:bodyPr wrap="square" rtlCol="0" anchor="ctr"/>
          <a:lstStyle/>
          <a:p>
            <a:pPr marL="0" indent="0">
              <a:lnSpc>
                <a:spcPts val="1600"/>
              </a:lnSpc>
              <a:buNone/>
            </a:pPr>
            <a:r>
              <a:rPr lang="en-US" sz="1300" dirty="0">
                <a:solidFill>
                  <a:srgbClr val="FFFFFF"/>
                </a:solidFill>
                <a:latin typeface="Calibri" pitchFamily="34" charset="0"/>
                <a:ea typeface="Calibri" pitchFamily="34" charset="-122"/>
                <a:cs typeface="Calibri" pitchFamily="34" charset="-120"/>
              </a:rPr>
              <a:t>Control de archivos</a:t>
            </a:r>
            <a:endParaRPr lang="en-US" sz="1300" dirty="0"/>
          </a:p>
        </p:txBody>
      </p:sp>
      <p:sp>
        <p:nvSpPr>
          <p:cNvPr id="16" name="Shape 14"/>
          <p:cNvSpPr/>
          <p:nvPr/>
        </p:nvSpPr>
        <p:spPr>
          <a:xfrm>
            <a:off x="6263640" y="3703320"/>
            <a:ext cx="5257800" cy="1051560"/>
          </a:xfrm>
          <a:prstGeom prst="rect">
            <a:avLst/>
          </a:prstGeom>
          <a:solidFill>
            <a:srgbClr val="232E6E"/>
          </a:solidFill>
          <a:ln/>
        </p:spPr>
        <p:txBody>
          <a:bodyPr/>
          <a:lstStyle/>
          <a:p>
            <a:endParaRPr lang="es-MX"/>
          </a:p>
        </p:txBody>
      </p:sp>
      <p:sp>
        <p:nvSpPr>
          <p:cNvPr id="17" name="Text 15"/>
          <p:cNvSpPr/>
          <p:nvPr/>
        </p:nvSpPr>
        <p:spPr>
          <a:xfrm>
            <a:off x="6446520" y="3703320"/>
            <a:ext cx="548640" cy="1051560"/>
          </a:xfrm>
          <a:prstGeom prst="rect">
            <a:avLst/>
          </a:prstGeom>
          <a:noFill/>
          <a:ln/>
        </p:spPr>
        <p:txBody>
          <a:bodyPr wrap="square" rtlCol="0" anchor="ctr"/>
          <a:lstStyle/>
          <a:p>
            <a:pPr marL="0" indent="0">
              <a:buNone/>
            </a:pPr>
            <a:r>
              <a:rPr lang="en-US" sz="2200" b="1" dirty="0">
                <a:solidFill>
                  <a:srgbClr val="E8B84B"/>
                </a:solidFill>
                <a:latin typeface="Cambria" pitchFamily="34" charset="0"/>
                <a:ea typeface="Cambria" pitchFamily="34" charset="-122"/>
                <a:cs typeface="Cambria" pitchFamily="34" charset="-120"/>
              </a:rPr>
              <a:t>4</a:t>
            </a:r>
            <a:endParaRPr lang="en-US" sz="2200" dirty="0"/>
          </a:p>
        </p:txBody>
      </p:sp>
      <p:sp>
        <p:nvSpPr>
          <p:cNvPr id="18" name="Text 16"/>
          <p:cNvSpPr/>
          <p:nvPr/>
        </p:nvSpPr>
        <p:spPr>
          <a:xfrm>
            <a:off x="7086600" y="3703320"/>
            <a:ext cx="4297680" cy="1051560"/>
          </a:xfrm>
          <a:prstGeom prst="rect">
            <a:avLst/>
          </a:prstGeom>
          <a:noFill/>
          <a:ln/>
        </p:spPr>
        <p:txBody>
          <a:bodyPr wrap="square" rtlCol="0" anchor="ctr"/>
          <a:lstStyle/>
          <a:p>
            <a:pPr marL="0" indent="0">
              <a:lnSpc>
                <a:spcPts val="1600"/>
              </a:lnSpc>
              <a:buNone/>
            </a:pPr>
            <a:r>
              <a:rPr lang="en-US" sz="1300" dirty="0">
                <a:solidFill>
                  <a:srgbClr val="FFFFFF"/>
                </a:solidFill>
                <a:latin typeface="Calibri" pitchFamily="34" charset="0"/>
                <a:ea typeface="Calibri" pitchFamily="34" charset="-122"/>
                <a:cs typeface="Calibri" pitchFamily="34" charset="-120"/>
              </a:rPr>
              <a:t>Identificar y resolver errores</a:t>
            </a:r>
            <a:endParaRPr lang="en-US" sz="1300" dirty="0"/>
          </a:p>
        </p:txBody>
      </p:sp>
      <p:sp>
        <p:nvSpPr>
          <p:cNvPr id="19" name="Shape 17"/>
          <p:cNvSpPr/>
          <p:nvPr/>
        </p:nvSpPr>
        <p:spPr>
          <a:xfrm>
            <a:off x="640080" y="4983480"/>
            <a:ext cx="5257800" cy="1051560"/>
          </a:xfrm>
          <a:prstGeom prst="rect">
            <a:avLst/>
          </a:prstGeom>
          <a:solidFill>
            <a:srgbClr val="232E6E"/>
          </a:solidFill>
          <a:ln/>
        </p:spPr>
        <p:txBody>
          <a:bodyPr/>
          <a:lstStyle/>
          <a:p>
            <a:endParaRPr lang="es-MX"/>
          </a:p>
        </p:txBody>
      </p:sp>
      <p:sp>
        <p:nvSpPr>
          <p:cNvPr id="20" name="Text 18"/>
          <p:cNvSpPr/>
          <p:nvPr/>
        </p:nvSpPr>
        <p:spPr>
          <a:xfrm>
            <a:off x="822960" y="4983480"/>
            <a:ext cx="548640" cy="1051560"/>
          </a:xfrm>
          <a:prstGeom prst="rect">
            <a:avLst/>
          </a:prstGeom>
          <a:noFill/>
          <a:ln/>
        </p:spPr>
        <p:txBody>
          <a:bodyPr wrap="square" rtlCol="0" anchor="ctr"/>
          <a:lstStyle/>
          <a:p>
            <a:pPr marL="0" indent="0">
              <a:buNone/>
            </a:pPr>
            <a:r>
              <a:rPr lang="en-US" sz="2200" b="1" dirty="0">
                <a:solidFill>
                  <a:srgbClr val="E8B84B"/>
                </a:solidFill>
                <a:latin typeface="Cambria" pitchFamily="34" charset="0"/>
                <a:ea typeface="Cambria" pitchFamily="34" charset="-122"/>
                <a:cs typeface="Cambria" pitchFamily="34" charset="-120"/>
              </a:rPr>
              <a:t>5</a:t>
            </a:r>
            <a:endParaRPr lang="en-US" sz="2200" dirty="0"/>
          </a:p>
        </p:txBody>
      </p:sp>
      <p:sp>
        <p:nvSpPr>
          <p:cNvPr id="21" name="Text 19"/>
          <p:cNvSpPr/>
          <p:nvPr/>
        </p:nvSpPr>
        <p:spPr>
          <a:xfrm>
            <a:off x="1463040" y="4983480"/>
            <a:ext cx="4297680" cy="1051560"/>
          </a:xfrm>
          <a:prstGeom prst="rect">
            <a:avLst/>
          </a:prstGeom>
          <a:noFill/>
          <a:ln/>
        </p:spPr>
        <p:txBody>
          <a:bodyPr wrap="square" rtlCol="0" anchor="ctr"/>
          <a:lstStyle/>
          <a:p>
            <a:pPr marL="0" indent="0">
              <a:lnSpc>
                <a:spcPts val="1600"/>
              </a:lnSpc>
              <a:buNone/>
            </a:pPr>
            <a:r>
              <a:rPr lang="en-US" sz="1300" dirty="0">
                <a:solidFill>
                  <a:srgbClr val="FFFFFF"/>
                </a:solidFill>
                <a:latin typeface="Calibri" pitchFamily="34" charset="0"/>
                <a:ea typeface="Calibri" pitchFamily="34" charset="-122"/>
                <a:cs typeface="Calibri" pitchFamily="34" charset="-120"/>
              </a:rPr>
              <a:t>Control de acceso al sistema</a:t>
            </a:r>
            <a:endParaRPr lang="en-US" sz="1300" dirty="0"/>
          </a:p>
        </p:txBody>
      </p:sp>
      <p:sp>
        <p:nvSpPr>
          <p:cNvPr id="22" name="Shape 20"/>
          <p:cNvSpPr/>
          <p:nvPr/>
        </p:nvSpPr>
        <p:spPr>
          <a:xfrm>
            <a:off x="6263640" y="4983480"/>
            <a:ext cx="5257800" cy="1051560"/>
          </a:xfrm>
          <a:prstGeom prst="rect">
            <a:avLst/>
          </a:prstGeom>
          <a:solidFill>
            <a:srgbClr val="232E6E"/>
          </a:solidFill>
          <a:ln/>
        </p:spPr>
        <p:txBody>
          <a:bodyPr/>
          <a:lstStyle/>
          <a:p>
            <a:endParaRPr lang="es-MX"/>
          </a:p>
        </p:txBody>
      </p:sp>
      <p:sp>
        <p:nvSpPr>
          <p:cNvPr id="23" name="Text 21"/>
          <p:cNvSpPr/>
          <p:nvPr/>
        </p:nvSpPr>
        <p:spPr>
          <a:xfrm>
            <a:off x="6446520" y="4983480"/>
            <a:ext cx="548640" cy="1051560"/>
          </a:xfrm>
          <a:prstGeom prst="rect">
            <a:avLst/>
          </a:prstGeom>
          <a:noFill/>
          <a:ln/>
        </p:spPr>
        <p:txBody>
          <a:bodyPr wrap="square" rtlCol="0" anchor="ctr"/>
          <a:lstStyle/>
          <a:p>
            <a:pPr marL="0" indent="0">
              <a:buNone/>
            </a:pPr>
            <a:r>
              <a:rPr lang="en-US" sz="2200" b="1" dirty="0">
                <a:solidFill>
                  <a:srgbClr val="E8B84B"/>
                </a:solidFill>
                <a:latin typeface="Cambria" pitchFamily="34" charset="0"/>
                <a:ea typeface="Cambria" pitchFamily="34" charset="-122"/>
                <a:cs typeface="Cambria" pitchFamily="34" charset="-120"/>
              </a:rPr>
              <a:t>6</a:t>
            </a:r>
            <a:endParaRPr lang="en-US" sz="2200" dirty="0"/>
          </a:p>
        </p:txBody>
      </p:sp>
      <p:sp>
        <p:nvSpPr>
          <p:cNvPr id="24" name="Text 22"/>
          <p:cNvSpPr/>
          <p:nvPr/>
        </p:nvSpPr>
        <p:spPr>
          <a:xfrm>
            <a:off x="7086600" y="4983480"/>
            <a:ext cx="4297680" cy="1051560"/>
          </a:xfrm>
          <a:prstGeom prst="rect">
            <a:avLst/>
          </a:prstGeom>
          <a:noFill/>
          <a:ln/>
        </p:spPr>
        <p:txBody>
          <a:bodyPr wrap="square" rtlCol="0" anchor="ctr"/>
          <a:lstStyle/>
          <a:p>
            <a:pPr marL="0" indent="0">
              <a:lnSpc>
                <a:spcPts val="1600"/>
              </a:lnSpc>
              <a:buNone/>
            </a:pPr>
            <a:r>
              <a:rPr lang="en-US" sz="1300" dirty="0">
                <a:solidFill>
                  <a:srgbClr val="FFFFFF"/>
                </a:solidFill>
                <a:latin typeface="Calibri" pitchFamily="34" charset="0"/>
                <a:ea typeface="Calibri" pitchFamily="34" charset="-122"/>
                <a:cs typeface="Calibri" pitchFamily="34" charset="-120"/>
              </a:rPr>
              <a:t>Contabilidad: estadísticas de uso y rendimiento</a:t>
            </a:r>
            <a:endParaRPr lang="en-US" sz="1300" dirty="0"/>
          </a:p>
        </p:txBody>
      </p:sp>
      <p:sp>
        <p:nvSpPr>
          <p:cNvPr id="25" name="Text 23"/>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POR DENTRO</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Gestión de recursos y el Kernel</a:t>
            </a:r>
            <a:endParaRPr lang="en-US" sz="2800" dirty="0"/>
          </a:p>
        </p:txBody>
      </p:sp>
      <p:sp>
        <p:nvSpPr>
          <p:cNvPr id="6" name="Shape 4"/>
          <p:cNvSpPr/>
          <p:nvPr/>
        </p:nvSpPr>
        <p:spPr>
          <a:xfrm>
            <a:off x="640080" y="1828800"/>
            <a:ext cx="10881360" cy="1737360"/>
          </a:xfrm>
          <a:prstGeom prst="rect">
            <a:avLst/>
          </a:prstGeom>
          <a:solidFill>
            <a:srgbClr val="F2F4FB"/>
          </a:solidFill>
          <a:ln/>
        </p:spPr>
        <p:txBody>
          <a:bodyPr/>
          <a:lstStyle/>
          <a:p>
            <a:endParaRPr lang="es-MX"/>
          </a:p>
        </p:txBody>
      </p:sp>
      <p:sp>
        <p:nvSpPr>
          <p:cNvPr id="7" name="Text 5"/>
          <p:cNvSpPr/>
          <p:nvPr/>
        </p:nvSpPr>
        <p:spPr>
          <a:xfrm>
            <a:off x="960120" y="2057400"/>
            <a:ext cx="10241280" cy="1371600"/>
          </a:xfrm>
          <a:prstGeom prst="rect">
            <a:avLst/>
          </a:prstGeom>
          <a:noFill/>
          <a:ln/>
        </p:spPr>
        <p:txBody>
          <a:bodyPr wrap="square" rtlCol="0" anchor="ctr"/>
          <a:lstStyle/>
          <a:p>
            <a:pPr marL="0" indent="0">
              <a:lnSpc>
                <a:spcPts val="2000"/>
              </a:lnSpc>
              <a:buNone/>
            </a:pPr>
            <a:r>
              <a:rPr lang="en-US" sz="1450" dirty="0">
                <a:solidFill>
                  <a:srgbClr val="1B1F3B"/>
                </a:solidFill>
                <a:latin typeface="Calibri" pitchFamily="34" charset="0"/>
                <a:ea typeface="Calibri" pitchFamily="34" charset="-122"/>
                <a:cs typeface="Calibri" pitchFamily="34" charset="-120"/>
              </a:rPr>
              <a:t>El sistema operativo administra los recursos del computador y tiene control directo sobre sus funciones. Es un programa más ejecutado por el procesador — la diferencia está en su propósito: dirige al procesador en la utilización de los recursos y en el tiempo de activación de programas.</a:t>
            </a:r>
            <a:endParaRPr lang="en-US" sz="1450" dirty="0"/>
          </a:p>
        </p:txBody>
      </p:sp>
      <p:sp>
        <p:nvSpPr>
          <p:cNvPr id="8" name="Shape 6"/>
          <p:cNvSpPr/>
          <p:nvPr/>
        </p:nvSpPr>
        <p:spPr>
          <a:xfrm>
            <a:off x="640080" y="3840480"/>
            <a:ext cx="10881360" cy="1828800"/>
          </a:xfrm>
          <a:prstGeom prst="rect">
            <a:avLst/>
          </a:prstGeom>
          <a:solidFill>
            <a:srgbClr val="1E2761"/>
          </a:solidFill>
          <a:ln/>
        </p:spPr>
        <p:txBody>
          <a:bodyPr/>
          <a:lstStyle/>
          <a:p>
            <a:endParaRPr lang="es-MX"/>
          </a:p>
        </p:txBody>
      </p:sp>
      <p:sp>
        <p:nvSpPr>
          <p:cNvPr id="9" name="Text 7"/>
          <p:cNvSpPr/>
          <p:nvPr/>
        </p:nvSpPr>
        <p:spPr>
          <a:xfrm>
            <a:off x="960120" y="4069080"/>
            <a:ext cx="4572000" cy="457200"/>
          </a:xfrm>
          <a:prstGeom prst="rect">
            <a:avLst/>
          </a:prstGeom>
          <a:noFill/>
          <a:ln/>
        </p:spPr>
        <p:txBody>
          <a:bodyPr wrap="square" rtlCol="0" anchor="ctr"/>
          <a:lstStyle/>
          <a:p>
            <a:pPr marL="0" indent="0">
              <a:buNone/>
            </a:pPr>
            <a:r>
              <a:rPr lang="en-US" sz="1800" b="1" dirty="0">
                <a:solidFill>
                  <a:srgbClr val="E8B84B"/>
                </a:solidFill>
                <a:latin typeface="Calibri" pitchFamily="34" charset="0"/>
                <a:ea typeface="Calibri" pitchFamily="34" charset="-122"/>
                <a:cs typeface="Calibri" pitchFamily="34" charset="-120"/>
              </a:rPr>
              <a:t>Kernel (núcleo)</a:t>
            </a:r>
            <a:endParaRPr lang="en-US" sz="1800" dirty="0"/>
          </a:p>
        </p:txBody>
      </p:sp>
      <p:sp>
        <p:nvSpPr>
          <p:cNvPr id="10" name="Text 8"/>
          <p:cNvSpPr/>
          <p:nvPr/>
        </p:nvSpPr>
        <p:spPr>
          <a:xfrm>
            <a:off x="960120" y="4572000"/>
            <a:ext cx="10241280" cy="914400"/>
          </a:xfrm>
          <a:prstGeom prst="rect">
            <a:avLst/>
          </a:prstGeom>
          <a:noFill/>
          <a:ln/>
        </p:spPr>
        <p:txBody>
          <a:bodyPr wrap="square" rtlCol="0" anchor="ctr"/>
          <a:lstStyle/>
          <a:p>
            <a:pPr marL="0" indent="0">
              <a:lnSpc>
                <a:spcPts val="1900"/>
              </a:lnSpc>
              <a:buNone/>
            </a:pPr>
            <a:r>
              <a:rPr lang="en-US" sz="1400" dirty="0">
                <a:solidFill>
                  <a:srgbClr val="FFFFFF"/>
                </a:solidFill>
                <a:latin typeface="Calibri" pitchFamily="34" charset="0"/>
                <a:ea typeface="Calibri" pitchFamily="34" charset="-122"/>
                <a:cs typeface="Calibri" pitchFamily="34" charset="-120"/>
              </a:rPr>
              <a:t>Parte del sistema operativo que reside en memoria principal y contiene las funciones manipuladas con más frecuencia. El resto de la memoria principal se compone de datos y programas de usuarios.</a:t>
            </a:r>
            <a:endParaRPr lang="en-US" sz="1400" dirty="0"/>
          </a:p>
        </p:txBody>
      </p:sp>
      <p:sp>
        <p:nvSpPr>
          <p:cNvPr id="11" name="Text 9"/>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320040"/>
          </a:xfrm>
          <a:prstGeom prst="rect">
            <a:avLst/>
          </a:prstGeom>
          <a:noFill/>
          <a:ln/>
        </p:spPr>
        <p:txBody>
          <a:bodyPr wrap="square" rtlCol="0" anchor="ctr"/>
          <a:lstStyle/>
          <a:p>
            <a:pPr marL="0" indent="0">
              <a:buNone/>
            </a:pPr>
            <a:r>
              <a:rPr lang="en-US" sz="1300" b="1" kern="0" spc="200" dirty="0">
                <a:solidFill>
                  <a:srgbClr val="E8B84B"/>
                </a:solidFill>
                <a:latin typeface="Calibri" pitchFamily="34" charset="0"/>
                <a:ea typeface="Calibri" pitchFamily="34" charset="-122"/>
                <a:cs typeface="Calibri" pitchFamily="34" charset="-120"/>
              </a:rPr>
              <a:t>UN SISTEMA OPERATIVO NO ES ESTÁTICO</a:t>
            </a:r>
            <a:endParaRPr lang="en-US" sz="1300" dirty="0"/>
          </a:p>
        </p:txBody>
      </p:sp>
      <p:sp>
        <p:nvSpPr>
          <p:cNvPr id="3" name="Text 1"/>
          <p:cNvSpPr/>
          <p:nvPr/>
        </p:nvSpPr>
        <p:spPr>
          <a:xfrm>
            <a:off x="640080" y="868680"/>
            <a:ext cx="1069848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¿Por qué evolucionan los sistemas operativos?</a:t>
            </a:r>
            <a:endParaRPr lang="en-US" sz="2800" dirty="0"/>
          </a:p>
        </p:txBody>
      </p:sp>
      <p:sp>
        <p:nvSpPr>
          <p:cNvPr id="5" name="Text 3"/>
          <p:cNvSpPr/>
          <p:nvPr/>
        </p:nvSpPr>
        <p:spPr>
          <a:xfrm>
            <a:off x="9994392" y="457200"/>
            <a:ext cx="1554480" cy="365760"/>
          </a:xfrm>
          <a:prstGeom prst="rect">
            <a:avLst/>
          </a:prstGeom>
          <a:noFill/>
          <a:ln/>
        </p:spPr>
        <p:txBody>
          <a:bodyPr wrap="square"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10 min</a:t>
            </a:r>
            <a:endParaRPr lang="en-US" sz="1200" dirty="0"/>
          </a:p>
        </p:txBody>
      </p:sp>
      <p:sp>
        <p:nvSpPr>
          <p:cNvPr id="6" name="Shape 4"/>
          <p:cNvSpPr/>
          <p:nvPr/>
        </p:nvSpPr>
        <p:spPr>
          <a:xfrm>
            <a:off x="640080" y="2103120"/>
            <a:ext cx="3520440" cy="2743200"/>
          </a:xfrm>
          <a:prstGeom prst="rect">
            <a:avLst/>
          </a:prstGeom>
          <a:solidFill>
            <a:srgbClr val="232E6E"/>
          </a:solidFill>
          <a:ln/>
        </p:spPr>
        <p:txBody>
          <a:bodyPr/>
          <a:lstStyle/>
          <a:p>
            <a:endParaRPr lang="es-MX"/>
          </a:p>
        </p:txBody>
      </p:sp>
      <p:sp>
        <p:nvSpPr>
          <p:cNvPr id="7" name="Text 5"/>
          <p:cNvSpPr/>
          <p:nvPr/>
        </p:nvSpPr>
        <p:spPr>
          <a:xfrm>
            <a:off x="914400" y="2377440"/>
            <a:ext cx="2971800" cy="822960"/>
          </a:xfrm>
          <a:prstGeom prst="rect">
            <a:avLst/>
          </a:prstGeom>
          <a:noFill/>
          <a:ln/>
        </p:spPr>
        <p:txBody>
          <a:bodyPr wrap="square" rtlCol="0" anchor="ctr"/>
          <a:lstStyle/>
          <a:p>
            <a:pPr marL="0" indent="0">
              <a:lnSpc>
                <a:spcPts val="2000"/>
              </a:lnSpc>
              <a:buNone/>
            </a:pPr>
            <a:r>
              <a:rPr lang="en-US" sz="1700" b="1" dirty="0">
                <a:solidFill>
                  <a:srgbClr val="E8B84B"/>
                </a:solidFill>
                <a:latin typeface="Calibri" pitchFamily="34" charset="0"/>
                <a:ea typeface="Calibri" pitchFamily="34" charset="-122"/>
                <a:cs typeface="Calibri" pitchFamily="34" charset="-120"/>
              </a:rPr>
              <a:t>Nuevos servicios</a:t>
            </a:r>
            <a:endParaRPr lang="en-US" sz="1700" dirty="0"/>
          </a:p>
        </p:txBody>
      </p:sp>
      <p:sp>
        <p:nvSpPr>
          <p:cNvPr id="8" name="Text 6"/>
          <p:cNvSpPr/>
          <p:nvPr/>
        </p:nvSpPr>
        <p:spPr>
          <a:xfrm>
            <a:off x="914400" y="3291840"/>
            <a:ext cx="2971800" cy="1371600"/>
          </a:xfrm>
          <a:prstGeom prst="rect">
            <a:avLst/>
          </a:prstGeom>
          <a:noFill/>
          <a:ln/>
        </p:spPr>
        <p:txBody>
          <a:bodyPr wrap="square" rtlCol="0" anchor="ctr"/>
          <a:lstStyle/>
          <a:p>
            <a:pPr marL="0" indent="0">
              <a:lnSpc>
                <a:spcPts val="1800"/>
              </a:lnSpc>
              <a:buNone/>
            </a:pPr>
            <a:r>
              <a:rPr lang="en-US" sz="1300" dirty="0">
                <a:solidFill>
                  <a:srgbClr val="FFFFFF"/>
                </a:solidFill>
                <a:latin typeface="Calibri" pitchFamily="34" charset="0"/>
                <a:ea typeface="Calibri" pitchFamily="34" charset="-122"/>
                <a:cs typeface="Calibri" pitchFamily="34" charset="-120"/>
              </a:rPr>
              <a:t>El mercado y los usuarios piden funciones que antes no existían</a:t>
            </a:r>
            <a:endParaRPr lang="en-US" sz="1300" dirty="0"/>
          </a:p>
        </p:txBody>
      </p:sp>
      <p:sp>
        <p:nvSpPr>
          <p:cNvPr id="9" name="Shape 7"/>
          <p:cNvSpPr/>
          <p:nvPr/>
        </p:nvSpPr>
        <p:spPr>
          <a:xfrm>
            <a:off x="4343400" y="2103120"/>
            <a:ext cx="3520440" cy="2743200"/>
          </a:xfrm>
          <a:prstGeom prst="rect">
            <a:avLst/>
          </a:prstGeom>
          <a:solidFill>
            <a:srgbClr val="232E6E"/>
          </a:solidFill>
          <a:ln/>
        </p:spPr>
        <p:txBody>
          <a:bodyPr/>
          <a:lstStyle/>
          <a:p>
            <a:endParaRPr lang="es-MX"/>
          </a:p>
        </p:txBody>
      </p:sp>
      <p:sp>
        <p:nvSpPr>
          <p:cNvPr id="10" name="Text 8"/>
          <p:cNvSpPr/>
          <p:nvPr/>
        </p:nvSpPr>
        <p:spPr>
          <a:xfrm>
            <a:off x="4617720" y="2377440"/>
            <a:ext cx="2971800" cy="822960"/>
          </a:xfrm>
          <a:prstGeom prst="rect">
            <a:avLst/>
          </a:prstGeom>
          <a:noFill/>
          <a:ln/>
        </p:spPr>
        <p:txBody>
          <a:bodyPr wrap="square" rtlCol="0" anchor="ctr"/>
          <a:lstStyle/>
          <a:p>
            <a:pPr marL="0" indent="0">
              <a:lnSpc>
                <a:spcPts val="2000"/>
              </a:lnSpc>
              <a:buNone/>
            </a:pPr>
            <a:r>
              <a:rPr lang="en-US" sz="1700" b="1" dirty="0">
                <a:solidFill>
                  <a:srgbClr val="E8B84B"/>
                </a:solidFill>
                <a:latin typeface="Calibri" pitchFamily="34" charset="0"/>
                <a:ea typeface="Calibri" pitchFamily="34" charset="-122"/>
                <a:cs typeface="Calibri" pitchFamily="34" charset="-120"/>
              </a:rPr>
              <a:t>Corrección de errores</a:t>
            </a:r>
            <a:endParaRPr lang="en-US" sz="1700" dirty="0"/>
          </a:p>
        </p:txBody>
      </p:sp>
      <p:sp>
        <p:nvSpPr>
          <p:cNvPr id="11" name="Text 9"/>
          <p:cNvSpPr/>
          <p:nvPr/>
        </p:nvSpPr>
        <p:spPr>
          <a:xfrm>
            <a:off x="4617720" y="3291840"/>
            <a:ext cx="2971800" cy="1371600"/>
          </a:xfrm>
          <a:prstGeom prst="rect">
            <a:avLst/>
          </a:prstGeom>
          <a:noFill/>
          <a:ln/>
        </p:spPr>
        <p:txBody>
          <a:bodyPr wrap="square" rtlCol="0" anchor="ctr"/>
          <a:lstStyle/>
          <a:p>
            <a:pPr marL="0" indent="0">
              <a:lnSpc>
                <a:spcPts val="1800"/>
              </a:lnSpc>
              <a:buNone/>
            </a:pPr>
            <a:r>
              <a:rPr lang="en-US" sz="1300" dirty="0">
                <a:solidFill>
                  <a:srgbClr val="FFFFFF"/>
                </a:solidFill>
                <a:latin typeface="Calibri" pitchFamily="34" charset="0"/>
                <a:ea typeface="Calibri" pitchFamily="34" charset="-122"/>
                <a:cs typeface="Calibri" pitchFamily="34" charset="-120"/>
              </a:rPr>
              <a:t>Todo software tiene fallas que se descubren con el uso</a:t>
            </a:r>
            <a:endParaRPr lang="en-US" sz="1300" dirty="0"/>
          </a:p>
        </p:txBody>
      </p:sp>
      <p:sp>
        <p:nvSpPr>
          <p:cNvPr id="12" name="Shape 10"/>
          <p:cNvSpPr/>
          <p:nvPr/>
        </p:nvSpPr>
        <p:spPr>
          <a:xfrm>
            <a:off x="8046720" y="2103120"/>
            <a:ext cx="3520440" cy="2743200"/>
          </a:xfrm>
          <a:prstGeom prst="rect">
            <a:avLst/>
          </a:prstGeom>
          <a:solidFill>
            <a:srgbClr val="232E6E"/>
          </a:solidFill>
          <a:ln/>
        </p:spPr>
        <p:txBody>
          <a:bodyPr/>
          <a:lstStyle/>
          <a:p>
            <a:endParaRPr lang="es-MX"/>
          </a:p>
        </p:txBody>
      </p:sp>
      <p:sp>
        <p:nvSpPr>
          <p:cNvPr id="13" name="Text 11"/>
          <p:cNvSpPr/>
          <p:nvPr/>
        </p:nvSpPr>
        <p:spPr>
          <a:xfrm>
            <a:off x="8321040" y="2377440"/>
            <a:ext cx="2971800" cy="822960"/>
          </a:xfrm>
          <a:prstGeom prst="rect">
            <a:avLst/>
          </a:prstGeom>
          <a:noFill/>
          <a:ln/>
        </p:spPr>
        <p:txBody>
          <a:bodyPr wrap="square" rtlCol="0" anchor="ctr"/>
          <a:lstStyle/>
          <a:p>
            <a:pPr marL="0" indent="0">
              <a:lnSpc>
                <a:spcPts val="2000"/>
              </a:lnSpc>
              <a:buNone/>
            </a:pPr>
            <a:r>
              <a:rPr lang="en-US" sz="1700" b="1" dirty="0">
                <a:solidFill>
                  <a:srgbClr val="E8B84B"/>
                </a:solidFill>
                <a:latin typeface="Calibri" pitchFamily="34" charset="0"/>
                <a:ea typeface="Calibri" pitchFamily="34" charset="-122"/>
                <a:cs typeface="Calibri" pitchFamily="34" charset="-120"/>
              </a:rPr>
              <a:t>Renovación de hardware</a:t>
            </a:r>
            <a:endParaRPr lang="en-US" sz="1700" dirty="0"/>
          </a:p>
        </p:txBody>
      </p:sp>
      <p:sp>
        <p:nvSpPr>
          <p:cNvPr id="14" name="Text 12"/>
          <p:cNvSpPr/>
          <p:nvPr/>
        </p:nvSpPr>
        <p:spPr>
          <a:xfrm>
            <a:off x="8321040" y="3291840"/>
            <a:ext cx="2971800" cy="1371600"/>
          </a:xfrm>
          <a:prstGeom prst="rect">
            <a:avLst/>
          </a:prstGeom>
          <a:noFill/>
          <a:ln/>
        </p:spPr>
        <p:txBody>
          <a:bodyPr wrap="square" rtlCol="0" anchor="ctr"/>
          <a:lstStyle/>
          <a:p>
            <a:pPr marL="0" indent="0">
              <a:lnSpc>
                <a:spcPts val="1800"/>
              </a:lnSpc>
              <a:buNone/>
            </a:pPr>
            <a:r>
              <a:rPr lang="en-US" sz="1300" dirty="0">
                <a:solidFill>
                  <a:srgbClr val="FFFFFF"/>
                </a:solidFill>
                <a:latin typeface="Calibri" pitchFamily="34" charset="0"/>
                <a:ea typeface="Calibri" pitchFamily="34" charset="-122"/>
                <a:cs typeface="Calibri" pitchFamily="34" charset="-120"/>
              </a:rPr>
              <a:t>El SO tiene que adaptarse a los componentes nuevos</a:t>
            </a:r>
            <a:endParaRPr lang="en-US" sz="1300" dirty="0"/>
          </a:p>
        </p:txBody>
      </p:sp>
      <p:sp>
        <p:nvSpPr>
          <p:cNvPr id="15" name="Text 13"/>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LOS PRIMEROS DOLORES DE CABEZA</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Los 2 problemas del "proceso serial"</a:t>
            </a:r>
            <a:endParaRPr lang="en-US" sz="2800" dirty="0"/>
          </a:p>
        </p:txBody>
      </p:sp>
      <p:sp>
        <p:nvSpPr>
          <p:cNvPr id="6" name="Shape 4"/>
          <p:cNvSpPr/>
          <p:nvPr/>
        </p:nvSpPr>
        <p:spPr>
          <a:xfrm>
            <a:off x="640080" y="1920240"/>
            <a:ext cx="10881360" cy="1920240"/>
          </a:xfrm>
          <a:prstGeom prst="rect">
            <a:avLst/>
          </a:prstGeom>
          <a:solidFill>
            <a:srgbClr val="F7F8FC"/>
          </a:solidFill>
          <a:ln/>
        </p:spPr>
        <p:txBody>
          <a:bodyPr/>
          <a:lstStyle/>
          <a:p>
            <a:endParaRPr lang="es-MX"/>
          </a:p>
        </p:txBody>
      </p:sp>
      <p:sp>
        <p:nvSpPr>
          <p:cNvPr id="7" name="Text 5"/>
          <p:cNvSpPr/>
          <p:nvPr/>
        </p:nvSpPr>
        <p:spPr>
          <a:xfrm>
            <a:off x="914400" y="2103120"/>
            <a:ext cx="1097280" cy="1463040"/>
          </a:xfrm>
          <a:prstGeom prst="rect">
            <a:avLst/>
          </a:prstGeom>
          <a:noFill/>
          <a:ln/>
        </p:spPr>
        <p:txBody>
          <a:bodyPr wrap="square" rtlCol="0" anchor="ctr"/>
          <a:lstStyle/>
          <a:p>
            <a:pPr marL="0" indent="0">
              <a:buNone/>
            </a:pPr>
            <a:r>
              <a:rPr lang="en-US" sz="4000" b="1" dirty="0">
                <a:solidFill>
                  <a:srgbClr val="E8B84B"/>
                </a:solidFill>
                <a:latin typeface="Cambria" pitchFamily="34" charset="0"/>
                <a:ea typeface="Cambria" pitchFamily="34" charset="-122"/>
                <a:cs typeface="Cambria" pitchFamily="34" charset="-120"/>
              </a:rPr>
              <a:t>1</a:t>
            </a:r>
            <a:endParaRPr lang="en-US" sz="4000" dirty="0"/>
          </a:p>
        </p:txBody>
      </p:sp>
      <p:sp>
        <p:nvSpPr>
          <p:cNvPr id="8" name="Text 6"/>
          <p:cNvSpPr/>
          <p:nvPr/>
        </p:nvSpPr>
        <p:spPr>
          <a:xfrm>
            <a:off x="2103120" y="2148840"/>
            <a:ext cx="9052560" cy="45720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Planificación por reserva de tiempo</a:t>
            </a:r>
            <a:endParaRPr lang="en-US" sz="1600" dirty="0"/>
          </a:p>
        </p:txBody>
      </p:sp>
      <p:sp>
        <p:nvSpPr>
          <p:cNvPr id="9" name="Text 7"/>
          <p:cNvSpPr/>
          <p:nvPr/>
        </p:nvSpPr>
        <p:spPr>
          <a:xfrm>
            <a:off x="2103120" y="2651760"/>
            <a:ext cx="9052560" cy="1097280"/>
          </a:xfrm>
          <a:prstGeom prst="rect">
            <a:avLst/>
          </a:prstGeom>
          <a:noFill/>
          <a:ln/>
        </p:spPr>
        <p:txBody>
          <a:bodyPr wrap="square" rtlCol="0" anchor="ctr"/>
          <a:lstStyle/>
          <a:p>
            <a:pPr marL="0" indent="0">
              <a:lnSpc>
                <a:spcPts val="1800"/>
              </a:lnSpc>
              <a:buNone/>
            </a:pPr>
            <a:r>
              <a:rPr lang="en-US" sz="1300" dirty="0">
                <a:solidFill>
                  <a:srgbClr val="5B6584"/>
                </a:solidFill>
                <a:latin typeface="Calibri" pitchFamily="34" charset="0"/>
                <a:ea typeface="Calibri" pitchFamily="34" charset="-122"/>
                <a:cs typeface="Calibri" pitchFamily="34" charset="-120"/>
              </a:rPr>
              <a:t>Se reservaban bloques fijos (ej. 1 hora). Si el usuario terminaba en 45 min, se desperdiciaba tiempo de máquina. Si no alcanzaba, se lo forzaba a detenerse.</a:t>
            </a:r>
            <a:endParaRPr lang="en-US" sz="1300" dirty="0"/>
          </a:p>
        </p:txBody>
      </p:sp>
      <p:sp>
        <p:nvSpPr>
          <p:cNvPr id="10" name="Shape 8"/>
          <p:cNvSpPr/>
          <p:nvPr/>
        </p:nvSpPr>
        <p:spPr>
          <a:xfrm>
            <a:off x="640080" y="4069080"/>
            <a:ext cx="10881360" cy="1920240"/>
          </a:xfrm>
          <a:prstGeom prst="rect">
            <a:avLst/>
          </a:prstGeom>
          <a:solidFill>
            <a:srgbClr val="F7F8FC"/>
          </a:solidFill>
          <a:ln/>
        </p:spPr>
        <p:txBody>
          <a:bodyPr/>
          <a:lstStyle/>
          <a:p>
            <a:endParaRPr lang="es-MX"/>
          </a:p>
        </p:txBody>
      </p:sp>
      <p:sp>
        <p:nvSpPr>
          <p:cNvPr id="11" name="Text 9"/>
          <p:cNvSpPr/>
          <p:nvPr/>
        </p:nvSpPr>
        <p:spPr>
          <a:xfrm>
            <a:off x="914400" y="4251960"/>
            <a:ext cx="1097280" cy="1463040"/>
          </a:xfrm>
          <a:prstGeom prst="rect">
            <a:avLst/>
          </a:prstGeom>
          <a:noFill/>
          <a:ln/>
        </p:spPr>
        <p:txBody>
          <a:bodyPr wrap="square" rtlCol="0" anchor="ctr"/>
          <a:lstStyle/>
          <a:p>
            <a:pPr marL="0" indent="0">
              <a:buNone/>
            </a:pPr>
            <a:r>
              <a:rPr lang="en-US" sz="4000" b="1" dirty="0">
                <a:solidFill>
                  <a:srgbClr val="E8B84B"/>
                </a:solidFill>
                <a:latin typeface="Cambria" pitchFamily="34" charset="0"/>
                <a:ea typeface="Cambria" pitchFamily="34" charset="-122"/>
                <a:cs typeface="Cambria" pitchFamily="34" charset="-120"/>
              </a:rPr>
              <a:t>2</a:t>
            </a:r>
            <a:endParaRPr lang="en-US" sz="4000" dirty="0"/>
          </a:p>
        </p:txBody>
      </p:sp>
      <p:sp>
        <p:nvSpPr>
          <p:cNvPr id="12" name="Text 10"/>
          <p:cNvSpPr/>
          <p:nvPr/>
        </p:nvSpPr>
        <p:spPr>
          <a:xfrm>
            <a:off x="2103120" y="4297680"/>
            <a:ext cx="9052560" cy="45720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Tiempo de preparación</a:t>
            </a:r>
            <a:endParaRPr lang="en-US" sz="1600" dirty="0"/>
          </a:p>
        </p:txBody>
      </p:sp>
      <p:sp>
        <p:nvSpPr>
          <p:cNvPr id="13" name="Text 11"/>
          <p:cNvSpPr/>
          <p:nvPr/>
        </p:nvSpPr>
        <p:spPr>
          <a:xfrm>
            <a:off x="2103120" y="4800600"/>
            <a:ext cx="9052560" cy="1097280"/>
          </a:xfrm>
          <a:prstGeom prst="rect">
            <a:avLst/>
          </a:prstGeom>
          <a:noFill/>
          <a:ln/>
        </p:spPr>
        <p:txBody>
          <a:bodyPr wrap="square" rtlCol="0" anchor="ctr"/>
          <a:lstStyle/>
          <a:p>
            <a:pPr marL="0" indent="0">
              <a:lnSpc>
                <a:spcPts val="1800"/>
              </a:lnSpc>
              <a:buNone/>
            </a:pPr>
            <a:r>
              <a:rPr lang="en-US" sz="1300" dirty="0">
                <a:solidFill>
                  <a:srgbClr val="5B6584"/>
                </a:solidFill>
                <a:latin typeface="Calibri" pitchFamily="34" charset="0"/>
                <a:ea typeface="Calibri" pitchFamily="34" charset="-122"/>
                <a:cs typeface="Calibri" pitchFamily="34" charset="-120"/>
              </a:rPr>
              <a:t>Cargar compilador y lenguaje, montar y cargar el programa objeto, montar/desmontar cintas o tarjetas — y si había un error, repetir TODO el proceso desde el inicio.</a:t>
            </a:r>
            <a:endParaRPr lang="en-US" sz="1300" dirty="0"/>
          </a:p>
        </p:txBody>
      </p:sp>
      <p:sp>
        <p:nvSpPr>
          <p:cNvPr id="14" name="Text 12"/>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320040"/>
          </a:xfrm>
          <a:prstGeom prst="rect">
            <a:avLst/>
          </a:prstGeom>
          <a:noFill/>
          <a:ln/>
        </p:spPr>
        <p:txBody>
          <a:bodyPr wrap="square" rtlCol="0" anchor="ctr"/>
          <a:lstStyle/>
          <a:p>
            <a:pPr marL="0" indent="0">
              <a:buNone/>
            </a:pPr>
            <a:r>
              <a:rPr lang="en-US" sz="1300" b="1" kern="0" spc="200" dirty="0">
                <a:solidFill>
                  <a:srgbClr val="E8B84B"/>
                </a:solidFill>
                <a:latin typeface="Calibri" pitchFamily="34" charset="0"/>
                <a:ea typeface="Calibri" pitchFamily="34" charset="-122"/>
                <a:cs typeface="Calibri" pitchFamily="34" charset="-120"/>
              </a:rPr>
              <a:t>LA SOLUCIÓN QUE APARECIÓ</a:t>
            </a:r>
            <a:endParaRPr lang="en-US" sz="1300" dirty="0"/>
          </a:p>
        </p:txBody>
      </p:sp>
      <p:sp>
        <p:nvSpPr>
          <p:cNvPr id="3" name="Text 1"/>
          <p:cNvSpPr/>
          <p:nvPr/>
        </p:nvSpPr>
        <p:spPr>
          <a:xfrm>
            <a:off x="640080" y="868680"/>
            <a:ext cx="1069848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Bibliotecas de rutinas y logros de la evolución</a:t>
            </a:r>
            <a:endParaRPr lang="en-US" sz="2800" dirty="0"/>
          </a:p>
        </p:txBody>
      </p:sp>
      <p:sp>
        <p:nvSpPr>
          <p:cNvPr id="5" name="Text 3"/>
          <p:cNvSpPr/>
          <p:nvPr/>
        </p:nvSpPr>
        <p:spPr>
          <a:xfrm>
            <a:off x="9994392" y="457200"/>
            <a:ext cx="1554480" cy="365760"/>
          </a:xfrm>
          <a:prstGeom prst="rect">
            <a:avLst/>
          </a:prstGeom>
          <a:noFill/>
          <a:ln/>
        </p:spPr>
        <p:txBody>
          <a:bodyPr wrap="square"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20 min</a:t>
            </a:r>
            <a:endParaRPr lang="en-US" sz="1200" dirty="0"/>
          </a:p>
        </p:txBody>
      </p:sp>
      <p:sp>
        <p:nvSpPr>
          <p:cNvPr id="6" name="Text 4"/>
          <p:cNvSpPr/>
          <p:nvPr/>
        </p:nvSpPr>
        <p:spPr>
          <a:xfrm>
            <a:off x="640080" y="1737360"/>
            <a:ext cx="10607040" cy="640080"/>
          </a:xfrm>
          <a:prstGeom prst="rect">
            <a:avLst/>
          </a:prstGeom>
          <a:noFill/>
          <a:ln/>
        </p:spPr>
        <p:txBody>
          <a:bodyPr wrap="square" rtlCol="0" anchor="ctr"/>
          <a:lstStyle/>
          <a:p>
            <a:pPr marL="0" indent="0">
              <a:lnSpc>
                <a:spcPts val="2000"/>
              </a:lnSpc>
              <a:buNone/>
            </a:pPr>
            <a:r>
              <a:rPr lang="en-US" sz="1500" dirty="0">
                <a:solidFill>
                  <a:srgbClr val="CADCFC"/>
                </a:solidFill>
                <a:latin typeface="Calibri" pitchFamily="34" charset="0"/>
                <a:ea typeface="Calibri" pitchFamily="34" charset="-122"/>
                <a:cs typeface="Calibri" pitchFamily="34" charset="-120"/>
              </a:rPr>
              <a:t>La evolución trajo bibliotecas de funciones comunes — montadores, depuradores, rutinas de gestión de E/S — disponibles para todos los usuarios.</a:t>
            </a:r>
            <a:endParaRPr lang="en-US" sz="1500" dirty="0"/>
          </a:p>
        </p:txBody>
      </p:sp>
      <p:sp>
        <p:nvSpPr>
          <p:cNvPr id="7" name="Text 5"/>
          <p:cNvSpPr/>
          <p:nvPr/>
        </p:nvSpPr>
        <p:spPr>
          <a:xfrm>
            <a:off x="640080" y="2560320"/>
            <a:ext cx="7315200" cy="365760"/>
          </a:xfrm>
          <a:prstGeom prst="rect">
            <a:avLst/>
          </a:prstGeom>
          <a:noFill/>
          <a:ln/>
        </p:spPr>
        <p:txBody>
          <a:bodyPr wrap="square" rtlCol="0" anchor="ctr"/>
          <a:lstStyle/>
          <a:p>
            <a:pPr marL="0" indent="0">
              <a:buNone/>
            </a:pPr>
            <a:r>
              <a:rPr lang="en-US" sz="1500" b="1" dirty="0">
                <a:solidFill>
                  <a:srgbClr val="E8B84B"/>
                </a:solidFill>
                <a:latin typeface="Calibri" pitchFamily="34" charset="0"/>
                <a:ea typeface="Calibri" pitchFamily="34" charset="-122"/>
                <a:cs typeface="Calibri" pitchFamily="34" charset="-120"/>
              </a:rPr>
              <a:t>Los logros más significativos:</a:t>
            </a:r>
            <a:endParaRPr lang="en-US" sz="1500" dirty="0"/>
          </a:p>
        </p:txBody>
      </p:sp>
      <p:sp>
        <p:nvSpPr>
          <p:cNvPr id="8" name="Shape 6"/>
          <p:cNvSpPr/>
          <p:nvPr/>
        </p:nvSpPr>
        <p:spPr>
          <a:xfrm>
            <a:off x="640080" y="3017520"/>
            <a:ext cx="10881360" cy="594360"/>
          </a:xfrm>
          <a:prstGeom prst="rect">
            <a:avLst/>
          </a:prstGeom>
          <a:solidFill>
            <a:srgbClr val="232E6E"/>
          </a:solidFill>
          <a:ln/>
        </p:spPr>
        <p:txBody>
          <a:bodyPr/>
          <a:lstStyle/>
          <a:p>
            <a:endParaRPr lang="es-MX"/>
          </a:p>
        </p:txBody>
      </p:sp>
      <p:sp>
        <p:nvSpPr>
          <p:cNvPr id="9" name="Text 7"/>
          <p:cNvSpPr/>
          <p:nvPr/>
        </p:nvSpPr>
        <p:spPr>
          <a:xfrm>
            <a:off x="960120" y="3017520"/>
            <a:ext cx="10241280" cy="59436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Los procesos en sí</a:t>
            </a:r>
            <a:endParaRPr lang="en-US" sz="1400" dirty="0"/>
          </a:p>
        </p:txBody>
      </p:sp>
      <p:sp>
        <p:nvSpPr>
          <p:cNvPr id="10" name="Shape 8"/>
          <p:cNvSpPr/>
          <p:nvPr/>
        </p:nvSpPr>
        <p:spPr>
          <a:xfrm>
            <a:off x="640080" y="3703320"/>
            <a:ext cx="10881360" cy="594360"/>
          </a:xfrm>
          <a:prstGeom prst="rect">
            <a:avLst/>
          </a:prstGeom>
          <a:solidFill>
            <a:srgbClr val="232E6E"/>
          </a:solidFill>
          <a:ln/>
        </p:spPr>
        <p:txBody>
          <a:bodyPr/>
          <a:lstStyle/>
          <a:p>
            <a:endParaRPr lang="es-MX"/>
          </a:p>
        </p:txBody>
      </p:sp>
      <p:sp>
        <p:nvSpPr>
          <p:cNvPr id="11" name="Text 9"/>
          <p:cNvSpPr/>
          <p:nvPr/>
        </p:nvSpPr>
        <p:spPr>
          <a:xfrm>
            <a:off x="960120" y="3703320"/>
            <a:ext cx="10241280" cy="59436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La administración de la memoria</a:t>
            </a:r>
            <a:endParaRPr lang="en-US" sz="1400" dirty="0"/>
          </a:p>
        </p:txBody>
      </p:sp>
      <p:sp>
        <p:nvSpPr>
          <p:cNvPr id="12" name="Shape 10"/>
          <p:cNvSpPr/>
          <p:nvPr/>
        </p:nvSpPr>
        <p:spPr>
          <a:xfrm>
            <a:off x="640080" y="4389120"/>
            <a:ext cx="10881360" cy="594360"/>
          </a:xfrm>
          <a:prstGeom prst="rect">
            <a:avLst/>
          </a:prstGeom>
          <a:solidFill>
            <a:srgbClr val="232E6E"/>
          </a:solidFill>
          <a:ln/>
        </p:spPr>
        <p:txBody>
          <a:bodyPr/>
          <a:lstStyle/>
          <a:p>
            <a:endParaRPr lang="es-MX"/>
          </a:p>
        </p:txBody>
      </p:sp>
      <p:sp>
        <p:nvSpPr>
          <p:cNvPr id="13" name="Text 11"/>
          <p:cNvSpPr/>
          <p:nvPr/>
        </p:nvSpPr>
        <p:spPr>
          <a:xfrm>
            <a:off x="960120" y="4389120"/>
            <a:ext cx="10241280" cy="59436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La gestión de seguridad y resguardo de información</a:t>
            </a:r>
            <a:endParaRPr lang="en-US" sz="1400" dirty="0"/>
          </a:p>
        </p:txBody>
      </p:sp>
      <p:sp>
        <p:nvSpPr>
          <p:cNvPr id="14" name="Shape 12"/>
          <p:cNvSpPr/>
          <p:nvPr/>
        </p:nvSpPr>
        <p:spPr>
          <a:xfrm>
            <a:off x="640080" y="5074920"/>
            <a:ext cx="10881360" cy="594360"/>
          </a:xfrm>
          <a:prstGeom prst="rect">
            <a:avLst/>
          </a:prstGeom>
          <a:solidFill>
            <a:srgbClr val="232E6E"/>
          </a:solidFill>
          <a:ln/>
        </p:spPr>
        <p:txBody>
          <a:bodyPr/>
          <a:lstStyle/>
          <a:p>
            <a:endParaRPr lang="es-MX"/>
          </a:p>
        </p:txBody>
      </p:sp>
      <p:sp>
        <p:nvSpPr>
          <p:cNvPr id="15" name="Text 13"/>
          <p:cNvSpPr/>
          <p:nvPr/>
        </p:nvSpPr>
        <p:spPr>
          <a:xfrm>
            <a:off x="960120" y="5074920"/>
            <a:ext cx="10241280" cy="59436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La planificación y gestión de los recursos</a:t>
            </a:r>
            <a:endParaRPr lang="en-US" sz="1400" dirty="0"/>
          </a:p>
        </p:txBody>
      </p:sp>
      <p:sp>
        <p:nvSpPr>
          <p:cNvPr id="16" name="Shape 14"/>
          <p:cNvSpPr/>
          <p:nvPr/>
        </p:nvSpPr>
        <p:spPr>
          <a:xfrm>
            <a:off x="640080" y="5760720"/>
            <a:ext cx="10881360" cy="594360"/>
          </a:xfrm>
          <a:prstGeom prst="rect">
            <a:avLst/>
          </a:prstGeom>
          <a:solidFill>
            <a:srgbClr val="232E6E"/>
          </a:solidFill>
          <a:ln/>
        </p:spPr>
        <p:txBody>
          <a:bodyPr/>
          <a:lstStyle/>
          <a:p>
            <a:endParaRPr lang="es-MX"/>
          </a:p>
        </p:txBody>
      </p:sp>
      <p:sp>
        <p:nvSpPr>
          <p:cNvPr id="17" name="Text 15"/>
          <p:cNvSpPr/>
          <p:nvPr/>
        </p:nvSpPr>
        <p:spPr>
          <a:xfrm>
            <a:off x="960120" y="5760720"/>
            <a:ext cx="10241280" cy="59436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La estructura del sistema</a:t>
            </a:r>
            <a:endParaRPr lang="en-US" sz="1400" dirty="0"/>
          </a:p>
        </p:txBody>
      </p:sp>
      <p:sp>
        <p:nvSpPr>
          <p:cNvPr id="18" name="Text 16"/>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SEGUNDA MITAD DE LA CLASE</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Protección y seguridad: ¿por qué ahora importa más?</a:t>
            </a:r>
            <a:endParaRPr lang="en-US" sz="2800" dirty="0"/>
          </a:p>
        </p:txBody>
      </p:sp>
      <p:sp>
        <p:nvSpPr>
          <p:cNvPr id="6" name="Shape 4"/>
          <p:cNvSpPr/>
          <p:nvPr/>
        </p:nvSpPr>
        <p:spPr>
          <a:xfrm>
            <a:off x="640080" y="1920240"/>
            <a:ext cx="10881360" cy="2103120"/>
          </a:xfrm>
          <a:prstGeom prst="rect">
            <a:avLst/>
          </a:prstGeom>
          <a:solidFill>
            <a:srgbClr val="F2F4FB"/>
          </a:solidFill>
          <a:ln/>
        </p:spPr>
        <p:txBody>
          <a:bodyPr/>
          <a:lstStyle/>
          <a:p>
            <a:endParaRPr lang="es-MX"/>
          </a:p>
        </p:txBody>
      </p:sp>
      <p:sp>
        <p:nvSpPr>
          <p:cNvPr id="7" name="Text 5"/>
          <p:cNvSpPr/>
          <p:nvPr/>
        </p:nvSpPr>
        <p:spPr>
          <a:xfrm>
            <a:off x="960120" y="2194560"/>
            <a:ext cx="10241280" cy="914400"/>
          </a:xfrm>
          <a:prstGeom prst="rect">
            <a:avLst/>
          </a:prstGeom>
          <a:noFill/>
          <a:ln/>
        </p:spPr>
        <p:txBody>
          <a:bodyPr wrap="square" rtlCol="0" anchor="ctr"/>
          <a:lstStyle/>
          <a:p>
            <a:pPr marL="0" indent="0">
              <a:lnSpc>
                <a:spcPts val="2100"/>
              </a:lnSpc>
              <a:buNone/>
            </a:pPr>
            <a:r>
              <a:rPr lang="en-US" sz="1600" dirty="0">
                <a:solidFill>
                  <a:srgbClr val="1B1F3B"/>
                </a:solidFill>
                <a:latin typeface="Calibri" pitchFamily="34" charset="0"/>
                <a:ea typeface="Calibri" pitchFamily="34" charset="-122"/>
                <a:cs typeface="Calibri" pitchFamily="34" charset="-120"/>
              </a:rPr>
              <a:t>El uso de los sistemas operativos a través de redes de computadoras y el tiempo compartido aumentan el requerimiento de seguridad de la información.</a:t>
            </a:r>
            <a:endParaRPr lang="en-US" sz="1600" dirty="0"/>
          </a:p>
        </p:txBody>
      </p:sp>
      <p:sp>
        <p:nvSpPr>
          <p:cNvPr id="8" name="Text 6"/>
          <p:cNvSpPr/>
          <p:nvPr/>
        </p:nvSpPr>
        <p:spPr>
          <a:xfrm>
            <a:off x="960120" y="3200400"/>
            <a:ext cx="10241280" cy="731520"/>
          </a:xfrm>
          <a:prstGeom prst="rect">
            <a:avLst/>
          </a:prstGeom>
          <a:noFill/>
          <a:ln/>
        </p:spPr>
        <p:txBody>
          <a:bodyPr wrap="square" rtlCol="0" anchor="ctr"/>
          <a:lstStyle/>
          <a:p>
            <a:pPr marL="0" indent="0">
              <a:lnSpc>
                <a:spcPts val="1800"/>
              </a:lnSpc>
              <a:buNone/>
            </a:pPr>
            <a:r>
              <a:rPr lang="en-US" sz="1350" i="1" dirty="0">
                <a:solidFill>
                  <a:srgbClr val="5B6584"/>
                </a:solidFill>
                <a:latin typeface="Calibri" pitchFamily="34" charset="0"/>
                <a:ea typeface="Calibri" pitchFamily="34" charset="-122"/>
                <a:cs typeface="Calibri" pitchFamily="34" charset="-120"/>
              </a:rPr>
              <a:t>Cuantos más usuarios y más conexiones comparten un mismo sistema, más puntos de entrada hay para que algo salga mal — a propósito o por accidente.</a:t>
            </a:r>
            <a:endParaRPr lang="en-US" sz="1350" dirty="0"/>
          </a:p>
        </p:txBody>
      </p:sp>
      <p:sp>
        <p:nvSpPr>
          <p:cNvPr id="9" name="Text 7"/>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320040"/>
          </a:xfrm>
          <a:prstGeom prst="rect">
            <a:avLst/>
          </a:prstGeom>
          <a:noFill/>
          <a:ln/>
        </p:spPr>
        <p:txBody>
          <a:bodyPr wrap="square" rtlCol="0" anchor="ctr"/>
          <a:lstStyle/>
          <a:p>
            <a:pPr marL="0" indent="0">
              <a:buNone/>
            </a:pPr>
            <a:r>
              <a:rPr lang="en-US" sz="1300" b="1" kern="0" spc="200" dirty="0">
                <a:solidFill>
                  <a:srgbClr val="E8B84B"/>
                </a:solidFill>
                <a:latin typeface="Calibri" pitchFamily="34" charset="0"/>
                <a:ea typeface="Calibri" pitchFamily="34" charset="-122"/>
                <a:cs typeface="Calibri" pitchFamily="34" charset="-120"/>
              </a:rPr>
              <a:t>SEGÚN LA OFICINA NACIONAL DE ESTÁNDARES</a:t>
            </a:r>
            <a:endParaRPr lang="en-US" sz="1300" dirty="0"/>
          </a:p>
        </p:txBody>
      </p:sp>
      <p:sp>
        <p:nvSpPr>
          <p:cNvPr id="3" name="Text 1"/>
          <p:cNvSpPr/>
          <p:nvPr/>
        </p:nvSpPr>
        <p:spPr>
          <a:xfrm>
            <a:off x="640080" y="868680"/>
            <a:ext cx="1069848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Cuatro amenazas clásicas a la seguridad</a:t>
            </a:r>
            <a:endParaRPr lang="en-US" sz="2800" dirty="0"/>
          </a:p>
        </p:txBody>
      </p:sp>
      <p:sp>
        <p:nvSpPr>
          <p:cNvPr id="6" name="Shape 4"/>
          <p:cNvSpPr/>
          <p:nvPr/>
        </p:nvSpPr>
        <p:spPr>
          <a:xfrm>
            <a:off x="640080" y="1783080"/>
            <a:ext cx="502920" cy="502920"/>
          </a:xfrm>
          <a:prstGeom prst="ellipse">
            <a:avLst/>
          </a:prstGeom>
          <a:solidFill>
            <a:srgbClr val="E8B84B"/>
          </a:solidFill>
          <a:ln/>
        </p:spPr>
        <p:txBody>
          <a:bodyPr/>
          <a:lstStyle/>
          <a:p>
            <a:endParaRPr lang="es-MX"/>
          </a:p>
        </p:txBody>
      </p:sp>
      <p:sp>
        <p:nvSpPr>
          <p:cNvPr id="7" name="Text 5"/>
          <p:cNvSpPr/>
          <p:nvPr/>
        </p:nvSpPr>
        <p:spPr>
          <a:xfrm>
            <a:off x="640080" y="1783080"/>
            <a:ext cx="502920" cy="502920"/>
          </a:xfrm>
          <a:prstGeom prst="rect">
            <a:avLst/>
          </a:prstGeom>
          <a:noFill/>
          <a:ln/>
        </p:spPr>
        <p:txBody>
          <a:bodyPr wrap="square" rtlCol="0" anchor="ctr"/>
          <a:lstStyle/>
          <a:p>
            <a:pPr marL="0" indent="0" algn="ctr">
              <a:buNone/>
            </a:pPr>
            <a:r>
              <a:rPr lang="en-US" sz="1600" b="1" dirty="0">
                <a:solidFill>
                  <a:srgbClr val="1E2761"/>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325880" y="1709928"/>
            <a:ext cx="10058400" cy="960120"/>
          </a:xfrm>
          <a:prstGeom prst="rect">
            <a:avLst/>
          </a:prstGeom>
          <a:noFill/>
          <a:ln/>
        </p:spPr>
        <p:txBody>
          <a:bodyPr wrap="square" rtlCol="0" anchor="ctr"/>
          <a:lstStyle/>
          <a:p>
            <a:pPr marL="0" indent="0">
              <a:lnSpc>
                <a:spcPts val="1700"/>
              </a:lnSpc>
              <a:buNone/>
            </a:pPr>
            <a:r>
              <a:rPr lang="en-US" sz="1350" dirty="0">
                <a:solidFill>
                  <a:srgbClr val="FFFFFF"/>
                </a:solidFill>
                <a:latin typeface="Calibri" pitchFamily="34" charset="0"/>
                <a:ea typeface="Calibri" pitchFamily="34" charset="-122"/>
                <a:cs typeface="Calibri" pitchFamily="34" charset="-120"/>
              </a:rPr>
              <a:t>Intentos organizados y deliberados de acceder a información económica de organizaciones privadas competidoras, u obtener información económica de oficinas de gobierno</a:t>
            </a:r>
            <a:endParaRPr lang="en-US" sz="1350" dirty="0"/>
          </a:p>
        </p:txBody>
      </p:sp>
      <p:sp>
        <p:nvSpPr>
          <p:cNvPr id="9" name="Shape 7"/>
          <p:cNvSpPr/>
          <p:nvPr/>
        </p:nvSpPr>
        <p:spPr>
          <a:xfrm>
            <a:off x="640080" y="2880360"/>
            <a:ext cx="502920" cy="502920"/>
          </a:xfrm>
          <a:prstGeom prst="ellipse">
            <a:avLst/>
          </a:prstGeom>
          <a:solidFill>
            <a:srgbClr val="E8B84B"/>
          </a:solidFill>
          <a:ln/>
        </p:spPr>
        <p:txBody>
          <a:bodyPr/>
          <a:lstStyle/>
          <a:p>
            <a:endParaRPr lang="es-MX"/>
          </a:p>
        </p:txBody>
      </p:sp>
      <p:sp>
        <p:nvSpPr>
          <p:cNvPr id="10" name="Text 8"/>
          <p:cNvSpPr/>
          <p:nvPr/>
        </p:nvSpPr>
        <p:spPr>
          <a:xfrm>
            <a:off x="640080" y="2880360"/>
            <a:ext cx="502920" cy="502920"/>
          </a:xfrm>
          <a:prstGeom prst="rect">
            <a:avLst/>
          </a:prstGeom>
          <a:noFill/>
          <a:ln/>
        </p:spPr>
        <p:txBody>
          <a:bodyPr wrap="square" rtlCol="0" anchor="ctr"/>
          <a:lstStyle/>
          <a:p>
            <a:pPr marL="0" indent="0" algn="ctr">
              <a:buNone/>
            </a:pPr>
            <a:r>
              <a:rPr lang="en-US" sz="1600" b="1" dirty="0">
                <a:solidFill>
                  <a:srgbClr val="1E2761"/>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1325880" y="2807208"/>
            <a:ext cx="10058400" cy="960120"/>
          </a:xfrm>
          <a:prstGeom prst="rect">
            <a:avLst/>
          </a:prstGeom>
          <a:noFill/>
          <a:ln/>
        </p:spPr>
        <p:txBody>
          <a:bodyPr wrap="square" rtlCol="0" anchor="ctr"/>
          <a:lstStyle/>
          <a:p>
            <a:pPr marL="0" indent="0">
              <a:lnSpc>
                <a:spcPts val="1700"/>
              </a:lnSpc>
              <a:buNone/>
            </a:pPr>
            <a:r>
              <a:rPr lang="en-US" sz="1350" dirty="0">
                <a:solidFill>
                  <a:srgbClr val="FFFFFF"/>
                </a:solidFill>
                <a:latin typeface="Calibri" pitchFamily="34" charset="0"/>
                <a:ea typeface="Calibri" pitchFamily="34" charset="-122"/>
                <a:cs typeface="Calibri" pitchFamily="34" charset="-120"/>
              </a:rPr>
              <a:t>Acceso inadvertido a información económica, mercantil o sobre personas</a:t>
            </a:r>
            <a:endParaRPr lang="en-US" sz="1350" dirty="0"/>
          </a:p>
        </p:txBody>
      </p:sp>
      <p:sp>
        <p:nvSpPr>
          <p:cNvPr id="12" name="Shape 10"/>
          <p:cNvSpPr/>
          <p:nvPr/>
        </p:nvSpPr>
        <p:spPr>
          <a:xfrm>
            <a:off x="640080" y="3977640"/>
            <a:ext cx="502920" cy="502920"/>
          </a:xfrm>
          <a:prstGeom prst="ellipse">
            <a:avLst/>
          </a:prstGeom>
          <a:solidFill>
            <a:srgbClr val="E8B84B"/>
          </a:solidFill>
          <a:ln/>
        </p:spPr>
        <p:txBody>
          <a:bodyPr/>
          <a:lstStyle/>
          <a:p>
            <a:endParaRPr lang="es-MX"/>
          </a:p>
        </p:txBody>
      </p:sp>
      <p:sp>
        <p:nvSpPr>
          <p:cNvPr id="13" name="Text 11"/>
          <p:cNvSpPr/>
          <p:nvPr/>
        </p:nvSpPr>
        <p:spPr>
          <a:xfrm>
            <a:off x="640080" y="3977640"/>
            <a:ext cx="502920" cy="502920"/>
          </a:xfrm>
          <a:prstGeom prst="rect">
            <a:avLst/>
          </a:prstGeom>
          <a:noFill/>
          <a:ln/>
        </p:spPr>
        <p:txBody>
          <a:bodyPr wrap="square" rtlCol="0" anchor="ctr"/>
          <a:lstStyle/>
          <a:p>
            <a:pPr marL="0" indent="0" algn="ctr">
              <a:buNone/>
            </a:pPr>
            <a:r>
              <a:rPr lang="en-US" sz="1600" b="1" dirty="0">
                <a:solidFill>
                  <a:srgbClr val="1E2761"/>
                </a:solidFill>
                <a:latin typeface="Calibri" pitchFamily="34" charset="0"/>
                <a:ea typeface="Calibri" pitchFamily="34" charset="-122"/>
                <a:cs typeface="Calibri" pitchFamily="34" charset="-120"/>
              </a:rPr>
              <a:t>3</a:t>
            </a:r>
            <a:endParaRPr lang="en-US" sz="1600" dirty="0"/>
          </a:p>
        </p:txBody>
      </p:sp>
      <p:sp>
        <p:nvSpPr>
          <p:cNvPr id="14" name="Text 12"/>
          <p:cNvSpPr/>
          <p:nvPr/>
        </p:nvSpPr>
        <p:spPr>
          <a:xfrm>
            <a:off x="1325880" y="3904488"/>
            <a:ext cx="10058400" cy="960120"/>
          </a:xfrm>
          <a:prstGeom prst="rect">
            <a:avLst/>
          </a:prstGeom>
          <a:noFill/>
          <a:ln/>
        </p:spPr>
        <p:txBody>
          <a:bodyPr wrap="square" rtlCol="0" anchor="ctr"/>
          <a:lstStyle/>
          <a:p>
            <a:pPr marL="0" indent="0">
              <a:lnSpc>
                <a:spcPts val="1700"/>
              </a:lnSpc>
              <a:buNone/>
            </a:pPr>
            <a:r>
              <a:rPr lang="en-US" sz="1350" dirty="0">
                <a:solidFill>
                  <a:srgbClr val="FFFFFF"/>
                </a:solidFill>
                <a:latin typeface="Calibri" pitchFamily="34" charset="0"/>
                <a:ea typeface="Calibri" pitchFamily="34" charset="-122"/>
                <a:cs typeface="Calibri" pitchFamily="34" charset="-120"/>
              </a:rPr>
              <a:t>Fraude intencional mediante acceso ilegal a bancos de datos económicos, financieros, legales o personales</a:t>
            </a:r>
            <a:endParaRPr lang="en-US" sz="1350" dirty="0"/>
          </a:p>
        </p:txBody>
      </p:sp>
      <p:sp>
        <p:nvSpPr>
          <p:cNvPr id="15" name="Shape 13"/>
          <p:cNvSpPr/>
          <p:nvPr/>
        </p:nvSpPr>
        <p:spPr>
          <a:xfrm>
            <a:off x="640080" y="5074920"/>
            <a:ext cx="502920" cy="502920"/>
          </a:xfrm>
          <a:prstGeom prst="ellipse">
            <a:avLst/>
          </a:prstGeom>
          <a:solidFill>
            <a:srgbClr val="E8B84B"/>
          </a:solidFill>
          <a:ln/>
        </p:spPr>
        <p:txBody>
          <a:bodyPr/>
          <a:lstStyle/>
          <a:p>
            <a:endParaRPr lang="es-MX"/>
          </a:p>
        </p:txBody>
      </p:sp>
      <p:sp>
        <p:nvSpPr>
          <p:cNvPr id="16" name="Text 14"/>
          <p:cNvSpPr/>
          <p:nvPr/>
        </p:nvSpPr>
        <p:spPr>
          <a:xfrm>
            <a:off x="640080" y="5074920"/>
            <a:ext cx="502920" cy="502920"/>
          </a:xfrm>
          <a:prstGeom prst="rect">
            <a:avLst/>
          </a:prstGeom>
          <a:noFill/>
          <a:ln/>
        </p:spPr>
        <p:txBody>
          <a:bodyPr wrap="square" rtlCol="0" anchor="ctr"/>
          <a:lstStyle/>
          <a:p>
            <a:pPr marL="0" indent="0" algn="ctr">
              <a:buNone/>
            </a:pPr>
            <a:r>
              <a:rPr lang="en-US" sz="1600" b="1" dirty="0">
                <a:solidFill>
                  <a:srgbClr val="1E2761"/>
                </a:solidFill>
                <a:latin typeface="Calibri" pitchFamily="34" charset="0"/>
                <a:ea typeface="Calibri" pitchFamily="34" charset="-122"/>
                <a:cs typeface="Calibri" pitchFamily="34" charset="-120"/>
              </a:rPr>
              <a:t>4</a:t>
            </a:r>
            <a:endParaRPr lang="en-US" sz="1600" dirty="0"/>
          </a:p>
        </p:txBody>
      </p:sp>
      <p:sp>
        <p:nvSpPr>
          <p:cNvPr id="17" name="Text 15"/>
          <p:cNvSpPr/>
          <p:nvPr/>
        </p:nvSpPr>
        <p:spPr>
          <a:xfrm>
            <a:off x="1325880" y="5001768"/>
            <a:ext cx="10058400" cy="960120"/>
          </a:xfrm>
          <a:prstGeom prst="rect">
            <a:avLst/>
          </a:prstGeom>
          <a:noFill/>
          <a:ln/>
        </p:spPr>
        <p:txBody>
          <a:bodyPr wrap="square" rtlCol="0" anchor="ctr"/>
          <a:lstStyle/>
          <a:p>
            <a:pPr marL="0" indent="0">
              <a:lnSpc>
                <a:spcPts val="1700"/>
              </a:lnSpc>
              <a:buNone/>
            </a:pPr>
            <a:r>
              <a:rPr lang="en-US" sz="1350" dirty="0">
                <a:solidFill>
                  <a:srgbClr val="FFFFFF"/>
                </a:solidFill>
                <a:latin typeface="Calibri" pitchFamily="34" charset="0"/>
                <a:ea typeface="Calibri" pitchFamily="34" charset="-122"/>
                <a:cs typeface="Calibri" pitchFamily="34" charset="-120"/>
              </a:rPr>
              <a:t>Importunación del gobierno en los derechos individuales, u opresión de los derechos individuales por la comunidad</a:t>
            </a:r>
            <a:endParaRPr lang="en-US" sz="1350" dirty="0"/>
          </a:p>
        </p:txBody>
      </p:sp>
      <p:sp>
        <p:nvSpPr>
          <p:cNvPr id="18" name="Text 16"/>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CÓMO SE PROTEGE UN SISTEMA</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Políticas generales de protección</a:t>
            </a:r>
            <a:endParaRPr lang="en-US" sz="2800" dirty="0"/>
          </a:p>
        </p:txBody>
      </p:sp>
      <p:sp>
        <p:nvSpPr>
          <p:cNvPr id="6" name="Shape 4"/>
          <p:cNvSpPr/>
          <p:nvPr/>
        </p:nvSpPr>
        <p:spPr>
          <a:xfrm>
            <a:off x="640080" y="1920240"/>
            <a:ext cx="5257800" cy="1920240"/>
          </a:xfrm>
          <a:prstGeom prst="rect">
            <a:avLst/>
          </a:prstGeom>
          <a:solidFill>
            <a:srgbClr val="F7F8FC"/>
          </a:solidFill>
          <a:ln/>
        </p:spPr>
        <p:txBody>
          <a:bodyPr/>
          <a:lstStyle/>
          <a:p>
            <a:endParaRPr lang="es-MX"/>
          </a:p>
        </p:txBody>
      </p:sp>
      <p:sp>
        <p:nvSpPr>
          <p:cNvPr id="7" name="Text 5"/>
          <p:cNvSpPr/>
          <p:nvPr/>
        </p:nvSpPr>
        <p:spPr>
          <a:xfrm>
            <a:off x="914400" y="2103120"/>
            <a:ext cx="4709160" cy="502920"/>
          </a:xfrm>
          <a:prstGeom prst="rect">
            <a:avLst/>
          </a:prstGeom>
          <a:noFill/>
          <a:ln/>
        </p:spPr>
        <p:txBody>
          <a:bodyPr wrap="square" rtlCol="0" anchor="ctr"/>
          <a:lstStyle/>
          <a:p>
            <a:pPr marL="0" indent="0">
              <a:buNone/>
            </a:pPr>
            <a:r>
              <a:rPr lang="en-US" sz="1550" b="1" dirty="0">
                <a:solidFill>
                  <a:srgbClr val="1E2761"/>
                </a:solidFill>
                <a:latin typeface="Calibri" pitchFamily="34" charset="0"/>
                <a:ea typeface="Calibri" pitchFamily="34" charset="-122"/>
                <a:cs typeface="Calibri" pitchFamily="34" charset="-120"/>
              </a:rPr>
              <a:t>No compartición</a:t>
            </a:r>
            <a:endParaRPr lang="en-US" sz="1550" dirty="0"/>
          </a:p>
        </p:txBody>
      </p:sp>
      <p:sp>
        <p:nvSpPr>
          <p:cNvPr id="8" name="Text 6"/>
          <p:cNvSpPr/>
          <p:nvPr/>
        </p:nvSpPr>
        <p:spPr>
          <a:xfrm>
            <a:off x="914400" y="2651760"/>
            <a:ext cx="4709160" cy="1097280"/>
          </a:xfrm>
          <a:prstGeom prst="rect">
            <a:avLst/>
          </a:prstGeom>
          <a:noFill/>
          <a:ln/>
        </p:spPr>
        <p:txBody>
          <a:bodyPr wrap="square" rtlCol="0" anchor="ctr"/>
          <a:lstStyle/>
          <a:p>
            <a:pPr marL="0" indent="0">
              <a:lnSpc>
                <a:spcPts val="1600"/>
              </a:lnSpc>
              <a:buNone/>
            </a:pPr>
            <a:r>
              <a:rPr lang="en-US" sz="1200" dirty="0">
                <a:solidFill>
                  <a:srgbClr val="5B6584"/>
                </a:solidFill>
                <a:latin typeface="Calibri" pitchFamily="34" charset="0"/>
                <a:ea typeface="Calibri" pitchFamily="34" charset="-122"/>
                <a:cs typeface="Calibri" pitchFamily="34" charset="-120"/>
              </a:rPr>
              <a:t>Objetos aislados: cada proceso tiene control propio sobre recursos determinados</a:t>
            </a:r>
            <a:endParaRPr lang="en-US" sz="1200" dirty="0"/>
          </a:p>
        </p:txBody>
      </p:sp>
      <p:sp>
        <p:nvSpPr>
          <p:cNvPr id="9" name="Shape 7"/>
          <p:cNvSpPr/>
          <p:nvPr/>
        </p:nvSpPr>
        <p:spPr>
          <a:xfrm>
            <a:off x="6263640" y="1920240"/>
            <a:ext cx="5257800" cy="1920240"/>
          </a:xfrm>
          <a:prstGeom prst="rect">
            <a:avLst/>
          </a:prstGeom>
          <a:solidFill>
            <a:srgbClr val="F7F8FC"/>
          </a:solidFill>
          <a:ln/>
        </p:spPr>
        <p:txBody>
          <a:bodyPr/>
          <a:lstStyle/>
          <a:p>
            <a:endParaRPr lang="es-MX"/>
          </a:p>
        </p:txBody>
      </p:sp>
      <p:sp>
        <p:nvSpPr>
          <p:cNvPr id="10" name="Text 8"/>
          <p:cNvSpPr/>
          <p:nvPr/>
        </p:nvSpPr>
        <p:spPr>
          <a:xfrm>
            <a:off x="6537960" y="2103120"/>
            <a:ext cx="4709160" cy="502920"/>
          </a:xfrm>
          <a:prstGeom prst="rect">
            <a:avLst/>
          </a:prstGeom>
          <a:noFill/>
          <a:ln/>
        </p:spPr>
        <p:txBody>
          <a:bodyPr wrap="square" rtlCol="0" anchor="ctr"/>
          <a:lstStyle/>
          <a:p>
            <a:pPr marL="0" indent="0">
              <a:buNone/>
            </a:pPr>
            <a:r>
              <a:rPr lang="en-US" sz="1550" b="1" dirty="0">
                <a:solidFill>
                  <a:srgbClr val="1E2761"/>
                </a:solidFill>
                <a:latin typeface="Calibri" pitchFamily="34" charset="0"/>
                <a:ea typeface="Calibri" pitchFamily="34" charset="-122"/>
                <a:cs typeface="Calibri" pitchFamily="34" charset="-120"/>
              </a:rPr>
              <a:t>Compartiendo los originales</a:t>
            </a:r>
            <a:endParaRPr lang="en-US" sz="1550" dirty="0"/>
          </a:p>
        </p:txBody>
      </p:sp>
      <p:sp>
        <p:nvSpPr>
          <p:cNvPr id="11" name="Text 9"/>
          <p:cNvSpPr/>
          <p:nvPr/>
        </p:nvSpPr>
        <p:spPr>
          <a:xfrm>
            <a:off x="6537960" y="2651760"/>
            <a:ext cx="4709160" cy="1097280"/>
          </a:xfrm>
          <a:prstGeom prst="rect">
            <a:avLst/>
          </a:prstGeom>
          <a:noFill/>
          <a:ln/>
        </p:spPr>
        <p:txBody>
          <a:bodyPr wrap="square" rtlCol="0" anchor="ctr"/>
          <a:lstStyle/>
          <a:p>
            <a:pPr marL="0" indent="0">
              <a:lnSpc>
                <a:spcPts val="1600"/>
              </a:lnSpc>
              <a:buNone/>
            </a:pPr>
            <a:r>
              <a:rPr lang="en-US" sz="1200" dirty="0">
                <a:solidFill>
                  <a:srgbClr val="5B6584"/>
                </a:solidFill>
                <a:latin typeface="Calibri" pitchFamily="34" charset="0"/>
                <a:ea typeface="Calibri" pitchFamily="34" charset="-122"/>
                <a:cs typeface="Calibri" pitchFamily="34" charset="-120"/>
              </a:rPr>
              <a:t>Código reentrante: copia física única de un programa, presentado como archivo de lectura en distintos lugares de la memoria virtual</a:t>
            </a:r>
            <a:endParaRPr lang="en-US" sz="1200" dirty="0"/>
          </a:p>
        </p:txBody>
      </p:sp>
      <p:sp>
        <p:nvSpPr>
          <p:cNvPr id="12" name="Shape 10"/>
          <p:cNvSpPr/>
          <p:nvPr/>
        </p:nvSpPr>
        <p:spPr>
          <a:xfrm>
            <a:off x="640080" y="4069080"/>
            <a:ext cx="5257800" cy="1920240"/>
          </a:xfrm>
          <a:prstGeom prst="rect">
            <a:avLst/>
          </a:prstGeom>
          <a:solidFill>
            <a:srgbClr val="F7F8FC"/>
          </a:solidFill>
          <a:ln/>
        </p:spPr>
        <p:txBody>
          <a:bodyPr/>
          <a:lstStyle/>
          <a:p>
            <a:endParaRPr lang="es-MX"/>
          </a:p>
        </p:txBody>
      </p:sp>
      <p:sp>
        <p:nvSpPr>
          <p:cNvPr id="13" name="Text 11"/>
          <p:cNvSpPr/>
          <p:nvPr/>
        </p:nvSpPr>
        <p:spPr>
          <a:xfrm>
            <a:off x="914400" y="4251960"/>
            <a:ext cx="4709160" cy="502920"/>
          </a:xfrm>
          <a:prstGeom prst="rect">
            <a:avLst/>
          </a:prstGeom>
          <a:noFill/>
          <a:ln/>
        </p:spPr>
        <p:txBody>
          <a:bodyPr wrap="square" rtlCol="0" anchor="ctr"/>
          <a:lstStyle/>
          <a:p>
            <a:pPr marL="0" indent="0">
              <a:buNone/>
            </a:pPr>
            <a:r>
              <a:rPr lang="en-US" sz="1550" b="1" dirty="0">
                <a:solidFill>
                  <a:srgbClr val="1E2761"/>
                </a:solidFill>
                <a:latin typeface="Calibri" pitchFamily="34" charset="0"/>
                <a:ea typeface="Calibri" pitchFamily="34" charset="-122"/>
                <a:cs typeface="Calibri" pitchFamily="34" charset="-120"/>
              </a:rPr>
              <a:t>Subsistemas sin memoria</a:t>
            </a:r>
            <a:endParaRPr lang="en-US" sz="1550" dirty="0"/>
          </a:p>
        </p:txBody>
      </p:sp>
      <p:sp>
        <p:nvSpPr>
          <p:cNvPr id="14" name="Text 12"/>
          <p:cNvSpPr/>
          <p:nvPr/>
        </p:nvSpPr>
        <p:spPr>
          <a:xfrm>
            <a:off x="914400" y="4800600"/>
            <a:ext cx="4709160" cy="1097280"/>
          </a:xfrm>
          <a:prstGeom prst="rect">
            <a:avLst/>
          </a:prstGeom>
          <a:noFill/>
          <a:ln/>
        </p:spPr>
        <p:txBody>
          <a:bodyPr wrap="square" rtlCol="0" anchor="ctr"/>
          <a:lstStyle/>
          <a:p>
            <a:pPr marL="0" indent="0">
              <a:lnSpc>
                <a:spcPts val="1600"/>
              </a:lnSpc>
              <a:buNone/>
            </a:pPr>
            <a:r>
              <a:rPr lang="en-US" sz="1200" dirty="0">
                <a:solidFill>
                  <a:srgbClr val="5B6584"/>
                </a:solidFill>
                <a:latin typeface="Calibri" pitchFamily="34" charset="0"/>
                <a:ea typeface="Calibri" pitchFamily="34" charset="-122"/>
                <a:cs typeface="Calibri" pitchFamily="34" charset="-120"/>
              </a:rPr>
              <a:t>Agrupación en subsistemas (ej. cliente/servidor); ambos procesos protegen su información durante la interacción</a:t>
            </a:r>
            <a:endParaRPr lang="en-US" sz="1200" dirty="0"/>
          </a:p>
        </p:txBody>
      </p:sp>
      <p:sp>
        <p:nvSpPr>
          <p:cNvPr id="15" name="Shape 13"/>
          <p:cNvSpPr/>
          <p:nvPr/>
        </p:nvSpPr>
        <p:spPr>
          <a:xfrm>
            <a:off x="6263640" y="4069080"/>
            <a:ext cx="5257800" cy="1920240"/>
          </a:xfrm>
          <a:prstGeom prst="rect">
            <a:avLst/>
          </a:prstGeom>
          <a:solidFill>
            <a:srgbClr val="F7F8FC"/>
          </a:solidFill>
          <a:ln/>
        </p:spPr>
        <p:txBody>
          <a:bodyPr/>
          <a:lstStyle/>
          <a:p>
            <a:endParaRPr lang="es-MX"/>
          </a:p>
        </p:txBody>
      </p:sp>
      <p:sp>
        <p:nvSpPr>
          <p:cNvPr id="16" name="Text 14"/>
          <p:cNvSpPr/>
          <p:nvPr/>
        </p:nvSpPr>
        <p:spPr>
          <a:xfrm>
            <a:off x="6537960" y="4251960"/>
            <a:ext cx="4709160" cy="502920"/>
          </a:xfrm>
          <a:prstGeom prst="rect">
            <a:avLst/>
          </a:prstGeom>
          <a:noFill/>
          <a:ln/>
        </p:spPr>
        <p:txBody>
          <a:bodyPr wrap="square" rtlCol="0" anchor="ctr"/>
          <a:lstStyle/>
          <a:p>
            <a:pPr marL="0" indent="0">
              <a:buNone/>
            </a:pPr>
            <a:r>
              <a:rPr lang="en-US" sz="1550" b="1" dirty="0">
                <a:solidFill>
                  <a:srgbClr val="1E2761"/>
                </a:solidFill>
                <a:latin typeface="Calibri" pitchFamily="34" charset="0"/>
                <a:ea typeface="Calibri" pitchFamily="34" charset="-122"/>
                <a:cs typeface="Calibri" pitchFamily="34" charset="-120"/>
              </a:rPr>
              <a:t>Diseminación controlada</a:t>
            </a:r>
            <a:endParaRPr lang="en-US" sz="1550" dirty="0"/>
          </a:p>
        </p:txBody>
      </p:sp>
      <p:sp>
        <p:nvSpPr>
          <p:cNvPr id="17" name="Text 15"/>
          <p:cNvSpPr/>
          <p:nvPr/>
        </p:nvSpPr>
        <p:spPr>
          <a:xfrm>
            <a:off x="6537960" y="4800600"/>
            <a:ext cx="4709160" cy="1097280"/>
          </a:xfrm>
          <a:prstGeom prst="rect">
            <a:avLst/>
          </a:prstGeom>
          <a:noFill/>
          <a:ln/>
        </p:spPr>
        <p:txBody>
          <a:bodyPr wrap="square" rtlCol="0" anchor="ctr"/>
          <a:lstStyle/>
          <a:p>
            <a:pPr marL="0" indent="0">
              <a:lnSpc>
                <a:spcPts val="1600"/>
              </a:lnSpc>
              <a:buNone/>
            </a:pPr>
            <a:r>
              <a:rPr lang="en-US" sz="1200" dirty="0">
                <a:solidFill>
                  <a:srgbClr val="5B6584"/>
                </a:solidFill>
                <a:latin typeface="Calibri" pitchFamily="34" charset="0"/>
                <a:ea typeface="Calibri" pitchFamily="34" charset="-122"/>
                <a:cs typeface="Calibri" pitchFamily="34" charset="-120"/>
              </a:rPr>
              <a:t>Credenciales de seguridad con niveles específicos que determinan el uso y acceso a la información — típico en contextos comerciales y militares</a:t>
            </a:r>
            <a:endParaRPr lang="en-US" sz="1200" dirty="0"/>
          </a:p>
        </p:txBody>
      </p:sp>
      <p:sp>
        <p:nvSpPr>
          <p:cNvPr id="18" name="Text 16"/>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320040"/>
          </a:xfrm>
          <a:prstGeom prst="rect">
            <a:avLst/>
          </a:prstGeom>
          <a:noFill/>
          <a:ln/>
        </p:spPr>
        <p:txBody>
          <a:bodyPr wrap="square" rtlCol="0" anchor="ctr"/>
          <a:lstStyle/>
          <a:p>
            <a:pPr marL="0" indent="0">
              <a:buNone/>
            </a:pPr>
            <a:r>
              <a:rPr lang="en-US" sz="1300" b="1" kern="0" spc="200" dirty="0">
                <a:solidFill>
                  <a:srgbClr val="E8B84B"/>
                </a:solidFill>
                <a:latin typeface="Calibri" pitchFamily="34" charset="0"/>
                <a:ea typeface="Calibri" pitchFamily="34" charset="-122"/>
                <a:cs typeface="Calibri" pitchFamily="34" charset="-120"/>
              </a:rPr>
              <a:t>REGULANDO EL ACCESO</a:t>
            </a:r>
            <a:endParaRPr lang="en-US" sz="1300" dirty="0"/>
          </a:p>
        </p:txBody>
      </p:sp>
      <p:sp>
        <p:nvSpPr>
          <p:cNvPr id="3" name="Text 1"/>
          <p:cNvSpPr/>
          <p:nvPr/>
        </p:nvSpPr>
        <p:spPr>
          <a:xfrm>
            <a:off x="640080" y="868680"/>
            <a:ext cx="1069848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Lista de control de acceso vs. capacidades</a:t>
            </a:r>
            <a:endParaRPr lang="en-US" sz="2800" dirty="0"/>
          </a:p>
        </p:txBody>
      </p:sp>
      <p:sp>
        <p:nvSpPr>
          <p:cNvPr id="5" name="Text 3"/>
          <p:cNvSpPr/>
          <p:nvPr/>
        </p:nvSpPr>
        <p:spPr>
          <a:xfrm>
            <a:off x="9994392" y="457200"/>
            <a:ext cx="1554480" cy="365760"/>
          </a:xfrm>
          <a:prstGeom prst="rect">
            <a:avLst/>
          </a:prstGeom>
          <a:noFill/>
          <a:ln/>
        </p:spPr>
        <p:txBody>
          <a:bodyPr wrap="square"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25 min</a:t>
            </a:r>
            <a:endParaRPr lang="en-US" sz="1200" dirty="0"/>
          </a:p>
        </p:txBody>
      </p:sp>
      <p:sp>
        <p:nvSpPr>
          <p:cNvPr id="6" name="Shape 4"/>
          <p:cNvSpPr/>
          <p:nvPr/>
        </p:nvSpPr>
        <p:spPr>
          <a:xfrm>
            <a:off x="640080" y="2011680"/>
            <a:ext cx="10881360" cy="1325880"/>
          </a:xfrm>
          <a:prstGeom prst="rect">
            <a:avLst/>
          </a:prstGeom>
          <a:solidFill>
            <a:srgbClr val="232E6E"/>
          </a:solidFill>
          <a:ln/>
        </p:spPr>
        <p:txBody>
          <a:bodyPr/>
          <a:lstStyle/>
          <a:p>
            <a:endParaRPr lang="es-MX"/>
          </a:p>
        </p:txBody>
      </p:sp>
      <p:sp>
        <p:nvSpPr>
          <p:cNvPr id="7" name="Text 5"/>
          <p:cNvSpPr/>
          <p:nvPr/>
        </p:nvSpPr>
        <p:spPr>
          <a:xfrm>
            <a:off x="960120" y="2194560"/>
            <a:ext cx="10241280" cy="411480"/>
          </a:xfrm>
          <a:prstGeom prst="rect">
            <a:avLst/>
          </a:prstGeom>
          <a:noFill/>
          <a:ln/>
        </p:spPr>
        <p:txBody>
          <a:bodyPr wrap="square" rtlCol="0" anchor="ctr"/>
          <a:lstStyle/>
          <a:p>
            <a:pPr marL="0" indent="0">
              <a:buNone/>
            </a:pPr>
            <a:r>
              <a:rPr lang="en-US" sz="1600" b="1" dirty="0">
                <a:solidFill>
                  <a:srgbClr val="E8B84B"/>
                </a:solidFill>
                <a:latin typeface="Calibri" pitchFamily="34" charset="0"/>
                <a:ea typeface="Calibri" pitchFamily="34" charset="-122"/>
                <a:cs typeface="Calibri" pitchFamily="34" charset="-120"/>
              </a:rPr>
              <a:t>Acceso controlado</a:t>
            </a:r>
            <a:endParaRPr lang="en-US" sz="1600" dirty="0"/>
          </a:p>
        </p:txBody>
      </p:sp>
      <p:sp>
        <p:nvSpPr>
          <p:cNvPr id="8" name="Text 6"/>
          <p:cNvSpPr/>
          <p:nvPr/>
        </p:nvSpPr>
        <p:spPr>
          <a:xfrm>
            <a:off x="960120" y="2651760"/>
            <a:ext cx="10241280" cy="594360"/>
          </a:xfrm>
          <a:prstGeom prst="rect">
            <a:avLst/>
          </a:prstGeom>
          <a:noFill/>
          <a:ln/>
        </p:spPr>
        <p:txBody>
          <a:bodyPr wrap="square" rtlCol="0" anchor="ctr"/>
          <a:lstStyle/>
          <a:p>
            <a:pPr marL="0" indent="0">
              <a:lnSpc>
                <a:spcPts val="1700"/>
              </a:lnSpc>
              <a:buNone/>
            </a:pPr>
            <a:r>
              <a:rPr lang="en-US" sz="1300" dirty="0">
                <a:solidFill>
                  <a:srgbClr val="FFFFFF"/>
                </a:solidFill>
                <a:latin typeface="Calibri" pitchFamily="34" charset="0"/>
                <a:ea typeface="Calibri" pitchFamily="34" charset="-122"/>
                <a:cs typeface="Calibri" pitchFamily="34" charset="-120"/>
              </a:rPr>
              <a:t>Regulación del acceso de los usuarios a los sistemas y a los datos</a:t>
            </a:r>
            <a:endParaRPr lang="en-US" sz="1300" dirty="0"/>
          </a:p>
        </p:txBody>
      </p:sp>
      <p:sp>
        <p:nvSpPr>
          <p:cNvPr id="9" name="Shape 7"/>
          <p:cNvSpPr/>
          <p:nvPr/>
        </p:nvSpPr>
        <p:spPr>
          <a:xfrm>
            <a:off x="640080" y="3474720"/>
            <a:ext cx="10881360" cy="1325880"/>
          </a:xfrm>
          <a:prstGeom prst="rect">
            <a:avLst/>
          </a:prstGeom>
          <a:solidFill>
            <a:srgbClr val="232E6E"/>
          </a:solidFill>
          <a:ln/>
        </p:spPr>
        <p:txBody>
          <a:bodyPr/>
          <a:lstStyle/>
          <a:p>
            <a:endParaRPr lang="es-MX"/>
          </a:p>
        </p:txBody>
      </p:sp>
      <p:sp>
        <p:nvSpPr>
          <p:cNvPr id="10" name="Text 8"/>
          <p:cNvSpPr/>
          <p:nvPr/>
        </p:nvSpPr>
        <p:spPr>
          <a:xfrm>
            <a:off x="960120" y="3657600"/>
            <a:ext cx="10241280" cy="411480"/>
          </a:xfrm>
          <a:prstGeom prst="rect">
            <a:avLst/>
          </a:prstGeom>
          <a:noFill/>
          <a:ln/>
        </p:spPr>
        <p:txBody>
          <a:bodyPr wrap="square" rtlCol="0" anchor="ctr"/>
          <a:lstStyle/>
          <a:p>
            <a:pPr marL="0" indent="0">
              <a:buNone/>
            </a:pPr>
            <a:r>
              <a:rPr lang="en-US" sz="1600" b="1" dirty="0">
                <a:solidFill>
                  <a:srgbClr val="E8B84B"/>
                </a:solidFill>
                <a:latin typeface="Calibri" pitchFamily="34" charset="0"/>
                <a:ea typeface="Calibri" pitchFamily="34" charset="-122"/>
                <a:cs typeface="Calibri" pitchFamily="34" charset="-120"/>
              </a:rPr>
              <a:t>Flujo de información controlado</a:t>
            </a:r>
            <a:endParaRPr lang="en-US" sz="1600" dirty="0"/>
          </a:p>
        </p:txBody>
      </p:sp>
      <p:sp>
        <p:nvSpPr>
          <p:cNvPr id="11" name="Text 9"/>
          <p:cNvSpPr/>
          <p:nvPr/>
        </p:nvSpPr>
        <p:spPr>
          <a:xfrm>
            <a:off x="960120" y="4114800"/>
            <a:ext cx="10241280" cy="594360"/>
          </a:xfrm>
          <a:prstGeom prst="rect">
            <a:avLst/>
          </a:prstGeom>
          <a:noFill/>
          <a:ln/>
        </p:spPr>
        <p:txBody>
          <a:bodyPr wrap="square" rtlCol="0" anchor="ctr"/>
          <a:lstStyle/>
          <a:p>
            <a:pPr marL="0" indent="0">
              <a:lnSpc>
                <a:spcPts val="1700"/>
              </a:lnSpc>
              <a:buNone/>
            </a:pPr>
            <a:r>
              <a:rPr lang="en-US" sz="1300" dirty="0">
                <a:solidFill>
                  <a:srgbClr val="FFFFFF"/>
                </a:solidFill>
                <a:latin typeface="Calibri" pitchFamily="34" charset="0"/>
                <a:ea typeface="Calibri" pitchFamily="34" charset="-122"/>
                <a:cs typeface="Calibri" pitchFamily="34" charset="-120"/>
              </a:rPr>
              <a:t>Gestión del flujo de datos distribuidos por los usuarios dentro del sistema</a:t>
            </a:r>
            <a:endParaRPr lang="en-US" sz="1300" dirty="0"/>
          </a:p>
        </p:txBody>
      </p:sp>
      <p:sp>
        <p:nvSpPr>
          <p:cNvPr id="12" name="Shape 10"/>
          <p:cNvSpPr/>
          <p:nvPr/>
        </p:nvSpPr>
        <p:spPr>
          <a:xfrm>
            <a:off x="640080" y="4937760"/>
            <a:ext cx="10881360" cy="1325880"/>
          </a:xfrm>
          <a:prstGeom prst="rect">
            <a:avLst/>
          </a:prstGeom>
          <a:solidFill>
            <a:srgbClr val="232E6E"/>
          </a:solidFill>
          <a:ln/>
        </p:spPr>
        <p:txBody>
          <a:bodyPr/>
          <a:lstStyle/>
          <a:p>
            <a:endParaRPr lang="es-MX"/>
          </a:p>
        </p:txBody>
      </p:sp>
      <p:sp>
        <p:nvSpPr>
          <p:cNvPr id="13" name="Text 11"/>
          <p:cNvSpPr/>
          <p:nvPr/>
        </p:nvSpPr>
        <p:spPr>
          <a:xfrm>
            <a:off x="960120" y="5120640"/>
            <a:ext cx="10241280" cy="411480"/>
          </a:xfrm>
          <a:prstGeom prst="rect">
            <a:avLst/>
          </a:prstGeom>
          <a:noFill/>
          <a:ln/>
        </p:spPr>
        <p:txBody>
          <a:bodyPr wrap="square" rtlCol="0" anchor="ctr"/>
          <a:lstStyle/>
          <a:p>
            <a:pPr marL="0" indent="0">
              <a:buNone/>
            </a:pPr>
            <a:r>
              <a:rPr lang="en-US" sz="1600" b="1" dirty="0">
                <a:solidFill>
                  <a:srgbClr val="E8B84B"/>
                </a:solidFill>
                <a:latin typeface="Calibri" pitchFamily="34" charset="0"/>
                <a:ea typeface="Calibri" pitchFamily="34" charset="-122"/>
                <a:cs typeface="Calibri" pitchFamily="34" charset="-120"/>
              </a:rPr>
              <a:t>Certificación</a:t>
            </a:r>
            <a:endParaRPr lang="en-US" sz="1600" dirty="0"/>
          </a:p>
        </p:txBody>
      </p:sp>
      <p:sp>
        <p:nvSpPr>
          <p:cNvPr id="14" name="Text 12"/>
          <p:cNvSpPr/>
          <p:nvPr/>
        </p:nvSpPr>
        <p:spPr>
          <a:xfrm>
            <a:off x="960120" y="5577840"/>
            <a:ext cx="10241280" cy="594360"/>
          </a:xfrm>
          <a:prstGeom prst="rect">
            <a:avLst/>
          </a:prstGeom>
          <a:noFill/>
          <a:ln/>
        </p:spPr>
        <p:txBody>
          <a:bodyPr wrap="square" rtlCol="0" anchor="ctr"/>
          <a:lstStyle/>
          <a:p>
            <a:pPr marL="0" indent="0">
              <a:lnSpc>
                <a:spcPts val="1700"/>
              </a:lnSpc>
              <a:buNone/>
            </a:pPr>
            <a:r>
              <a:rPr lang="en-US" sz="1300" dirty="0">
                <a:solidFill>
                  <a:srgbClr val="FFFFFF"/>
                </a:solidFill>
                <a:latin typeface="Calibri" pitchFamily="34" charset="0"/>
                <a:ea typeface="Calibri" pitchFamily="34" charset="-122"/>
                <a:cs typeface="Calibri" pitchFamily="34" charset="-120"/>
              </a:rPr>
              <a:t>Asegura el cumplimiento de las políticas de seguridad y protección en los flujos de datos y accesos</a:t>
            </a:r>
            <a:endParaRPr lang="en-US" sz="1300" dirty="0"/>
          </a:p>
        </p:txBody>
      </p:sp>
      <p:sp>
        <p:nvSpPr>
          <p:cNvPr id="15" name="Text 13"/>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LA ÚLTIMA CAPA DE PROTECCIÓN</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Cifrado y autenticación</a:t>
            </a:r>
            <a:endParaRPr lang="en-US" sz="2800" dirty="0"/>
          </a:p>
        </p:txBody>
      </p:sp>
      <p:sp>
        <p:nvSpPr>
          <p:cNvPr id="6" name="Shape 4"/>
          <p:cNvSpPr/>
          <p:nvPr/>
        </p:nvSpPr>
        <p:spPr>
          <a:xfrm>
            <a:off x="640080" y="2011680"/>
            <a:ext cx="5349240" cy="2926080"/>
          </a:xfrm>
          <a:prstGeom prst="rect">
            <a:avLst/>
          </a:prstGeom>
          <a:solidFill>
            <a:srgbClr val="F2F4FB"/>
          </a:solidFill>
          <a:ln/>
        </p:spPr>
        <p:txBody>
          <a:bodyPr/>
          <a:lstStyle/>
          <a:p>
            <a:endParaRPr lang="es-MX"/>
          </a:p>
        </p:txBody>
      </p:sp>
      <p:sp>
        <p:nvSpPr>
          <p:cNvPr id="7" name="Text 5"/>
          <p:cNvSpPr/>
          <p:nvPr/>
        </p:nvSpPr>
        <p:spPr>
          <a:xfrm>
            <a:off x="960120" y="2286000"/>
            <a:ext cx="4754880" cy="457200"/>
          </a:xfrm>
          <a:prstGeom prst="rect">
            <a:avLst/>
          </a:prstGeom>
          <a:noFill/>
          <a:ln/>
        </p:spPr>
        <p:txBody>
          <a:bodyPr wrap="square" rtlCol="0" anchor="ctr"/>
          <a:lstStyle/>
          <a:p>
            <a:pPr marL="0" indent="0">
              <a:buNone/>
            </a:pPr>
            <a:r>
              <a:rPr lang="en-US" sz="1800" b="1" dirty="0">
                <a:solidFill>
                  <a:srgbClr val="1E2761"/>
                </a:solidFill>
                <a:latin typeface="Calibri" pitchFamily="34" charset="0"/>
                <a:ea typeface="Calibri" pitchFamily="34" charset="-122"/>
                <a:cs typeface="Calibri" pitchFamily="34" charset="-120"/>
              </a:rPr>
              <a:t>Cifrado</a:t>
            </a:r>
            <a:endParaRPr lang="en-US" sz="1800" dirty="0"/>
          </a:p>
        </p:txBody>
      </p:sp>
      <p:sp>
        <p:nvSpPr>
          <p:cNvPr id="8" name="Text 6"/>
          <p:cNvSpPr/>
          <p:nvPr/>
        </p:nvSpPr>
        <p:spPr>
          <a:xfrm>
            <a:off x="960120" y="2834640"/>
            <a:ext cx="4754880" cy="1920240"/>
          </a:xfrm>
          <a:prstGeom prst="rect">
            <a:avLst/>
          </a:prstGeom>
          <a:noFill/>
          <a:ln/>
        </p:spPr>
        <p:txBody>
          <a:bodyPr wrap="square" rtlCol="0" anchor="ctr"/>
          <a:lstStyle/>
          <a:p>
            <a:pPr marL="0" indent="0">
              <a:lnSpc>
                <a:spcPts val="1900"/>
              </a:lnSpc>
              <a:buNone/>
            </a:pPr>
            <a:r>
              <a:rPr lang="en-US" sz="1400" dirty="0">
                <a:solidFill>
                  <a:srgbClr val="1B1F3B"/>
                </a:solidFill>
                <a:latin typeface="Calibri" pitchFamily="34" charset="0"/>
                <a:ea typeface="Calibri" pitchFamily="34" charset="-122"/>
                <a:cs typeface="Calibri" pitchFamily="34" charset="-120"/>
              </a:rPr>
              <a:t>Codifica la comunicación en el origen y la decodifica en el destino. Imposibilita el acceso a transmisiones interceptadas por agentes no autorizados.</a:t>
            </a:r>
            <a:endParaRPr lang="en-US" sz="1400" dirty="0"/>
          </a:p>
        </p:txBody>
      </p:sp>
      <p:sp>
        <p:nvSpPr>
          <p:cNvPr id="9" name="Shape 7"/>
          <p:cNvSpPr/>
          <p:nvPr/>
        </p:nvSpPr>
        <p:spPr>
          <a:xfrm>
            <a:off x="6172200" y="2011680"/>
            <a:ext cx="5349240" cy="2926080"/>
          </a:xfrm>
          <a:prstGeom prst="rect">
            <a:avLst/>
          </a:prstGeom>
          <a:solidFill>
            <a:srgbClr val="F2F4FB"/>
          </a:solidFill>
          <a:ln/>
        </p:spPr>
        <p:txBody>
          <a:bodyPr/>
          <a:lstStyle/>
          <a:p>
            <a:endParaRPr lang="es-MX"/>
          </a:p>
        </p:txBody>
      </p:sp>
      <p:sp>
        <p:nvSpPr>
          <p:cNvPr id="10" name="Text 8"/>
          <p:cNvSpPr/>
          <p:nvPr/>
        </p:nvSpPr>
        <p:spPr>
          <a:xfrm>
            <a:off x="6492240" y="2286000"/>
            <a:ext cx="4754880" cy="457200"/>
          </a:xfrm>
          <a:prstGeom prst="rect">
            <a:avLst/>
          </a:prstGeom>
          <a:noFill/>
          <a:ln/>
        </p:spPr>
        <p:txBody>
          <a:bodyPr wrap="square" rtlCol="0" anchor="ctr"/>
          <a:lstStyle/>
          <a:p>
            <a:pPr marL="0" indent="0">
              <a:buNone/>
            </a:pPr>
            <a:r>
              <a:rPr lang="en-US" sz="1800" b="1" dirty="0">
                <a:solidFill>
                  <a:srgbClr val="1E2761"/>
                </a:solidFill>
                <a:latin typeface="Calibri" pitchFamily="34" charset="0"/>
                <a:ea typeface="Calibri" pitchFamily="34" charset="-122"/>
                <a:cs typeface="Calibri" pitchFamily="34" charset="-120"/>
              </a:rPr>
              <a:t>Autenticación</a:t>
            </a:r>
            <a:endParaRPr lang="en-US" sz="1800" dirty="0"/>
          </a:p>
        </p:txBody>
      </p:sp>
      <p:sp>
        <p:nvSpPr>
          <p:cNvPr id="11" name="Text 9"/>
          <p:cNvSpPr/>
          <p:nvPr/>
        </p:nvSpPr>
        <p:spPr>
          <a:xfrm>
            <a:off x="6492240" y="2834640"/>
            <a:ext cx="4754880" cy="1920240"/>
          </a:xfrm>
          <a:prstGeom prst="rect">
            <a:avLst/>
          </a:prstGeom>
          <a:noFill/>
          <a:ln/>
        </p:spPr>
        <p:txBody>
          <a:bodyPr wrap="square" rtlCol="0" anchor="ctr"/>
          <a:lstStyle/>
          <a:p>
            <a:pPr marL="0" indent="0">
              <a:lnSpc>
                <a:spcPts val="1900"/>
              </a:lnSpc>
              <a:buNone/>
            </a:pPr>
            <a:r>
              <a:rPr lang="en-US" sz="1400" dirty="0">
                <a:solidFill>
                  <a:srgbClr val="1B1F3B"/>
                </a:solidFill>
                <a:latin typeface="Calibri" pitchFamily="34" charset="0"/>
                <a:ea typeface="Calibri" pitchFamily="34" charset="-122"/>
                <a:cs typeface="Calibri" pitchFamily="34" charset="-120"/>
              </a:rPr>
              <a:t>Da garantía de que el origen y el destino son realmente las partes requeridas — que "quien dice ser quien", efectivamente lo es.</a:t>
            </a:r>
            <a:endParaRPr lang="en-US" sz="1400" dirty="0"/>
          </a:p>
        </p:txBody>
      </p:sp>
      <p:sp>
        <p:nvSpPr>
          <p:cNvPr id="12" name="Text 10"/>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CERRAMOS LA UNIDAD 1</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Síntesis y lo que viene</a:t>
            </a:r>
            <a:endParaRPr lang="en-US" sz="2800" dirty="0"/>
          </a:p>
        </p:txBody>
      </p:sp>
      <p:sp>
        <p:nvSpPr>
          <p:cNvPr id="6" name="Shape 4"/>
          <p:cNvSpPr/>
          <p:nvPr/>
        </p:nvSpPr>
        <p:spPr>
          <a:xfrm>
            <a:off x="640080" y="1828800"/>
            <a:ext cx="10881360" cy="2468880"/>
          </a:xfrm>
          <a:prstGeom prst="rect">
            <a:avLst/>
          </a:prstGeom>
          <a:solidFill>
            <a:srgbClr val="F2F4FB"/>
          </a:solidFill>
          <a:ln/>
        </p:spPr>
        <p:txBody>
          <a:bodyPr/>
          <a:lstStyle/>
          <a:p>
            <a:endParaRPr lang="es-MX"/>
          </a:p>
        </p:txBody>
      </p:sp>
      <p:sp>
        <p:nvSpPr>
          <p:cNvPr id="7" name="Text 5"/>
          <p:cNvSpPr/>
          <p:nvPr/>
        </p:nvSpPr>
        <p:spPr>
          <a:xfrm>
            <a:off x="960120" y="2057400"/>
            <a:ext cx="10241280" cy="36576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En estas 2 clases (Clase 2 + Clase 3) cerramos la Unidad 1:</a:t>
            </a:r>
            <a:endParaRPr lang="en-US" sz="1500" dirty="0"/>
          </a:p>
        </p:txBody>
      </p:sp>
      <p:sp>
        <p:nvSpPr>
          <p:cNvPr id="8" name="Text 6"/>
          <p:cNvSpPr/>
          <p:nvPr/>
        </p:nvSpPr>
        <p:spPr>
          <a:xfrm>
            <a:off x="960120" y="2468880"/>
            <a:ext cx="10241280" cy="1737360"/>
          </a:xfrm>
          <a:prstGeom prst="rect">
            <a:avLst/>
          </a:prstGeom>
          <a:noFill/>
          <a:ln/>
        </p:spPr>
        <p:txBody>
          <a:bodyPr wrap="square" rtlCol="0" anchor="ctr"/>
          <a:lstStyle/>
          <a:p>
            <a:pPr marL="342900" indent="-342900">
              <a:lnSpc>
                <a:spcPts val="1700"/>
              </a:lnSpc>
              <a:spcAft>
                <a:spcPts val="600"/>
              </a:spcAft>
              <a:buSzPct val="100000"/>
              <a:buChar char="•"/>
            </a:pPr>
            <a:r>
              <a:rPr lang="en-US" sz="1300" dirty="0">
                <a:solidFill>
                  <a:srgbClr val="1B1F3B"/>
                </a:solidFill>
                <a:latin typeface="Calibri" pitchFamily="34" charset="0"/>
                <a:ea typeface="Calibri" pitchFamily="34" charset="-122"/>
                <a:cs typeface="Calibri" pitchFamily="34" charset="-120"/>
              </a:rPr>
              <a:t>Elementos básicos: registros, ejecución de instrucciones, interrupciones</a:t>
            </a:r>
            <a:endParaRPr lang="en-US" sz="1300" dirty="0"/>
          </a:p>
          <a:p>
            <a:pPr marL="342900" indent="-342900">
              <a:lnSpc>
                <a:spcPts val="1700"/>
              </a:lnSpc>
              <a:spcAft>
                <a:spcPts val="600"/>
              </a:spcAft>
              <a:buSzPct val="100000"/>
              <a:buChar char="•"/>
            </a:pPr>
            <a:r>
              <a:rPr lang="en-US" sz="1300" dirty="0">
                <a:solidFill>
                  <a:srgbClr val="1B1F3B"/>
                </a:solidFill>
                <a:latin typeface="Calibri" pitchFamily="34" charset="0"/>
                <a:ea typeface="Calibri" pitchFamily="34" charset="-122"/>
                <a:cs typeface="Calibri" pitchFamily="34" charset="-120"/>
              </a:rPr>
              <a:t>Jerarquía de memoria, caché y técnicas de comunicación de E/S</a:t>
            </a:r>
            <a:endParaRPr lang="en-US" sz="1300" dirty="0"/>
          </a:p>
          <a:p>
            <a:pPr marL="342900" indent="-342900">
              <a:lnSpc>
                <a:spcPts val="1700"/>
              </a:lnSpc>
              <a:spcAft>
                <a:spcPts val="600"/>
              </a:spcAft>
              <a:buSzPct val="100000"/>
              <a:buChar char="•"/>
            </a:pPr>
            <a:r>
              <a:rPr lang="en-US" sz="1300" dirty="0">
                <a:solidFill>
                  <a:srgbClr val="1B1F3B"/>
                </a:solidFill>
                <a:latin typeface="Calibri" pitchFamily="34" charset="0"/>
                <a:ea typeface="Calibri" pitchFamily="34" charset="-122"/>
                <a:cs typeface="Calibri" pitchFamily="34" charset="-120"/>
              </a:rPr>
              <a:t>Servicios y gestión de recursos del sistema operativo, y su evolución histórica</a:t>
            </a:r>
            <a:endParaRPr lang="en-US" sz="1300" dirty="0"/>
          </a:p>
          <a:p>
            <a:pPr marL="342900" indent="-342900">
              <a:lnSpc>
                <a:spcPts val="1700"/>
              </a:lnSpc>
              <a:spcAft>
                <a:spcPts val="600"/>
              </a:spcAft>
              <a:buSzPct val="100000"/>
              <a:buChar char="•"/>
            </a:pPr>
            <a:r>
              <a:rPr lang="en-US" sz="1300" dirty="0">
                <a:solidFill>
                  <a:srgbClr val="1B1F3B"/>
                </a:solidFill>
                <a:latin typeface="Calibri" pitchFamily="34" charset="0"/>
                <a:ea typeface="Calibri" pitchFamily="34" charset="-122"/>
                <a:cs typeface="Calibri" pitchFamily="34" charset="-120"/>
              </a:rPr>
              <a:t>Protección y seguridad: amenazas, políticas, control de acceso, cifrado y autenticación</a:t>
            </a:r>
            <a:endParaRPr lang="en-US" sz="1300" dirty="0"/>
          </a:p>
        </p:txBody>
      </p:sp>
      <p:sp>
        <p:nvSpPr>
          <p:cNvPr id="9" name="Text 7"/>
          <p:cNvSpPr/>
          <p:nvPr/>
        </p:nvSpPr>
        <p:spPr>
          <a:xfrm>
            <a:off x="640080" y="4572000"/>
            <a:ext cx="10881360" cy="548640"/>
          </a:xfrm>
          <a:prstGeom prst="rect">
            <a:avLst/>
          </a:prstGeom>
          <a:noFill/>
          <a:ln/>
        </p:spPr>
        <p:txBody>
          <a:bodyPr wrap="square" rtlCol="0" anchor="ctr"/>
          <a:lstStyle/>
          <a:p>
            <a:pPr marL="0" indent="0">
              <a:buNone/>
            </a:pPr>
            <a:r>
              <a:rPr lang="en-US" sz="1400" i="1" dirty="0">
                <a:solidFill>
                  <a:srgbClr val="5B6584"/>
                </a:solidFill>
                <a:latin typeface="Calibri" pitchFamily="34" charset="0"/>
                <a:ea typeface="Calibri" pitchFamily="34" charset="-122"/>
                <a:cs typeface="Calibri" pitchFamily="34" charset="-120"/>
              </a:rPr>
              <a:t>Próxima clase (01/09): arrancamos Unidad 2 — Procesos: concepto, estados y control de procesos.</a:t>
            </a:r>
            <a:endParaRPr lang="en-US" sz="1400" dirty="0"/>
          </a:p>
        </p:txBody>
      </p:sp>
      <p:sp>
        <p:nvSpPr>
          <p:cNvPr id="10" name="Text 8"/>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2779</Words>
  <Application>Microsoft Office PowerPoint</Application>
  <PresentationFormat>Panorámica</PresentationFormat>
  <Paragraphs>159</Paragraphs>
  <Slides>14</Slides>
  <Notes>14</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14</vt:i4>
      </vt:variant>
    </vt:vector>
  </HeadingPairs>
  <TitlesOfParts>
    <vt:vector size="18"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Juan Avalos</cp:lastModifiedBy>
  <cp:revision>2</cp:revision>
  <dcterms:created xsi:type="dcterms:W3CDTF">2026-08-24T13:03:50Z</dcterms:created>
  <dcterms:modified xsi:type="dcterms:W3CDTF">2026-09-15T00:49:23Z</dcterms:modified>
</cp:coreProperties>
</file>