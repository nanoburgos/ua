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409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[APERTURA — 5 min]
Contexto para el docente (no leer textual al curso): la clase pasada (08/09) se usó 100% para el ejercicio de comandos básicos de Linux, y no se llegó a dar la teoría de Hilos/SMP/MicroNúcleos. Esta clase la recupera, pero comprimida a lo esencial, con foco fuerte en práctica.
Anunciar al curso: "Antes de entrar al Parcial 1 nos falta un tema: Hilos, SMP y MicroNúcleos. Hoy lo vemos rápido y en formato bien práctico — la mayor parte de la clase va a ser ejercicios de ustedes en la VM."
Aclarar que al final queda un repaso rápido general de Unidades 1 y 2 (checklist), pero no reemplaza que cada uno repase sus apuntes en casa antes del 22/09.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[PROCESOS E HILOS — 12 min, versión condensada]
Empezar por la analogía de la casa (proceso) y las personas que viven adentro (hilos) — es lo que más ayuda a que baje la ficha antes de ver la definición técnica.
Después sí dar la definición formal de cada tarjeta (proceso = dueño de recursos; hilo = unidad que se ejecuta).
Cerrar con el ejemplo del navegador — es el mismo tipo de proceso que van a ver en el Ejercicio 1 con htop, así que conviene que quede bien afianzado antes de pasar a la práctica.
Frase para el pizarrón: "proceso = quién es dueño de los recursos; hilo = qué se está ejecutando ahora."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[MULTIHILOS Y NIVELES — 13 min, versión condensada]
Empezar remarcando la pregunta clave ("¿quién organiza los hilos?") antes de nombrar los 2 niveles — ayuda a que entiendan qué problema resuelve cada enfoque.
Multihilos, ejemplo de servidor (contexto bancario): pensar en un servidor de home banking atendiendo miles de sesiones, cada una en su propio hilo.
Explicar la analogía del equipo/jefe al final — suele ser lo que más ayuda a fijar la diferencia entre ambos niveles.
No dar más ejemplos — el Ejercicio 2 (ps -T) va a mostrar hilos reales de un proceso enseguida.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[SMP — 12 min, versión condensada]
Arrancar aclarando el significado de "simétrico" — es la parte del nombre que suele quedar sin explicar y genera confusión. Todos los procesadores son intercambiables y ven la misma memoria.
Usar las analogías de las tarjetas (mesa compartida vs. escritorio propio + armario común) para fijar la diferencia entre SMP y NUMA — son las que más ayudan a que no quede en una definición abstracta.
Anticipar: "las barras de núcleos que van a ver ahora en htop son literalmente esto: SMP en acción."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[MICRONÚCLEOS — 13 min, versión condensada]
Arrancar por el CONTRASTE con un núcleo tradicional (monolítico) — esto es lo que faltaba antes y generaba confusión: sin ese contraste, "solo lo esencial" no dice nada por sí solo.
Explicar que "lo esencial" típicamente es: gestión de memoria y comunicación entre procesos (IPC); todo lo demás (drivers, sistema de archivos, red) se saca a modo usuario como si fueran programas más.
Dar la ventaja y desventaja principales de las tarjetas de abajo.
Si sobra tiempo, mencionar como dato de color de 10 segundos: fue muy usado por el sistema operativo MACH y sus aplicaciones en las computadoras NeXT.
Cierre del bloque teórico: "con esto ya tenemos toda la teoría de Hilos, SMP y MicroNúcleos — ahora sí, a la práctica."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4316F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273580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CÁTEDRA · SISTEMAS OPERATIVOS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Hilos, SMP y MicroNúcleos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esencial + práctica intensiva en la VM Ubuntu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de recuperación de contenido (cierra Unidad 2) — antes del 1er Parcial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5349240"/>
            <a:ext cx="3291840" cy="0"/>
          </a:xfrm>
          <a:prstGeom prst="line">
            <a:avLst/>
          </a:prstGeom>
          <a:noFill/>
          <a:ln w="12700">
            <a:solidFill>
              <a:srgbClr val="3C4A93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9" name="Text 7"/>
          <p:cNvSpPr/>
          <p:nvPr/>
        </p:nvSpPr>
        <p:spPr>
          <a:xfrm>
            <a:off x="731520" y="5486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 septiembre, 2026 · 4 horas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ESENCIAL · 1 DE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Procesos e hilos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94392" y="457200"/>
            <a:ext cx="1554480" cy="365760"/>
          </a:xfrm>
          <a:prstGeom prst="rect">
            <a:avLst/>
          </a:prstGeom>
          <a:solidFill>
            <a:srgbClr val="232E6E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5" name="Text 3"/>
          <p:cNvSpPr/>
          <p:nvPr/>
        </p:nvSpPr>
        <p:spPr>
          <a:xfrm>
            <a:off x="9994392" y="457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Idea clave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es como una CASA: tiene recursos propios (memoria, archivos). Los hilos son las PERSONAS que viven adentro y usan esos recursos para hacer cosas.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5349240" cy="1234440"/>
          </a:xfrm>
          <a:prstGeom prst="rect">
            <a:avLst/>
          </a:prstGeom>
          <a:solidFill>
            <a:srgbClr val="232E6E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 de los recursos: memoria, archivos abiertos, dispositivos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2971800"/>
            <a:ext cx="5349240" cy="1234440"/>
          </a:xfrm>
          <a:prstGeom prst="rect">
            <a:avLst/>
          </a:prstGeom>
          <a:solidFill>
            <a:srgbClr val="232E6E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12" name="Text 10"/>
          <p:cNvSpPr/>
          <p:nvPr/>
        </p:nvSpPr>
        <p:spPr>
          <a:xfrm>
            <a:off x="6492240" y="31546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352044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que se ejecuta: tiene su propio orden de instrucciones y estado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10881360" cy="1417320"/>
          </a:xfrm>
          <a:prstGeom prst="rect">
            <a:avLst/>
          </a:prstGeom>
          <a:solidFill>
            <a:srgbClr val="F2F4FB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15" name="Text 13"/>
          <p:cNvSpPr/>
          <p:nvPr/>
        </p:nvSpPr>
        <p:spPr>
          <a:xfrm>
            <a:off x="91440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Ejemplo concreto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89204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abrís tu navegador se crea 1 PROCESO. Cada pestaña puede correr en su propio HILO — todas comparten la memoria de ESE navegador, pero pueden trabajar al mismo tiempo (cargar una imagen mientras escribís en otra).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ESENCIAL · 2 DE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Multihilos y niveles de hilos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94392" y="457200"/>
            <a:ext cx="1554480" cy="365760"/>
          </a:xfrm>
          <a:prstGeom prst="rect">
            <a:avLst/>
          </a:prstGeom>
          <a:solidFill>
            <a:srgbClr val="F2F4FB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5" name="Text 3"/>
          <p:cNvSpPr/>
          <p:nvPr/>
        </p:nvSpPr>
        <p:spPr>
          <a:xfrm>
            <a:off x="9994392" y="457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1005840"/>
          </a:xfrm>
          <a:prstGeom prst="rect">
            <a:avLst/>
          </a:prstGeom>
          <a:solidFill>
            <a:srgbClr val="F2F4FB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Multihilos = un proceso con varios hilos trabajando a la vez. La pregunta clave es: ¿QUIÉN organiza y reparte esos hilos?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5349240" cy="2148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usuario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biblioteca DENTRO del programa reparte el trabajo entre hilos, sin que el sistema operativo se entere. Es rápido, pero el SO ve todo el proceso como si fuera 1 solo hilo: si uno se traba, se traba TODO.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880360"/>
            <a:ext cx="5349240" cy="2148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12" name="Text 10"/>
          <p:cNvSpPr/>
          <p:nvPr/>
        </p:nvSpPr>
        <p:spPr>
          <a:xfrm>
            <a:off x="6492240" y="30632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núcleo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92240" y="3520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operativo conoce cada hilo individualmente y los reparte él mismo entre los núcleos disponibles. Cambiar cuesta un poco más, pero es más robusto: si uno se bloquea, los demás siguen funcionando.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257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Es como la diferencia entre un equipo que se organiza solo, sin avisarle al jefe (nivel usuario) — vs. un jefe (el sistema operativo) que sabe el estado de cada persona y decide por ellas (nivel núcleo).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ESENCIAL · 3 DE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SMP: multiprocesamiento simétrico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94392" y="457200"/>
            <a:ext cx="1554480" cy="365760"/>
          </a:xfrm>
          <a:prstGeom prst="rect">
            <a:avLst/>
          </a:prstGeom>
          <a:solidFill>
            <a:srgbClr val="232E6E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5" name="Text 3"/>
          <p:cNvSpPr/>
          <p:nvPr/>
        </p:nvSpPr>
        <p:spPr>
          <a:xfrm>
            <a:off x="9994392" y="457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¿Por qué "simétrico"?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todos los procesadores son IGUALES entre sí: cualquiera puede ejecutar cualquier proceso, y todos ven la misma memoria — ninguno es "más importante" que otro.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5349240" cy="2148840"/>
          </a:xfrm>
          <a:prstGeom prst="rect">
            <a:avLst/>
          </a:prstGeom>
          <a:solidFill>
            <a:srgbClr val="232E6E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núcleos comparten la MISMA memoria por igual. Como varias personas trabajando sobre la misma mesa: cualquiera agarra cualquier herramienta.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971800"/>
            <a:ext cx="5349240" cy="2148840"/>
          </a:xfrm>
          <a:prstGeom prst="rect">
            <a:avLst/>
          </a:prstGeom>
          <a:solidFill>
            <a:srgbClr val="232E6E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12" name="Text 10"/>
          <p:cNvSpPr/>
          <p:nvPr/>
        </p:nvSpPr>
        <p:spPr>
          <a:xfrm>
            <a:off x="6492240" y="315468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361188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procesador tiene memoria "propia" más cercana y rápida, más acceso a una memoria compartida más lenta. Como si cada uno tuviera su escritorio, más un armario común al fondo, más lento de alcanzar.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 da mejor rendimiento que un sistema con 1 solo procesador, porque varias tareas avanzan en paralelo de verdad.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ESENCIAL · 4 DE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MicroNúcleos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94392" y="457200"/>
            <a:ext cx="1554480" cy="365760"/>
          </a:xfrm>
          <a:prstGeom prst="rect">
            <a:avLst/>
          </a:prstGeom>
          <a:solidFill>
            <a:srgbClr val="F2F4FB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5" name="Text 3"/>
          <p:cNvSpPr/>
          <p:nvPr/>
        </p:nvSpPr>
        <p:spPr>
          <a:xfrm>
            <a:off x="9994392" y="457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¿Qué hace distinto a un micronúcleo?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5349240" cy="1828800"/>
          </a:xfrm>
          <a:prstGeom prst="rect">
            <a:avLst/>
          </a:prstGeom>
          <a:solidFill>
            <a:srgbClr val="F2F4FB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tradicional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 CASI TODO en modo privilegiado: drivers, sistema de archivos, red, etc. Todo eso corre con máximo riesgo si algo falla.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057400"/>
            <a:ext cx="5349240" cy="1828800"/>
          </a:xfrm>
          <a:prstGeom prst="rect">
            <a:avLst/>
          </a:prstGeom>
          <a:solidFill>
            <a:srgbClr val="F2F4FB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MicroNúcleo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92240" y="269748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en modo privilegiado SOLO lo mínimo indispensable (memoria, comunicación entre procesos). El resto — drivers, archivos, red — corre en modo usuario, como programas más.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5349240" cy="1600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14" name="Text 12"/>
          <p:cNvSpPr/>
          <p:nvPr/>
        </p:nvSpPr>
        <p:spPr>
          <a:xfrm>
            <a:off x="914400" y="429768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Ventaja principal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14400" y="47091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modular: fácil instalar o depurar un servicio sin frenar todo el sistema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4114800"/>
            <a:ext cx="5349240" cy="1600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17" name="Text 15"/>
          <p:cNvSpPr/>
          <p:nvPr/>
        </p:nvSpPr>
        <p:spPr>
          <a:xfrm>
            <a:off x="6492240" y="429768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Desventaja principal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92240" y="47091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comunicación interna entre esas partes separadas = puede haber más sobrecarga y bajar el rendimiento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1270</Words>
  <Application>Microsoft Office PowerPoint</Application>
  <PresentationFormat>Panorámica</PresentationFormat>
  <Paragraphs>61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Juan Jose Avalos Palacio</cp:lastModifiedBy>
  <cp:revision>2</cp:revision>
  <dcterms:created xsi:type="dcterms:W3CDTF">2026-09-15T01:49:51Z</dcterms:created>
  <dcterms:modified xsi:type="dcterms:W3CDTF">2026-09-21T00:16:26Z</dcterms:modified>
</cp:coreProperties>
</file>