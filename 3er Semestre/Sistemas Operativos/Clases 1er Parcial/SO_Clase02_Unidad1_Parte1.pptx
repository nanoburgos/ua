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6176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5 min]
Saludo breve. Antes de arrancar: recordar en una frase qué vimos la clase pasada (presentación de la materia, cronograma, y quedamos con la pregunta "¿qué es un sistema operativo?").
Frase disparadora: "Hoy empezamos a abrir la caja: qué hay adentro de la computadora para que el sistema operativo pueda hacer su trabajo."
Anunciar la agenda de hoy (ver próxima diapositiva) y el objetivo: entender los componentes de hardware básicos (registros, ciclo de instrucción, interrupciones, memoria) sobre los que se apoya todo sistema operativo.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3 min, parte de los 5 min de apertura]
Leer la agenda en voz alta señalando cada bloque. Comentar: "vamos a tener un corte de 15 minutos a la mitad, aprovechen para tomar agua o ir al baño porque después seguimos fuerte."
Tip de manejo de tiempo: dejar esta diapositiva de fondo mientras se resuelve cualquier duda administrativa antes de arrancar con contenido.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 5 min]
Mostrar de nuevo la pirámide de capas que vimos en la Clase 1. Preguntar a los estudiantes (no responder uno mismo): "¿en qué capa estuvimos hablando la clase pasada, en términos generales?" — dejar que respondan "sistema operativo / hardware".
Mensaje clave: hoy vamos a abrir específicamente la capa de HARDWARE — los elementos internos que el sistema operativo tiene que administrar: registros del procesador, el ciclo de ejecución de instrucciones, las interrupciones y la memoria.
Este repaso es corto a propósito — no es para volver a explicar todo, es solo para anclar la clase de hoy dentro del mapa general.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DEL PROCESADOR — bloque de 25 min, esta diapositiva ~5 min]
Idea central para escribir en el pizarrón: "Registro = memoria mínima, dentro del procesador, muchísimo más rápida que la RAM."
Analogía útil: la memoria principal (RAM) es como una biblioteca grande; los registros son como los papeles que tenés desplegados sobre tu escritorio mientras trabajás — pocos, pero al alcance de la mano inmediato.
Explicar que los registros cumplen 2 funciones grandes, que vamos a ver una por una en las próximas diapositivas: (1) visibles de usuario, (2) de control y estado.
Transición: "Empecemos por los que cualquier programa puede usar: los registros visibles de usuario."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VISIBLES DE USUARIO — 10 min]
Explicar cada tarjeta de izquierda a derecha.
Registros de datos: no tienen un uso fijo, el programador los usa como necesita para operaciones sobre datos.
Registros de dirección: guardan direcciones de memoria para calcular direcciones completas — se ven en detalle en la próxima diapositiva.
Registros de código de condición (flags): se activan solos por el hardware como resultado de operaciones (por ejemplo al hacer una resta que da cero). El programador los puede LEER pero no modificar directamente.
Actividad rápida (2 min): preguntar "si yo resto 5-5 y el resultado es 0, ¿qué tipo de registro se activa?" — respuesta esperada: el flag/código de condición de "cero".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DE DIRECCIÓN — 10 min]
Registro índice: dar un ejemplo simple en el pizarrón — "si el valor inicial es la posición 200 y el índice es 5, la dirección efectiva es 205".
Puntero de segmento: explicar que puede haber varios simultáneamente — uno para la aplicación en ejecución y otro para el sistema operativo.
Puntero de pila: conectar con algo que ya conocen si programaron alguna vez — push (apilar) y pop (desapilar). Preguntar si alguien recuerda una estructura de datos tipo pila de alguna materia de programación.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DE CONTROL Y ESTADO — 10 min]
Aclarar antes de entrar: estos registros NO son visibles para el programador común — son de uso interno del procesador.
Explicar los 4 con un mini-flujo en el pizarrón: cuando el procesador quiere leer un dato de memoria, usa el MAR para decir "quiero la dirección X", y el dato vuelve por el MBR/MDR. De forma análoga, el IOAR dice "quiero hablar con el dispositivo Y" y el IOBR es el canal por donde van y vienen los datos con ese dispositivo.
Es la primera vez que ven varias siglas juntas — dar tiempo para preguntas antes de seguir.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[REGISTROS ESENCIALES — 10 min]
Estos tres son los que van a aparecer una y otra vez en el resto de la unidad, vale la pena que queden bien grabados.
IR: guarda la instrucción que se está ejecutando AHORA.
PC: guarda la dirección de la PRÓXIMA instrucción — es el que "lleva la cuenta" de por dónde va el programa.
PSW: es un registro (o grupo de registros) que junta el estado general del procesador, incluyendo los códigos de condición que vimos antes.
Ejemplo en el pizarrón: procesador en la posición 100 → IR tiene la instrucción de la posición 100, PC ya apunta a 101 (la siguiente).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[INDICADORES DEL PSW — 20 min, incluye actividad]
Explicar los 6 indicadores de la tarjeta (10 min).
ACTIVIDAD (10 min): dividir a los estudiantes en parejas. Escribir 4 operaciones simples en el pizarrón, por ejemplo:
  a) 7 - 7        b) 15 + 3        c) -5 (número negativo)        d) comparar "5 == 5"
Pedirles que en pareja digan qué indicador/flag se activaría en cada caso (Cero, ninguno especial, Signo, Igualdad respectivamente). Recorrer el aula y corregir en el momento.
Cierre de la actividad: remarcar que estos flags son la base de las instrucciones de salto condicional que van a ver más adelante en la materia (aunque no profundicemos hoy).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[EJECUCIÓN DE INSTRUCCIONES — 20 min]
Idea clave: TODO programa es, en el fondo, una secuencia de instrucciones guardadas en memoria, y el procesador las procesa una por una en un ciclo constante.
Explicar el rol del PC (Program Counter, visto antes): al inicio de cada ciclo, el PC indica cuál es la próxima instrucción a leer.
Ejemplo del material: procesador en la posición 100 lee, y salvo que algo lo altere, sigue 101, 102, 103... (lectura consecutiva).
Conectar con el registro IR: la instrucción leída queda guardada ahí durante su ejecución.
Aclarar: "leer" y "ejecutar" son dos pasos distintos — primero se trae la instrucción, después se interpreta y se hace lo que pide.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[TIPOS DE OPERACIONES — 15 min, incluye actividad]
Explicar las 4 tarjetas (8 min).
ACTIVIDAD (7 min): tirar ejemplos concretos y que el curso grite/levante la mano indicando qué tipo de operación es:
  - "Sumar dos números guardados en registros" → Tratamiento de datos
  - "Leer un archivo del disco" → Procesador-E/S
  - "Guardar un resultado en la RAM" → Procesador-Memoria
  - "If/else en un programa" → Control
Esto ayuda a que el concepto no quede abstracto — lo conectan con cosas que ya programaron.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[INTERRUPCIONES: CONCEPTO Y CLASES — 20 min]
Concepto (5 min): sin interrupciones, el procesador tendría que preguntar todo el tiempo "¿ya terminaste?" a cada dispositivo (esto se ve en técnicas de E/S más adelante en la clase). Con interrupciones, el dispositivo directamente "avisa" cuando está listo.
Repasar las 4 clases (10 min) con un ejemplo cotidiano por cada una:
  De Programa: como cuando un programa intenta dividir por cero y "explota".
  De Reloj: como una alarma que suena cada cierto tiempo fijo.
  De E/S: como cuando termina de imprimirse una hoja y la impresora avisa "listo".
  Por Fallo de Hardware: como un apagón mientras la compu está prendida.
Pregunta abierta al curso (5 min): "¿A alguno se le colgó una impresora o quedó 'pensando' un programa? ¿Qué tipo de interrupción no habrá llegado a tiempo ahí?" — generar discusión breve, no hay respuesta única correcta, el objetivo es que asocien la teoría con experiencias reales.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[PROCEDIMIENTO DE INTERRUPCIÓN — 25 min, incluye actividad]
Explicar los 6 pasos apoyándose en el diagrama HARD/SOFT del material (el controlador genera la interrupción → el procesador termina la instrucción en curso → guarda estado → procesa → restaura estado → continúa) (15 min).
Punto importante para remarcar: lo mínimo que hay que guardar para poder "volver" después de la interrupción es el PSW y el PC — porque con eso alcanza para saber en qué estado y en qué instrucción estaba el programa interrumpido.
ACTIVIDAD (10 min): armar la secuencia entre todos como una dramatización simple. Elegir a un estudiante como "procesador" y a otro como "dispositivo de E/S". Que actúen en voz alta los 6 pasos en orden, usando sus propias palabras (no hace falta que sea técnicamente perfecto, el objetivo es que internalicen el ORDEN y por qué cada paso es necesario).
Cierre: preguntar "¿qué pasaría si el procesador NO guardara el PSW y el PC antes de atender la interrupción?" — respuesta esperada: no podría volver a donde estaba, se perdería el trabajo en curso.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[JERARQUÍA DE MEMORIA — 15 min]
Presentar las 3 relaciones del material como si fueran una "ley física" del diseño de memoria:
  - A mayor capacidad, mayor tiempo de acceso
  - A menor tiempo de acceso, mayor costo por bit
  - A mayor capacidad, menor costo por bit
Mostrar la pirámide y explicar que se baja de nivel exactamente en el sentido en que aumenta la capacidad y baja el costo, pero también baja la velocidad.
Idea de cierre de esta diapositiva: el objetivo de toda la jerarquía es MINIMIZAR cuántas veces el procesador tiene que ir hasta abajo (a lo lento) — y ahí es donde entra la memoria caché, que vemos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[MEMORIA CACHÉ: FUNCIONAMIENTO — 10 min]
Analogía sugerida: la caché es como tener los ingredientes que más usás en la mesada de la cocina, en vez de ir a la despensa cada vez.
Recorrer el flujo de la diapositiva paso a paso — es el mecanismo central que hay que dejar clarísimo antes de pasar al diseño de la caché.
Aclarar: esto es INVISIBLE para el sistema operativo — lo maneja el hardware directamente.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[DISEÑO DE CACHÉ — 15 min, incluye actividad]
Explicar las 5 tarjetas (8 min), con foco especial en LRU (Least Recently Used / "usado hace más tiempo") — es el concepto que más se pregunta en examen.
Mencionar el trade-off del tamaño de bloque: bloques más grandes traen más datos útiles de una vez (principio de cercanía), pero si son demasiado grandes, baja la tasa de aciertos porque hay que sacar datos recientes para hacer lugar.
ACTIVIDAD (7 min) — caso práctico en el pizarrón: dibujar una caché de 4 espacios ya llena, con un orden de uso reciente (ej. A-B-C-D, siendo A el usado hace más tiempo). Preguntar: "llega un bloque nuevo E, ¿a quién reemplaza el algoritmo LRU?" (Respuesta: A). Repetir una vez más con otro bloque para afianzar.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[TÉCNICAS DE COMUNICACIÓN E/S — 20 min, incluye actividad]
Explicar las 3 técnicas en orden de evolución/eficiencia creciente (12 min):
  E/S Programada: el procesador queda "esperando" preguntando todo el tiempo — muy ineficiente, conecta con lo que se mencionó al hablar de interrupciones al principio de la clase.
  E/S por interrupciones: mejora porque el procesador puede hacer otra cosa mientras espera, y el dispositivo avisa. Esta es la aplicación práctica de todo lo que vimos en el bloque de interrupciones.
  DMA: el nivel más eficiente — ni siquiera necesita que el procesador intervenga en la transferencia, el módulo de E/S habla directo con la memoria.
ACTIVIDAD DE CIERRE (8 min): armar entre todos un cuadro comparativo en el pizarrón con 3 columnas (una por técnica) y una fila "¿el procesador queda libre mientras tanto?" — completar Sí/No/Parcialmente entre todos. Sirve como repaso integrador de todo el bloque de interrupciones + 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10 min]
Repasar los 5 puntos de la síntesis en voz alta, sin volver a explicar — solo nombrar y que ellos reconstruyan mentalmente.
Espacio abierto para preguntas finales (dejar como mínimo 5 minutos reales para esto, no apurar).
Anunciar el tema de la próxima clase y, si hay tiempo, adelantar la tarea de lectura del material correspondiente a "Servicios de sistema operativo" y "Protección y Seguridad" del Módulo 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4316F"/>
          </a:solidFill>
          <a:ln/>
        </p:spPr>
        <p:txBody>
          <a:bodyPr/>
          <a:lstStyle/>
          <a:p>
            <a:endParaRPr lang="es-MX"/>
          </a:p>
        </p:txBody>
      </p:sp>
      <p:sp>
        <p:nvSpPr>
          <p:cNvPr id="3" name="Shape 1"/>
          <p:cNvSpPr/>
          <p:nvPr/>
        </p:nvSpPr>
        <p:spPr>
          <a:xfrm>
            <a:off x="10789920" y="4206240"/>
            <a:ext cx="2926080" cy="2926080"/>
          </a:xfrm>
          <a:prstGeom prst="ellipse">
            <a:avLst/>
          </a:prstGeom>
          <a:solidFill>
            <a:srgbClr val="273580"/>
          </a:solidFill>
          <a:ln/>
        </p:spPr>
        <p:txBody>
          <a:bodyPr/>
          <a:lstStyle/>
          <a:p>
            <a:endParaRPr lang="es-MX"/>
          </a:p>
        </p:txBody>
      </p:sp>
      <p:sp>
        <p:nvSpPr>
          <p:cNvPr id="4" name="Text 2"/>
          <p:cNvSpPr/>
          <p:nvPr/>
        </p:nvSpPr>
        <p:spPr>
          <a:xfrm>
            <a:off x="731520" y="1554480"/>
            <a:ext cx="8229600" cy="365760"/>
          </a:xfrm>
          <a:prstGeom prst="rect">
            <a:avLst/>
          </a:prstGeom>
          <a:noFill/>
          <a:ln/>
        </p:spPr>
        <p:txBody>
          <a:bodyPr wrap="square" rtlCol="0" anchor="ctr"/>
          <a:lstStyle/>
          <a:p>
            <a:pPr marL="0" indent="0">
              <a:buNone/>
            </a:pPr>
            <a:r>
              <a:rPr lang="en-US" sz="1400" b="1" kern="0" spc="200" dirty="0">
                <a:solidFill>
                  <a:srgbClr val="E8B84B"/>
                </a:solidFill>
                <a:latin typeface="Calibri" pitchFamily="34" charset="0"/>
                <a:ea typeface="Calibri" pitchFamily="34" charset="-122"/>
                <a:cs typeface="Calibri" pitchFamily="34" charset="-120"/>
              </a:rPr>
              <a:t>SISTEMAS OPERATIVOS</a:t>
            </a:r>
            <a:endParaRPr lang="en-US" sz="1400" dirty="0"/>
          </a:p>
        </p:txBody>
      </p:sp>
      <p:sp>
        <p:nvSpPr>
          <p:cNvPr id="5" name="Text 3"/>
          <p:cNvSpPr/>
          <p:nvPr/>
        </p:nvSpPr>
        <p:spPr>
          <a:xfrm>
            <a:off x="685800" y="1965960"/>
            <a:ext cx="9144000" cy="201168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Unidad 1</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Fundamentos de los sistemas informáticos</a:t>
            </a:r>
            <a:endParaRPr lang="en-US" sz="4000" dirty="0"/>
          </a:p>
        </p:txBody>
      </p:sp>
      <p:sp>
        <p:nvSpPr>
          <p:cNvPr id="6" name="Text 4"/>
          <p:cNvSpPr/>
          <p:nvPr/>
        </p:nvSpPr>
        <p:spPr>
          <a:xfrm>
            <a:off x="731520" y="3977640"/>
            <a:ext cx="8229600" cy="45720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Clase 2 · Registros, ejecución de instrucciones e interrupciones</a:t>
            </a:r>
            <a:endParaRPr lang="en-US" sz="1800" dirty="0"/>
          </a:p>
        </p:txBody>
      </p:sp>
      <p:sp>
        <p:nvSpPr>
          <p:cNvPr id="7" name="Shape 5"/>
          <p:cNvSpPr/>
          <p:nvPr/>
        </p:nvSpPr>
        <p:spPr>
          <a:xfrm>
            <a:off x="731520" y="5349240"/>
            <a:ext cx="3291840" cy="0"/>
          </a:xfrm>
          <a:prstGeom prst="line">
            <a:avLst/>
          </a:prstGeom>
          <a:noFill/>
          <a:ln w="12700">
            <a:solidFill>
              <a:srgbClr val="3C4A93"/>
            </a:solidFill>
            <a:prstDash val="solid"/>
          </a:ln>
        </p:spPr>
        <p:txBody>
          <a:bodyPr/>
          <a:lstStyle/>
          <a:p>
            <a:endParaRPr lang="es-MX"/>
          </a:p>
        </p:txBody>
      </p:sp>
      <p:sp>
        <p:nvSpPr>
          <p:cNvPr id="8" name="Text 6"/>
          <p:cNvSpPr/>
          <p:nvPr/>
        </p:nvSpPr>
        <p:spPr>
          <a:xfrm>
            <a:off x="731520" y="5486400"/>
            <a:ext cx="5486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18 de agosto, 2026 · 4 horas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HOY VEMOS</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Agenda de la clase</a:t>
            </a:r>
            <a:endParaRPr lang="en-US" sz="2800" dirty="0"/>
          </a:p>
        </p:txBody>
      </p:sp>
      <p:sp>
        <p:nvSpPr>
          <p:cNvPr id="6" name="Shape 4"/>
          <p:cNvSpPr/>
          <p:nvPr/>
        </p:nvSpPr>
        <p:spPr>
          <a:xfrm>
            <a:off x="640080" y="2011680"/>
            <a:ext cx="10881360" cy="685800"/>
          </a:xfrm>
          <a:prstGeom prst="rect">
            <a:avLst/>
          </a:prstGeom>
          <a:solidFill>
            <a:srgbClr val="F7F8FC"/>
          </a:solidFill>
          <a:ln/>
        </p:spPr>
        <p:txBody>
          <a:bodyPr/>
          <a:lstStyle/>
          <a:p>
            <a:endParaRPr lang="es-MX"/>
          </a:p>
        </p:txBody>
      </p:sp>
      <p:sp>
        <p:nvSpPr>
          <p:cNvPr id="7" name="Text 5"/>
          <p:cNvSpPr/>
          <p:nvPr/>
        </p:nvSpPr>
        <p:spPr>
          <a:xfrm>
            <a:off x="822960" y="2011680"/>
            <a:ext cx="457200" cy="6858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371600" y="2011680"/>
            <a:ext cx="7772400" cy="6858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Registros del procesador</a:t>
            </a:r>
            <a:endParaRPr lang="en-US" sz="1600" dirty="0"/>
          </a:p>
        </p:txBody>
      </p:sp>
      <p:sp>
        <p:nvSpPr>
          <p:cNvPr id="10" name="Shape 8"/>
          <p:cNvSpPr/>
          <p:nvPr/>
        </p:nvSpPr>
        <p:spPr>
          <a:xfrm>
            <a:off x="640080" y="2788920"/>
            <a:ext cx="10881360" cy="685800"/>
          </a:xfrm>
          <a:prstGeom prst="rect">
            <a:avLst/>
          </a:prstGeom>
          <a:solidFill>
            <a:srgbClr val="FFFFFF"/>
          </a:solidFill>
          <a:ln/>
        </p:spPr>
        <p:txBody>
          <a:bodyPr/>
          <a:lstStyle/>
          <a:p>
            <a:endParaRPr lang="es-MX"/>
          </a:p>
        </p:txBody>
      </p:sp>
      <p:sp>
        <p:nvSpPr>
          <p:cNvPr id="11" name="Text 9"/>
          <p:cNvSpPr/>
          <p:nvPr/>
        </p:nvSpPr>
        <p:spPr>
          <a:xfrm>
            <a:off x="822960" y="2788920"/>
            <a:ext cx="457200" cy="6858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371600" y="2788920"/>
            <a:ext cx="7772400" cy="6858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Ejecución de instrucciones</a:t>
            </a:r>
            <a:endParaRPr lang="en-US" sz="1600" dirty="0"/>
          </a:p>
        </p:txBody>
      </p:sp>
      <p:sp>
        <p:nvSpPr>
          <p:cNvPr id="14" name="Shape 12"/>
          <p:cNvSpPr/>
          <p:nvPr/>
        </p:nvSpPr>
        <p:spPr>
          <a:xfrm>
            <a:off x="640080" y="3566160"/>
            <a:ext cx="10881360" cy="685800"/>
          </a:xfrm>
          <a:prstGeom prst="rect">
            <a:avLst/>
          </a:prstGeom>
          <a:solidFill>
            <a:srgbClr val="F7F8FC"/>
          </a:solidFill>
          <a:ln/>
        </p:spPr>
        <p:txBody>
          <a:bodyPr/>
          <a:lstStyle/>
          <a:p>
            <a:endParaRPr lang="es-MX"/>
          </a:p>
        </p:txBody>
      </p:sp>
      <p:sp>
        <p:nvSpPr>
          <p:cNvPr id="15" name="Text 13"/>
          <p:cNvSpPr/>
          <p:nvPr/>
        </p:nvSpPr>
        <p:spPr>
          <a:xfrm>
            <a:off x="822960" y="3566160"/>
            <a:ext cx="457200" cy="6858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371600" y="3566160"/>
            <a:ext cx="7772400" cy="6858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Interrupciones</a:t>
            </a:r>
            <a:endParaRPr lang="en-US" sz="1600" dirty="0"/>
          </a:p>
        </p:txBody>
      </p:sp>
      <p:sp>
        <p:nvSpPr>
          <p:cNvPr id="18" name="Shape 16"/>
          <p:cNvSpPr/>
          <p:nvPr/>
        </p:nvSpPr>
        <p:spPr>
          <a:xfrm>
            <a:off x="640080" y="4343400"/>
            <a:ext cx="10881360" cy="685800"/>
          </a:xfrm>
          <a:prstGeom prst="rect">
            <a:avLst/>
          </a:prstGeom>
          <a:solidFill>
            <a:srgbClr val="FFFFFF"/>
          </a:solidFill>
          <a:ln/>
        </p:spPr>
        <p:txBody>
          <a:bodyPr/>
          <a:lstStyle/>
          <a:p>
            <a:endParaRPr lang="es-MX"/>
          </a:p>
        </p:txBody>
      </p:sp>
      <p:sp>
        <p:nvSpPr>
          <p:cNvPr id="19" name="Text 17"/>
          <p:cNvSpPr/>
          <p:nvPr/>
        </p:nvSpPr>
        <p:spPr>
          <a:xfrm>
            <a:off x="822960" y="4343400"/>
            <a:ext cx="457200" cy="6858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1371600" y="4343400"/>
            <a:ext cx="7772400" cy="6858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Jerarquía de memoria y caché</a:t>
            </a:r>
            <a:endParaRPr lang="en-US" sz="1600" dirty="0"/>
          </a:p>
        </p:txBody>
      </p:sp>
      <p:sp>
        <p:nvSpPr>
          <p:cNvPr id="22" name="Shape 20"/>
          <p:cNvSpPr/>
          <p:nvPr/>
        </p:nvSpPr>
        <p:spPr>
          <a:xfrm>
            <a:off x="640080" y="5120640"/>
            <a:ext cx="10881360" cy="685800"/>
          </a:xfrm>
          <a:prstGeom prst="rect">
            <a:avLst/>
          </a:prstGeom>
          <a:solidFill>
            <a:srgbClr val="F7F8FC"/>
          </a:solidFill>
          <a:ln/>
        </p:spPr>
        <p:txBody>
          <a:bodyPr/>
          <a:lstStyle/>
          <a:p>
            <a:endParaRPr lang="es-MX"/>
          </a:p>
        </p:txBody>
      </p:sp>
      <p:sp>
        <p:nvSpPr>
          <p:cNvPr id="23" name="Text 21"/>
          <p:cNvSpPr/>
          <p:nvPr/>
        </p:nvSpPr>
        <p:spPr>
          <a:xfrm>
            <a:off x="822960" y="5120640"/>
            <a:ext cx="457200" cy="6858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5</a:t>
            </a:r>
            <a:endParaRPr lang="en-US" sz="2000" dirty="0"/>
          </a:p>
        </p:txBody>
      </p:sp>
      <p:sp>
        <p:nvSpPr>
          <p:cNvPr id="24" name="Text 22"/>
          <p:cNvSpPr/>
          <p:nvPr/>
        </p:nvSpPr>
        <p:spPr>
          <a:xfrm>
            <a:off x="1371600" y="5120640"/>
            <a:ext cx="7772400" cy="6858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Técnicas de comunicación E/S</a:t>
            </a:r>
            <a:endParaRPr lang="en-US" sz="1600" dirty="0"/>
          </a:p>
        </p:txBody>
      </p:sp>
      <p:sp>
        <p:nvSpPr>
          <p:cNvPr id="27" name="Text 2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REPASO RÁPIDO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¿Dónde estamos parados?</a:t>
            </a:r>
            <a:endParaRPr lang="en-US" sz="2800" dirty="0"/>
          </a:p>
        </p:txBody>
      </p:sp>
      <p:sp>
        <p:nvSpPr>
          <p:cNvPr id="6" name="Shape 4"/>
          <p:cNvSpPr/>
          <p:nvPr/>
        </p:nvSpPr>
        <p:spPr>
          <a:xfrm>
            <a:off x="640080" y="2103120"/>
            <a:ext cx="10881360" cy="914400"/>
          </a:xfrm>
          <a:prstGeom prst="rect">
            <a:avLst/>
          </a:prstGeom>
          <a:solidFill>
            <a:srgbClr val="F2F4FB"/>
          </a:solidFill>
          <a:ln/>
        </p:spPr>
        <p:txBody>
          <a:bodyPr/>
          <a:lstStyle/>
          <a:p>
            <a:endParaRPr lang="es-MX"/>
          </a:p>
        </p:txBody>
      </p:sp>
      <p:sp>
        <p:nvSpPr>
          <p:cNvPr id="7" name="Text 5"/>
          <p:cNvSpPr/>
          <p:nvPr/>
        </p:nvSpPr>
        <p:spPr>
          <a:xfrm>
            <a:off x="914400" y="2103120"/>
            <a:ext cx="9875520" cy="9144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Programas de usuario</a:t>
            </a:r>
            <a:endParaRPr lang="en-US" sz="1600" dirty="0"/>
          </a:p>
        </p:txBody>
      </p:sp>
      <p:sp>
        <p:nvSpPr>
          <p:cNvPr id="8" name="Shape 6"/>
          <p:cNvSpPr/>
          <p:nvPr/>
        </p:nvSpPr>
        <p:spPr>
          <a:xfrm>
            <a:off x="640080" y="3154680"/>
            <a:ext cx="10881360" cy="914400"/>
          </a:xfrm>
          <a:prstGeom prst="rect">
            <a:avLst/>
          </a:prstGeom>
          <a:solidFill>
            <a:srgbClr val="CADCFC"/>
          </a:solidFill>
          <a:ln/>
        </p:spPr>
        <p:txBody>
          <a:bodyPr/>
          <a:lstStyle/>
          <a:p>
            <a:endParaRPr lang="es-MX"/>
          </a:p>
        </p:txBody>
      </p:sp>
      <p:sp>
        <p:nvSpPr>
          <p:cNvPr id="9" name="Text 7"/>
          <p:cNvSpPr/>
          <p:nvPr/>
        </p:nvSpPr>
        <p:spPr>
          <a:xfrm>
            <a:off x="914400" y="3154680"/>
            <a:ext cx="9875520" cy="91440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Programas de sistema</a:t>
            </a:r>
            <a:endParaRPr lang="en-US" sz="1600" dirty="0"/>
          </a:p>
        </p:txBody>
      </p:sp>
      <p:sp>
        <p:nvSpPr>
          <p:cNvPr id="10" name="Shape 8"/>
          <p:cNvSpPr/>
          <p:nvPr/>
        </p:nvSpPr>
        <p:spPr>
          <a:xfrm>
            <a:off x="640080" y="4206240"/>
            <a:ext cx="10881360" cy="914400"/>
          </a:xfrm>
          <a:prstGeom prst="rect">
            <a:avLst/>
          </a:prstGeom>
          <a:solidFill>
            <a:srgbClr val="1E2761"/>
          </a:solidFill>
          <a:ln/>
        </p:spPr>
        <p:txBody>
          <a:bodyPr/>
          <a:lstStyle/>
          <a:p>
            <a:endParaRPr lang="es-MX"/>
          </a:p>
        </p:txBody>
      </p:sp>
      <p:sp>
        <p:nvSpPr>
          <p:cNvPr id="11" name="Text 9"/>
          <p:cNvSpPr/>
          <p:nvPr/>
        </p:nvSpPr>
        <p:spPr>
          <a:xfrm>
            <a:off x="914400" y="4206240"/>
            <a:ext cx="9875520" cy="9144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Sistema Operativo</a:t>
            </a:r>
            <a:endParaRPr lang="en-US" sz="1600" dirty="0"/>
          </a:p>
        </p:txBody>
      </p:sp>
      <p:sp>
        <p:nvSpPr>
          <p:cNvPr id="12" name="Shape 10"/>
          <p:cNvSpPr/>
          <p:nvPr/>
        </p:nvSpPr>
        <p:spPr>
          <a:xfrm>
            <a:off x="640080" y="5257800"/>
            <a:ext cx="10881360" cy="914400"/>
          </a:xfrm>
          <a:prstGeom prst="rect">
            <a:avLst/>
          </a:prstGeom>
          <a:solidFill>
            <a:srgbClr val="232E6E"/>
          </a:solidFill>
          <a:ln/>
        </p:spPr>
        <p:txBody>
          <a:bodyPr/>
          <a:lstStyle/>
          <a:p>
            <a:endParaRPr lang="es-MX"/>
          </a:p>
        </p:txBody>
      </p:sp>
      <p:sp>
        <p:nvSpPr>
          <p:cNvPr id="13" name="Text 11"/>
          <p:cNvSpPr/>
          <p:nvPr/>
        </p:nvSpPr>
        <p:spPr>
          <a:xfrm>
            <a:off x="914400" y="5257800"/>
            <a:ext cx="9875520" cy="9144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Hardware ← hoy abrimos esta capa</a:t>
            </a:r>
            <a:endParaRPr lang="en-US" sz="160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REGISTROS DEL PROCESADOR</a:t>
            </a:r>
            <a:endParaRPr lang="en-US" sz="1300" dirty="0"/>
          </a:p>
        </p:txBody>
      </p:sp>
      <p:sp>
        <p:nvSpPr>
          <p:cNvPr id="3" name="Text 1"/>
          <p:cNvSpPr/>
          <p:nvPr/>
        </p:nvSpPr>
        <p:spPr>
          <a:xfrm>
            <a:off x="640080" y="86868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El nivel de memoria más rápido de todos</a:t>
            </a:r>
            <a:endParaRPr lang="en-US" sz="2800" dirty="0"/>
          </a:p>
        </p:txBody>
      </p:sp>
      <p:sp>
        <p:nvSpPr>
          <p:cNvPr id="4" name="Shape 2"/>
          <p:cNvSpPr/>
          <p:nvPr/>
        </p:nvSpPr>
        <p:spPr>
          <a:xfrm>
            <a:off x="9994392" y="457200"/>
            <a:ext cx="1554480" cy="365760"/>
          </a:xfrm>
          <a:prstGeom prst="rect">
            <a:avLst/>
          </a:prstGeom>
          <a:solidFill>
            <a:srgbClr val="F2F4FB"/>
          </a:solidFill>
          <a:ln/>
        </p:spPr>
        <p:txBody>
          <a:bodyPr/>
          <a:lstStyle/>
          <a:p>
            <a:endParaRPr lang="es-MX"/>
          </a:p>
        </p:txBody>
      </p:sp>
      <p:sp>
        <p:nvSpPr>
          <p:cNvPr id="6" name="Text 4"/>
          <p:cNvSpPr/>
          <p:nvPr/>
        </p:nvSpPr>
        <p:spPr>
          <a:xfrm>
            <a:off x="640080" y="1691640"/>
            <a:ext cx="10515600" cy="640080"/>
          </a:xfrm>
          <a:prstGeom prst="rect">
            <a:avLst/>
          </a:prstGeom>
          <a:noFill/>
          <a:ln/>
        </p:spPr>
        <p:txBody>
          <a:bodyPr wrap="square" rtlCol="0" anchor="ctr"/>
          <a:lstStyle/>
          <a:p>
            <a:pPr marL="0" indent="0">
              <a:lnSpc>
                <a:spcPts val="2100"/>
              </a:lnSpc>
              <a:buNone/>
            </a:pPr>
            <a:r>
              <a:rPr lang="en-US" sz="1600" dirty="0">
                <a:solidFill>
                  <a:srgbClr val="CADCFC"/>
                </a:solidFill>
                <a:latin typeface="Calibri" pitchFamily="34" charset="0"/>
                <a:ea typeface="Calibri" pitchFamily="34" charset="-122"/>
                <a:cs typeface="Calibri" pitchFamily="34" charset="-120"/>
              </a:rPr>
              <a:t>Dentro del procesador existen registros: memoria más pequeña y mucho más rápida que la memoria principal.</a:t>
            </a:r>
            <a:endParaRPr lang="en-US" sz="1600" dirty="0"/>
          </a:p>
        </p:txBody>
      </p:sp>
      <p:sp>
        <p:nvSpPr>
          <p:cNvPr id="7" name="Shape 5"/>
          <p:cNvSpPr/>
          <p:nvPr/>
        </p:nvSpPr>
        <p:spPr>
          <a:xfrm>
            <a:off x="640080" y="2743200"/>
            <a:ext cx="10881360" cy="1371600"/>
          </a:xfrm>
          <a:prstGeom prst="rect">
            <a:avLst/>
          </a:prstGeom>
          <a:solidFill>
            <a:srgbClr val="232E6E"/>
          </a:solidFill>
          <a:ln/>
        </p:spPr>
        <p:txBody>
          <a:bodyPr/>
          <a:lstStyle/>
          <a:p>
            <a:endParaRPr lang="es-MX"/>
          </a:p>
        </p:txBody>
      </p:sp>
      <p:sp>
        <p:nvSpPr>
          <p:cNvPr id="8" name="Text 6"/>
          <p:cNvSpPr/>
          <p:nvPr/>
        </p:nvSpPr>
        <p:spPr>
          <a:xfrm>
            <a:off x="960120" y="2971800"/>
            <a:ext cx="10241280" cy="457200"/>
          </a:xfrm>
          <a:prstGeom prst="rect">
            <a:avLst/>
          </a:prstGeom>
          <a:noFill/>
          <a:ln/>
        </p:spPr>
        <p:txBody>
          <a:bodyPr wrap="square" rtlCol="0" anchor="ctr"/>
          <a:lstStyle/>
          <a:p>
            <a:pPr marL="0" indent="0">
              <a:buNone/>
            </a:pPr>
            <a:r>
              <a:rPr lang="en-US" sz="1800" b="1" dirty="0">
                <a:solidFill>
                  <a:srgbClr val="E8B84B"/>
                </a:solidFill>
                <a:latin typeface="Calibri" pitchFamily="34" charset="0"/>
                <a:ea typeface="Calibri" pitchFamily="34" charset="-122"/>
                <a:cs typeface="Calibri" pitchFamily="34" charset="-120"/>
              </a:rPr>
              <a:t>Registros visibles de usuario</a:t>
            </a:r>
            <a:endParaRPr lang="en-US" sz="1800" dirty="0"/>
          </a:p>
        </p:txBody>
      </p:sp>
      <p:sp>
        <p:nvSpPr>
          <p:cNvPr id="9" name="Text 7"/>
          <p:cNvSpPr/>
          <p:nvPr/>
        </p:nvSpPr>
        <p:spPr>
          <a:xfrm>
            <a:off x="960120" y="3474720"/>
            <a:ext cx="10241280" cy="5486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Accesibles desde el lenguaje de máquina — los usa cualquier programa</a:t>
            </a:r>
            <a:endParaRPr lang="en-US" sz="1400" dirty="0"/>
          </a:p>
        </p:txBody>
      </p:sp>
      <p:sp>
        <p:nvSpPr>
          <p:cNvPr id="10" name="Shape 8"/>
          <p:cNvSpPr/>
          <p:nvPr/>
        </p:nvSpPr>
        <p:spPr>
          <a:xfrm>
            <a:off x="640080" y="4343400"/>
            <a:ext cx="10881360" cy="1371600"/>
          </a:xfrm>
          <a:prstGeom prst="rect">
            <a:avLst/>
          </a:prstGeom>
          <a:solidFill>
            <a:srgbClr val="232E6E"/>
          </a:solidFill>
          <a:ln/>
        </p:spPr>
        <p:txBody>
          <a:bodyPr/>
          <a:lstStyle/>
          <a:p>
            <a:endParaRPr lang="es-MX"/>
          </a:p>
        </p:txBody>
      </p:sp>
      <p:sp>
        <p:nvSpPr>
          <p:cNvPr id="11" name="Text 9"/>
          <p:cNvSpPr/>
          <p:nvPr/>
        </p:nvSpPr>
        <p:spPr>
          <a:xfrm>
            <a:off x="960120" y="4572000"/>
            <a:ext cx="10241280" cy="457200"/>
          </a:xfrm>
          <a:prstGeom prst="rect">
            <a:avLst/>
          </a:prstGeom>
          <a:noFill/>
          <a:ln/>
        </p:spPr>
        <p:txBody>
          <a:bodyPr wrap="square" rtlCol="0" anchor="ctr"/>
          <a:lstStyle/>
          <a:p>
            <a:pPr marL="0" indent="0">
              <a:buNone/>
            </a:pPr>
            <a:r>
              <a:rPr lang="en-US" sz="1800" b="1" dirty="0">
                <a:solidFill>
                  <a:srgbClr val="E8B84B"/>
                </a:solidFill>
                <a:latin typeface="Calibri" pitchFamily="34" charset="0"/>
                <a:ea typeface="Calibri" pitchFamily="34" charset="-122"/>
                <a:cs typeface="Calibri" pitchFamily="34" charset="-120"/>
              </a:rPr>
              <a:t>Registros de control y de estado</a:t>
            </a:r>
            <a:endParaRPr lang="en-US" sz="1800" dirty="0"/>
          </a:p>
        </p:txBody>
      </p:sp>
      <p:sp>
        <p:nvSpPr>
          <p:cNvPr id="12" name="Text 10"/>
          <p:cNvSpPr/>
          <p:nvPr/>
        </p:nvSpPr>
        <p:spPr>
          <a:xfrm>
            <a:off x="960120" y="5074920"/>
            <a:ext cx="10241280" cy="5486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Uso interno del procesador — controlan su funcionamiento</a:t>
            </a:r>
            <a:endParaRPr lang="en-US" sz="1400" dirty="0"/>
          </a:p>
        </p:txBody>
      </p:sp>
      <p:sp>
        <p:nvSpPr>
          <p:cNvPr id="13" name="Text 11"/>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REGISTROS VISIBLES DE USUARIO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Tres tipos, tres propósitos</a:t>
            </a:r>
            <a:endParaRPr lang="en-US" sz="2800" dirty="0"/>
          </a:p>
        </p:txBody>
      </p:sp>
      <p:sp>
        <p:nvSpPr>
          <p:cNvPr id="6" name="Shape 4"/>
          <p:cNvSpPr/>
          <p:nvPr/>
        </p:nvSpPr>
        <p:spPr>
          <a:xfrm>
            <a:off x="640080" y="2011680"/>
            <a:ext cx="3520440" cy="3291840"/>
          </a:xfrm>
          <a:prstGeom prst="rect">
            <a:avLst/>
          </a:prstGeom>
          <a:solidFill>
            <a:srgbClr val="F2F4FB"/>
          </a:solidFill>
          <a:ln/>
        </p:spPr>
        <p:txBody>
          <a:bodyPr/>
          <a:lstStyle/>
          <a:p>
            <a:endParaRPr lang="es-MX"/>
          </a:p>
        </p:txBody>
      </p:sp>
      <p:sp>
        <p:nvSpPr>
          <p:cNvPr id="7" name="Text 5"/>
          <p:cNvSpPr/>
          <p:nvPr/>
        </p:nvSpPr>
        <p:spPr>
          <a:xfrm>
            <a:off x="914400" y="2286000"/>
            <a:ext cx="2971800" cy="822960"/>
          </a:xfrm>
          <a:prstGeom prst="rect">
            <a:avLst/>
          </a:prstGeom>
          <a:noFill/>
          <a:ln/>
        </p:spPr>
        <p:txBody>
          <a:bodyPr wrap="square" rtlCol="0" anchor="ctr"/>
          <a:lstStyle/>
          <a:p>
            <a:pPr marL="0" indent="0">
              <a:lnSpc>
                <a:spcPts val="1900"/>
              </a:lnSpc>
              <a:buNone/>
            </a:pPr>
            <a:r>
              <a:rPr lang="en-US" sz="1600" b="1" dirty="0">
                <a:solidFill>
                  <a:srgbClr val="1E2761"/>
                </a:solidFill>
                <a:latin typeface="Calibri" pitchFamily="34" charset="0"/>
                <a:ea typeface="Calibri" pitchFamily="34" charset="-122"/>
                <a:cs typeface="Calibri" pitchFamily="34" charset="-120"/>
              </a:rPr>
              <a:t>Registros de datos</a:t>
            </a:r>
            <a:endParaRPr lang="en-US" sz="1600" dirty="0"/>
          </a:p>
        </p:txBody>
      </p:sp>
      <p:sp>
        <p:nvSpPr>
          <p:cNvPr id="8" name="Text 6"/>
          <p:cNvSpPr/>
          <p:nvPr/>
        </p:nvSpPr>
        <p:spPr>
          <a:xfrm>
            <a:off x="914400" y="3246120"/>
            <a:ext cx="2971800" cy="1828800"/>
          </a:xfrm>
          <a:prstGeom prst="rect">
            <a:avLst/>
          </a:prstGeom>
          <a:noFill/>
          <a:ln/>
        </p:spPr>
        <p:txBody>
          <a:bodyPr wrap="square" rtlCol="0" anchor="ctr"/>
          <a:lstStyle/>
          <a:p>
            <a:pPr marL="0" indent="0">
              <a:lnSpc>
                <a:spcPts val="1800"/>
              </a:lnSpc>
              <a:buNone/>
            </a:pPr>
            <a:r>
              <a:rPr lang="en-US" sz="1300" dirty="0">
                <a:solidFill>
                  <a:srgbClr val="5B6584"/>
                </a:solidFill>
                <a:latin typeface="Calibri" pitchFamily="34" charset="0"/>
                <a:ea typeface="Calibri" pitchFamily="34" charset="-122"/>
                <a:cs typeface="Calibri" pitchFamily="34" charset="-120"/>
              </a:rPr>
              <a:t>Uso libre del programador — cualquier operación sobre datos</a:t>
            </a:r>
            <a:endParaRPr lang="en-US" sz="1300" dirty="0"/>
          </a:p>
        </p:txBody>
      </p:sp>
      <p:sp>
        <p:nvSpPr>
          <p:cNvPr id="9" name="Shape 7"/>
          <p:cNvSpPr/>
          <p:nvPr/>
        </p:nvSpPr>
        <p:spPr>
          <a:xfrm>
            <a:off x="4343400" y="2011680"/>
            <a:ext cx="3520440" cy="3291840"/>
          </a:xfrm>
          <a:prstGeom prst="rect">
            <a:avLst/>
          </a:prstGeom>
          <a:solidFill>
            <a:srgbClr val="F2F4FB"/>
          </a:solidFill>
          <a:ln/>
        </p:spPr>
        <p:txBody>
          <a:bodyPr/>
          <a:lstStyle/>
          <a:p>
            <a:endParaRPr lang="es-MX"/>
          </a:p>
        </p:txBody>
      </p:sp>
      <p:sp>
        <p:nvSpPr>
          <p:cNvPr id="10" name="Text 8"/>
          <p:cNvSpPr/>
          <p:nvPr/>
        </p:nvSpPr>
        <p:spPr>
          <a:xfrm>
            <a:off x="4617720" y="2286000"/>
            <a:ext cx="2971800" cy="822960"/>
          </a:xfrm>
          <a:prstGeom prst="rect">
            <a:avLst/>
          </a:prstGeom>
          <a:noFill/>
          <a:ln/>
        </p:spPr>
        <p:txBody>
          <a:bodyPr wrap="square" rtlCol="0" anchor="ctr"/>
          <a:lstStyle/>
          <a:p>
            <a:pPr marL="0" indent="0">
              <a:lnSpc>
                <a:spcPts val="1900"/>
              </a:lnSpc>
              <a:buNone/>
            </a:pPr>
            <a:r>
              <a:rPr lang="en-US" sz="1600" b="1" dirty="0">
                <a:solidFill>
                  <a:srgbClr val="1E2761"/>
                </a:solidFill>
                <a:latin typeface="Calibri" pitchFamily="34" charset="0"/>
                <a:ea typeface="Calibri" pitchFamily="34" charset="-122"/>
                <a:cs typeface="Calibri" pitchFamily="34" charset="-120"/>
              </a:rPr>
              <a:t>Registros de dirección</a:t>
            </a:r>
            <a:endParaRPr lang="en-US" sz="1600" dirty="0"/>
          </a:p>
        </p:txBody>
      </p:sp>
      <p:sp>
        <p:nvSpPr>
          <p:cNvPr id="11" name="Text 9"/>
          <p:cNvSpPr/>
          <p:nvPr/>
        </p:nvSpPr>
        <p:spPr>
          <a:xfrm>
            <a:off x="4617720" y="3246120"/>
            <a:ext cx="2971800" cy="1828800"/>
          </a:xfrm>
          <a:prstGeom prst="rect">
            <a:avLst/>
          </a:prstGeom>
          <a:noFill/>
          <a:ln/>
        </p:spPr>
        <p:txBody>
          <a:bodyPr wrap="square" rtlCol="0" anchor="ctr"/>
          <a:lstStyle/>
          <a:p>
            <a:pPr marL="0" indent="0">
              <a:lnSpc>
                <a:spcPts val="1800"/>
              </a:lnSpc>
              <a:buNone/>
            </a:pPr>
            <a:r>
              <a:rPr lang="en-US" sz="1300" dirty="0">
                <a:solidFill>
                  <a:srgbClr val="5B6584"/>
                </a:solidFill>
                <a:latin typeface="Calibri" pitchFamily="34" charset="0"/>
                <a:ea typeface="Calibri" pitchFamily="34" charset="-122"/>
                <a:cs typeface="Calibri" pitchFamily="34" charset="-120"/>
              </a:rPr>
              <a:t>Contienen direcciones de memoria — índice, segmento o pila</a:t>
            </a:r>
            <a:endParaRPr lang="en-US" sz="1300" dirty="0"/>
          </a:p>
        </p:txBody>
      </p:sp>
      <p:sp>
        <p:nvSpPr>
          <p:cNvPr id="12" name="Shape 10"/>
          <p:cNvSpPr/>
          <p:nvPr/>
        </p:nvSpPr>
        <p:spPr>
          <a:xfrm>
            <a:off x="8046720" y="2011680"/>
            <a:ext cx="3520440" cy="3291840"/>
          </a:xfrm>
          <a:prstGeom prst="rect">
            <a:avLst/>
          </a:prstGeom>
          <a:solidFill>
            <a:srgbClr val="F2F4FB"/>
          </a:solidFill>
          <a:ln/>
        </p:spPr>
        <p:txBody>
          <a:bodyPr/>
          <a:lstStyle/>
          <a:p>
            <a:endParaRPr lang="es-MX"/>
          </a:p>
        </p:txBody>
      </p:sp>
      <p:sp>
        <p:nvSpPr>
          <p:cNvPr id="13" name="Text 11"/>
          <p:cNvSpPr/>
          <p:nvPr/>
        </p:nvSpPr>
        <p:spPr>
          <a:xfrm>
            <a:off x="8321040" y="2286000"/>
            <a:ext cx="2971800" cy="822960"/>
          </a:xfrm>
          <a:prstGeom prst="rect">
            <a:avLst/>
          </a:prstGeom>
          <a:noFill/>
          <a:ln/>
        </p:spPr>
        <p:txBody>
          <a:bodyPr wrap="square" rtlCol="0" anchor="ctr"/>
          <a:lstStyle/>
          <a:p>
            <a:pPr marL="0" indent="0">
              <a:lnSpc>
                <a:spcPts val="1900"/>
              </a:lnSpc>
              <a:buNone/>
            </a:pPr>
            <a:r>
              <a:rPr lang="en-US" sz="1600" b="1" dirty="0">
                <a:solidFill>
                  <a:srgbClr val="1E2761"/>
                </a:solidFill>
                <a:latin typeface="Calibri" pitchFamily="34" charset="0"/>
                <a:ea typeface="Calibri" pitchFamily="34" charset="-122"/>
                <a:cs typeface="Calibri" pitchFamily="34" charset="-120"/>
              </a:rPr>
              <a:t>Registros de código de condición</a:t>
            </a:r>
            <a:endParaRPr lang="en-US" sz="1600" dirty="0"/>
          </a:p>
        </p:txBody>
      </p:sp>
      <p:sp>
        <p:nvSpPr>
          <p:cNvPr id="14" name="Text 12"/>
          <p:cNvSpPr/>
          <p:nvPr/>
        </p:nvSpPr>
        <p:spPr>
          <a:xfrm>
            <a:off x="8321040" y="3246120"/>
            <a:ext cx="2971800" cy="1828800"/>
          </a:xfrm>
          <a:prstGeom prst="rect">
            <a:avLst/>
          </a:prstGeom>
          <a:noFill/>
          <a:ln/>
        </p:spPr>
        <p:txBody>
          <a:bodyPr wrap="square" rtlCol="0" anchor="ctr"/>
          <a:lstStyle/>
          <a:p>
            <a:pPr marL="0" indent="0">
              <a:lnSpc>
                <a:spcPts val="1800"/>
              </a:lnSpc>
              <a:buNone/>
            </a:pPr>
            <a:r>
              <a:rPr lang="en-US" sz="1300" dirty="0">
                <a:solidFill>
                  <a:srgbClr val="5B6584"/>
                </a:solidFill>
                <a:latin typeface="Calibri" pitchFamily="34" charset="0"/>
                <a:ea typeface="Calibri" pitchFamily="34" charset="-122"/>
                <a:cs typeface="Calibri" pitchFamily="34" charset="-120"/>
              </a:rPr>
              <a:t>Flags activados por hardware — parcialmente visibles, no editables</a:t>
            </a:r>
            <a:endParaRPr lang="en-US" sz="130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EN DETALLE</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Registros de dirección</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endParaRPr lang="en-US" sz="1200" dirty="0"/>
          </a:p>
        </p:txBody>
      </p:sp>
      <p:sp>
        <p:nvSpPr>
          <p:cNvPr id="6" name="Shape 4"/>
          <p:cNvSpPr/>
          <p:nvPr/>
        </p:nvSpPr>
        <p:spPr>
          <a:xfrm>
            <a:off x="640080" y="1965960"/>
            <a:ext cx="457200" cy="457200"/>
          </a:xfrm>
          <a:prstGeom prst="ellipse">
            <a:avLst/>
          </a:prstGeom>
          <a:solidFill>
            <a:srgbClr val="E8B84B"/>
          </a:solidFill>
          <a:ln/>
        </p:spPr>
        <p:txBody>
          <a:bodyPr/>
          <a:lstStyle/>
          <a:p>
            <a:endParaRPr lang="es-MX"/>
          </a:p>
        </p:txBody>
      </p:sp>
      <p:sp>
        <p:nvSpPr>
          <p:cNvPr id="7" name="Shape 5"/>
          <p:cNvSpPr/>
          <p:nvPr/>
        </p:nvSpPr>
        <p:spPr>
          <a:xfrm>
            <a:off x="868680" y="2423160"/>
            <a:ext cx="0" cy="1051560"/>
          </a:xfrm>
          <a:prstGeom prst="line">
            <a:avLst/>
          </a:prstGeom>
          <a:noFill/>
          <a:ln w="25400">
            <a:solidFill>
              <a:srgbClr val="E3E6F0"/>
            </a:solidFill>
            <a:prstDash val="solid"/>
          </a:ln>
        </p:spPr>
        <p:txBody>
          <a:bodyPr/>
          <a:lstStyle/>
          <a:p>
            <a:endParaRPr lang="es-MX"/>
          </a:p>
        </p:txBody>
      </p:sp>
      <p:sp>
        <p:nvSpPr>
          <p:cNvPr id="8" name="Text 6"/>
          <p:cNvSpPr/>
          <p:nvPr/>
        </p:nvSpPr>
        <p:spPr>
          <a:xfrm>
            <a:off x="1325880" y="1920240"/>
            <a:ext cx="411480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Registro índice</a:t>
            </a:r>
            <a:endParaRPr lang="en-US" sz="1600" dirty="0"/>
          </a:p>
        </p:txBody>
      </p:sp>
      <p:sp>
        <p:nvSpPr>
          <p:cNvPr id="9" name="Text 7"/>
          <p:cNvSpPr/>
          <p:nvPr/>
        </p:nvSpPr>
        <p:spPr>
          <a:xfrm>
            <a:off x="1325880" y="2377440"/>
            <a:ext cx="9875520" cy="548640"/>
          </a:xfrm>
          <a:prstGeom prst="rect">
            <a:avLst/>
          </a:prstGeom>
          <a:noFill/>
          <a:ln/>
        </p:spPr>
        <p:txBody>
          <a:bodyPr wrap="square" rtlCol="0" anchor="ctr"/>
          <a:lstStyle/>
          <a:p>
            <a:pPr marL="0" indent="0">
              <a:lnSpc>
                <a:spcPts val="1800"/>
              </a:lnSpc>
              <a:buNone/>
            </a:pPr>
            <a:r>
              <a:rPr lang="en-US" sz="1350" dirty="0">
                <a:solidFill>
                  <a:srgbClr val="5B6584"/>
                </a:solidFill>
                <a:latin typeface="Calibri" pitchFamily="34" charset="0"/>
                <a:ea typeface="Calibri" pitchFamily="34" charset="-122"/>
                <a:cs typeface="Calibri" pitchFamily="34" charset="-120"/>
              </a:rPr>
              <a:t>Suma un índice a un valor inicial para obtener la dirección efectiva (direccionamiento indexado)</a:t>
            </a:r>
            <a:endParaRPr lang="en-US" sz="1350" dirty="0"/>
          </a:p>
        </p:txBody>
      </p:sp>
      <p:sp>
        <p:nvSpPr>
          <p:cNvPr id="10" name="Shape 8"/>
          <p:cNvSpPr/>
          <p:nvPr/>
        </p:nvSpPr>
        <p:spPr>
          <a:xfrm>
            <a:off x="640080" y="3200400"/>
            <a:ext cx="457200" cy="457200"/>
          </a:xfrm>
          <a:prstGeom prst="ellipse">
            <a:avLst/>
          </a:prstGeom>
          <a:solidFill>
            <a:srgbClr val="E8B84B"/>
          </a:solidFill>
          <a:ln/>
        </p:spPr>
        <p:txBody>
          <a:bodyPr/>
          <a:lstStyle/>
          <a:p>
            <a:endParaRPr lang="es-MX"/>
          </a:p>
        </p:txBody>
      </p:sp>
      <p:sp>
        <p:nvSpPr>
          <p:cNvPr id="11" name="Shape 9"/>
          <p:cNvSpPr/>
          <p:nvPr/>
        </p:nvSpPr>
        <p:spPr>
          <a:xfrm>
            <a:off x="868680" y="3657600"/>
            <a:ext cx="0" cy="1051560"/>
          </a:xfrm>
          <a:prstGeom prst="line">
            <a:avLst/>
          </a:prstGeom>
          <a:noFill/>
          <a:ln w="25400">
            <a:solidFill>
              <a:srgbClr val="E3E6F0"/>
            </a:solidFill>
            <a:prstDash val="solid"/>
          </a:ln>
        </p:spPr>
        <p:txBody>
          <a:bodyPr/>
          <a:lstStyle/>
          <a:p>
            <a:endParaRPr lang="es-MX"/>
          </a:p>
        </p:txBody>
      </p:sp>
      <p:sp>
        <p:nvSpPr>
          <p:cNvPr id="12" name="Text 10"/>
          <p:cNvSpPr/>
          <p:nvPr/>
        </p:nvSpPr>
        <p:spPr>
          <a:xfrm>
            <a:off x="1325880" y="3154680"/>
            <a:ext cx="411480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Puntero de segmento</a:t>
            </a:r>
            <a:endParaRPr lang="en-US" sz="1600" dirty="0"/>
          </a:p>
        </p:txBody>
      </p:sp>
      <p:sp>
        <p:nvSpPr>
          <p:cNvPr id="13" name="Text 11"/>
          <p:cNvSpPr/>
          <p:nvPr/>
        </p:nvSpPr>
        <p:spPr>
          <a:xfrm>
            <a:off x="1325880" y="3611880"/>
            <a:ext cx="9875520" cy="548640"/>
          </a:xfrm>
          <a:prstGeom prst="rect">
            <a:avLst/>
          </a:prstGeom>
          <a:noFill/>
          <a:ln/>
        </p:spPr>
        <p:txBody>
          <a:bodyPr wrap="square" rtlCol="0" anchor="ctr"/>
          <a:lstStyle/>
          <a:p>
            <a:pPr marL="0" indent="0">
              <a:lnSpc>
                <a:spcPts val="1800"/>
              </a:lnSpc>
              <a:buNone/>
            </a:pPr>
            <a:r>
              <a:rPr lang="en-US" sz="1350" dirty="0">
                <a:solidFill>
                  <a:srgbClr val="5B6584"/>
                </a:solidFill>
                <a:latin typeface="Calibri" pitchFamily="34" charset="0"/>
                <a:ea typeface="Calibri" pitchFamily="34" charset="-122"/>
                <a:cs typeface="Calibri" pitchFamily="34" charset="-120"/>
              </a:rPr>
              <a:t>Divide la memoria en segmentos de tamaño variable — guarda la dirección inicial de cada uno</a:t>
            </a:r>
            <a:endParaRPr lang="en-US" sz="1350" dirty="0"/>
          </a:p>
        </p:txBody>
      </p:sp>
      <p:sp>
        <p:nvSpPr>
          <p:cNvPr id="14" name="Shape 12"/>
          <p:cNvSpPr/>
          <p:nvPr/>
        </p:nvSpPr>
        <p:spPr>
          <a:xfrm>
            <a:off x="640080" y="4434840"/>
            <a:ext cx="457200" cy="457200"/>
          </a:xfrm>
          <a:prstGeom prst="ellipse">
            <a:avLst/>
          </a:prstGeom>
          <a:solidFill>
            <a:srgbClr val="E8B84B"/>
          </a:solidFill>
          <a:ln/>
        </p:spPr>
        <p:txBody>
          <a:bodyPr/>
          <a:lstStyle/>
          <a:p>
            <a:endParaRPr lang="es-MX"/>
          </a:p>
        </p:txBody>
      </p:sp>
      <p:sp>
        <p:nvSpPr>
          <p:cNvPr id="15" name="Shape 13"/>
          <p:cNvSpPr/>
          <p:nvPr/>
        </p:nvSpPr>
        <p:spPr>
          <a:xfrm>
            <a:off x="868680" y="4892040"/>
            <a:ext cx="0" cy="1051560"/>
          </a:xfrm>
          <a:prstGeom prst="line">
            <a:avLst/>
          </a:prstGeom>
          <a:noFill/>
          <a:ln w="25400">
            <a:solidFill>
              <a:srgbClr val="E3E6F0"/>
            </a:solidFill>
            <a:prstDash val="solid"/>
          </a:ln>
        </p:spPr>
        <p:txBody>
          <a:bodyPr/>
          <a:lstStyle/>
          <a:p>
            <a:endParaRPr lang="es-MX"/>
          </a:p>
        </p:txBody>
      </p:sp>
      <p:sp>
        <p:nvSpPr>
          <p:cNvPr id="16" name="Text 14"/>
          <p:cNvSpPr/>
          <p:nvPr/>
        </p:nvSpPr>
        <p:spPr>
          <a:xfrm>
            <a:off x="1325880" y="4389120"/>
            <a:ext cx="411480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Puntero de pila</a:t>
            </a:r>
            <a:endParaRPr lang="en-US" sz="1600" dirty="0"/>
          </a:p>
        </p:txBody>
      </p:sp>
      <p:sp>
        <p:nvSpPr>
          <p:cNvPr id="17" name="Text 15"/>
          <p:cNvSpPr/>
          <p:nvPr/>
        </p:nvSpPr>
        <p:spPr>
          <a:xfrm>
            <a:off x="1325880" y="4846320"/>
            <a:ext cx="9875520" cy="548640"/>
          </a:xfrm>
          <a:prstGeom prst="rect">
            <a:avLst/>
          </a:prstGeom>
          <a:noFill/>
          <a:ln/>
        </p:spPr>
        <p:txBody>
          <a:bodyPr wrap="square" rtlCol="0" anchor="ctr"/>
          <a:lstStyle/>
          <a:p>
            <a:pPr marL="0" indent="0">
              <a:lnSpc>
                <a:spcPts val="1800"/>
              </a:lnSpc>
              <a:buNone/>
            </a:pPr>
            <a:r>
              <a:rPr lang="en-US" sz="1350" dirty="0">
                <a:solidFill>
                  <a:srgbClr val="5B6584"/>
                </a:solidFill>
                <a:latin typeface="Calibri" pitchFamily="34" charset="0"/>
                <a:ea typeface="Calibri" pitchFamily="34" charset="-122"/>
                <a:cs typeface="Calibri" pitchFamily="34" charset="-120"/>
              </a:rPr>
              <a:t>Indica la cima (tope) de la pila — habilita instrucciones como push y pop</a:t>
            </a:r>
            <a:endParaRPr lang="en-US" sz="135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LA OTRA FUNCIÓN</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Registros de control y de estado</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6" name="Shape 4"/>
          <p:cNvSpPr/>
          <p:nvPr/>
        </p:nvSpPr>
        <p:spPr>
          <a:xfrm>
            <a:off x="640080" y="2011680"/>
            <a:ext cx="5257800" cy="1874520"/>
          </a:xfrm>
          <a:prstGeom prst="rect">
            <a:avLst/>
          </a:prstGeom>
          <a:solidFill>
            <a:srgbClr val="232E6E"/>
          </a:solidFill>
          <a:ln/>
        </p:spPr>
        <p:txBody>
          <a:bodyPr/>
          <a:lstStyle/>
          <a:p>
            <a:endParaRPr lang="es-MX"/>
          </a:p>
        </p:txBody>
      </p:sp>
      <p:sp>
        <p:nvSpPr>
          <p:cNvPr id="7" name="Text 5"/>
          <p:cNvSpPr/>
          <p:nvPr/>
        </p:nvSpPr>
        <p:spPr>
          <a:xfrm>
            <a:off x="914400" y="2194560"/>
            <a:ext cx="4754880" cy="4572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MBR / MDR</a:t>
            </a:r>
            <a:endParaRPr lang="en-US" sz="2000" dirty="0"/>
          </a:p>
        </p:txBody>
      </p:sp>
      <p:sp>
        <p:nvSpPr>
          <p:cNvPr id="8" name="Text 6"/>
          <p:cNvSpPr/>
          <p:nvPr/>
        </p:nvSpPr>
        <p:spPr>
          <a:xfrm>
            <a:off x="914400" y="2697480"/>
            <a:ext cx="4754880" cy="3657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Memory Buffer/Data Register</a:t>
            </a:r>
            <a:endParaRPr lang="en-US" sz="1100" dirty="0"/>
          </a:p>
        </p:txBody>
      </p:sp>
      <p:sp>
        <p:nvSpPr>
          <p:cNvPr id="9" name="Text 7"/>
          <p:cNvSpPr/>
          <p:nvPr/>
        </p:nvSpPr>
        <p:spPr>
          <a:xfrm>
            <a:off x="914400" y="3063240"/>
            <a:ext cx="4754880" cy="73152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Datos que se leen o escriben en memoria</a:t>
            </a:r>
            <a:endParaRPr lang="en-US" sz="1300" dirty="0"/>
          </a:p>
        </p:txBody>
      </p:sp>
      <p:sp>
        <p:nvSpPr>
          <p:cNvPr id="10" name="Shape 8"/>
          <p:cNvSpPr/>
          <p:nvPr/>
        </p:nvSpPr>
        <p:spPr>
          <a:xfrm>
            <a:off x="6263640" y="2011680"/>
            <a:ext cx="5257800" cy="1874520"/>
          </a:xfrm>
          <a:prstGeom prst="rect">
            <a:avLst/>
          </a:prstGeom>
          <a:solidFill>
            <a:srgbClr val="232E6E"/>
          </a:solidFill>
          <a:ln/>
        </p:spPr>
        <p:txBody>
          <a:bodyPr/>
          <a:lstStyle/>
          <a:p>
            <a:endParaRPr lang="es-MX"/>
          </a:p>
        </p:txBody>
      </p:sp>
      <p:sp>
        <p:nvSpPr>
          <p:cNvPr id="11" name="Text 9"/>
          <p:cNvSpPr/>
          <p:nvPr/>
        </p:nvSpPr>
        <p:spPr>
          <a:xfrm>
            <a:off x="6537960" y="2194560"/>
            <a:ext cx="4754880" cy="4572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MAR</a:t>
            </a:r>
            <a:endParaRPr lang="en-US" sz="2000" dirty="0"/>
          </a:p>
        </p:txBody>
      </p:sp>
      <p:sp>
        <p:nvSpPr>
          <p:cNvPr id="12" name="Text 10"/>
          <p:cNvSpPr/>
          <p:nvPr/>
        </p:nvSpPr>
        <p:spPr>
          <a:xfrm>
            <a:off x="6537960" y="2697480"/>
            <a:ext cx="4754880" cy="3657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Memory Address Register</a:t>
            </a:r>
            <a:endParaRPr lang="en-US" sz="1100" dirty="0"/>
          </a:p>
        </p:txBody>
      </p:sp>
      <p:sp>
        <p:nvSpPr>
          <p:cNvPr id="13" name="Text 11"/>
          <p:cNvSpPr/>
          <p:nvPr/>
        </p:nvSpPr>
        <p:spPr>
          <a:xfrm>
            <a:off x="6537960" y="3063240"/>
            <a:ext cx="4754880" cy="73152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Dirección en memoria de la próxima lectura o escritura</a:t>
            </a:r>
            <a:endParaRPr lang="en-US" sz="1300" dirty="0"/>
          </a:p>
        </p:txBody>
      </p:sp>
      <p:sp>
        <p:nvSpPr>
          <p:cNvPr id="14" name="Shape 12"/>
          <p:cNvSpPr/>
          <p:nvPr/>
        </p:nvSpPr>
        <p:spPr>
          <a:xfrm>
            <a:off x="640080" y="4114800"/>
            <a:ext cx="5257800" cy="1874520"/>
          </a:xfrm>
          <a:prstGeom prst="rect">
            <a:avLst/>
          </a:prstGeom>
          <a:solidFill>
            <a:srgbClr val="232E6E"/>
          </a:solidFill>
          <a:ln/>
        </p:spPr>
        <p:txBody>
          <a:bodyPr/>
          <a:lstStyle/>
          <a:p>
            <a:endParaRPr lang="es-MX"/>
          </a:p>
        </p:txBody>
      </p:sp>
      <p:sp>
        <p:nvSpPr>
          <p:cNvPr id="15" name="Text 13"/>
          <p:cNvSpPr/>
          <p:nvPr/>
        </p:nvSpPr>
        <p:spPr>
          <a:xfrm>
            <a:off x="914400" y="4297680"/>
            <a:ext cx="4754880" cy="4572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IOAR</a:t>
            </a:r>
            <a:endParaRPr lang="en-US" sz="2000" dirty="0"/>
          </a:p>
        </p:txBody>
      </p:sp>
      <p:sp>
        <p:nvSpPr>
          <p:cNvPr id="16" name="Text 14"/>
          <p:cNvSpPr/>
          <p:nvPr/>
        </p:nvSpPr>
        <p:spPr>
          <a:xfrm>
            <a:off x="914400" y="4800600"/>
            <a:ext cx="4754880" cy="3657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Input Output Address Register</a:t>
            </a:r>
            <a:endParaRPr lang="en-US" sz="1100" dirty="0"/>
          </a:p>
        </p:txBody>
      </p:sp>
      <p:sp>
        <p:nvSpPr>
          <p:cNvPr id="17" name="Text 15"/>
          <p:cNvSpPr/>
          <p:nvPr/>
        </p:nvSpPr>
        <p:spPr>
          <a:xfrm>
            <a:off x="914400" y="5166360"/>
            <a:ext cx="4754880" cy="73152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Especifica un dispositivo particular de E/S</a:t>
            </a:r>
            <a:endParaRPr lang="en-US" sz="1300" dirty="0"/>
          </a:p>
        </p:txBody>
      </p:sp>
      <p:sp>
        <p:nvSpPr>
          <p:cNvPr id="18" name="Shape 16"/>
          <p:cNvSpPr/>
          <p:nvPr/>
        </p:nvSpPr>
        <p:spPr>
          <a:xfrm>
            <a:off x="6263640" y="4114800"/>
            <a:ext cx="5257800" cy="1874520"/>
          </a:xfrm>
          <a:prstGeom prst="rect">
            <a:avLst/>
          </a:prstGeom>
          <a:solidFill>
            <a:srgbClr val="232E6E"/>
          </a:solidFill>
          <a:ln/>
        </p:spPr>
        <p:txBody>
          <a:bodyPr/>
          <a:lstStyle/>
          <a:p>
            <a:endParaRPr lang="es-MX"/>
          </a:p>
        </p:txBody>
      </p:sp>
      <p:sp>
        <p:nvSpPr>
          <p:cNvPr id="19" name="Text 17"/>
          <p:cNvSpPr/>
          <p:nvPr/>
        </p:nvSpPr>
        <p:spPr>
          <a:xfrm>
            <a:off x="6537960" y="4297680"/>
            <a:ext cx="4754880" cy="45720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IOBR</a:t>
            </a:r>
            <a:endParaRPr lang="en-US" sz="2000" dirty="0"/>
          </a:p>
        </p:txBody>
      </p:sp>
      <p:sp>
        <p:nvSpPr>
          <p:cNvPr id="20" name="Text 18"/>
          <p:cNvSpPr/>
          <p:nvPr/>
        </p:nvSpPr>
        <p:spPr>
          <a:xfrm>
            <a:off x="6537960" y="4800600"/>
            <a:ext cx="4754880" cy="3657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Input Output Buffer Register</a:t>
            </a:r>
            <a:endParaRPr lang="en-US" sz="1100" dirty="0"/>
          </a:p>
        </p:txBody>
      </p:sp>
      <p:sp>
        <p:nvSpPr>
          <p:cNvPr id="21" name="Text 19"/>
          <p:cNvSpPr/>
          <p:nvPr/>
        </p:nvSpPr>
        <p:spPr>
          <a:xfrm>
            <a:off x="6537960" y="5166360"/>
            <a:ext cx="4754880" cy="73152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Intercambia datos entre un módulo de E/S y el procesador</a:t>
            </a:r>
            <a:endParaRPr lang="en-US" sz="1300" dirty="0"/>
          </a:p>
        </p:txBody>
      </p:sp>
      <p:sp>
        <p:nvSpPr>
          <p:cNvPr id="22" name="Text 2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LOS TRES IMPRESCINDIBLES</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IR, PC y PSW</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endParaRPr lang="en-US" sz="1200" dirty="0"/>
          </a:p>
        </p:txBody>
      </p:sp>
      <p:sp>
        <p:nvSpPr>
          <p:cNvPr id="6" name="Shape 4"/>
          <p:cNvSpPr/>
          <p:nvPr/>
        </p:nvSpPr>
        <p:spPr>
          <a:xfrm>
            <a:off x="1691640" y="1965960"/>
            <a:ext cx="1371600" cy="1371600"/>
          </a:xfrm>
          <a:prstGeom prst="ellipse">
            <a:avLst/>
          </a:prstGeom>
          <a:solidFill>
            <a:srgbClr val="F2F4FB"/>
          </a:solidFill>
          <a:ln/>
        </p:spPr>
        <p:txBody>
          <a:bodyPr/>
          <a:lstStyle/>
          <a:p>
            <a:endParaRPr lang="es-MX"/>
          </a:p>
        </p:txBody>
      </p:sp>
      <p:sp>
        <p:nvSpPr>
          <p:cNvPr id="7" name="Text 5"/>
          <p:cNvSpPr/>
          <p:nvPr/>
        </p:nvSpPr>
        <p:spPr>
          <a:xfrm>
            <a:off x="1691640" y="1965960"/>
            <a:ext cx="1371600" cy="1371600"/>
          </a:xfrm>
          <a:prstGeom prst="rect">
            <a:avLst/>
          </a:prstGeom>
          <a:noFill/>
          <a:ln/>
        </p:spPr>
        <p:txBody>
          <a:bodyPr wrap="square"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IR</a:t>
            </a:r>
            <a:endParaRPr lang="en-US" sz="3000" dirty="0"/>
          </a:p>
        </p:txBody>
      </p:sp>
      <p:sp>
        <p:nvSpPr>
          <p:cNvPr id="8" name="Text 6"/>
          <p:cNvSpPr/>
          <p:nvPr/>
        </p:nvSpPr>
        <p:spPr>
          <a:xfrm>
            <a:off x="640080" y="3520440"/>
            <a:ext cx="3520440" cy="365760"/>
          </a:xfrm>
          <a:prstGeom prst="rect">
            <a:avLst/>
          </a:prstGeom>
          <a:noFill/>
          <a:ln/>
        </p:spPr>
        <p:txBody>
          <a:bodyPr wrap="square" rtlCol="0" anchor="ctr"/>
          <a:lstStyle/>
          <a:p>
            <a:pPr marL="0" indent="0" algn="ctr">
              <a:buNone/>
            </a:pPr>
            <a:r>
              <a:rPr lang="en-US" sz="1200" i="1" dirty="0">
                <a:solidFill>
                  <a:srgbClr val="5B6584"/>
                </a:solidFill>
                <a:latin typeface="Calibri" pitchFamily="34" charset="0"/>
                <a:ea typeface="Calibri" pitchFamily="34" charset="-122"/>
                <a:cs typeface="Calibri" pitchFamily="34" charset="-120"/>
              </a:rPr>
              <a:t>Instruction Register</a:t>
            </a:r>
            <a:endParaRPr lang="en-US" sz="1200" dirty="0"/>
          </a:p>
        </p:txBody>
      </p:sp>
      <p:sp>
        <p:nvSpPr>
          <p:cNvPr id="9" name="Text 7"/>
          <p:cNvSpPr/>
          <p:nvPr/>
        </p:nvSpPr>
        <p:spPr>
          <a:xfrm>
            <a:off x="822960" y="3931920"/>
            <a:ext cx="3154680" cy="1097280"/>
          </a:xfrm>
          <a:prstGeom prst="rect">
            <a:avLst/>
          </a:prstGeom>
          <a:noFill/>
          <a:ln/>
        </p:spPr>
        <p:txBody>
          <a:bodyPr wrap="square" rtlCol="0" anchor="ctr"/>
          <a:lstStyle/>
          <a:p>
            <a:pPr marL="0" indent="0" algn="ctr">
              <a:lnSpc>
                <a:spcPts val="1700"/>
              </a:lnSpc>
              <a:buNone/>
            </a:pPr>
            <a:r>
              <a:rPr lang="en-US" sz="1350" dirty="0">
                <a:solidFill>
                  <a:srgbClr val="1B1F3B"/>
                </a:solidFill>
                <a:latin typeface="Calibri" pitchFamily="34" charset="0"/>
                <a:ea typeface="Calibri" pitchFamily="34" charset="-122"/>
                <a:cs typeface="Calibri" pitchFamily="34" charset="-120"/>
              </a:rPr>
              <a:t>Contiene la última instrucción leída</a:t>
            </a:r>
            <a:endParaRPr lang="en-US" sz="1350" dirty="0"/>
          </a:p>
        </p:txBody>
      </p:sp>
      <p:sp>
        <p:nvSpPr>
          <p:cNvPr id="10" name="Shape 8"/>
          <p:cNvSpPr/>
          <p:nvPr/>
        </p:nvSpPr>
        <p:spPr>
          <a:xfrm>
            <a:off x="5394960" y="1965960"/>
            <a:ext cx="1371600" cy="1371600"/>
          </a:xfrm>
          <a:prstGeom prst="ellipse">
            <a:avLst/>
          </a:prstGeom>
          <a:solidFill>
            <a:srgbClr val="F2F4FB"/>
          </a:solidFill>
          <a:ln/>
        </p:spPr>
        <p:txBody>
          <a:bodyPr/>
          <a:lstStyle/>
          <a:p>
            <a:endParaRPr lang="es-MX"/>
          </a:p>
        </p:txBody>
      </p:sp>
      <p:sp>
        <p:nvSpPr>
          <p:cNvPr id="11" name="Text 9"/>
          <p:cNvSpPr/>
          <p:nvPr/>
        </p:nvSpPr>
        <p:spPr>
          <a:xfrm>
            <a:off x="5394960" y="1965960"/>
            <a:ext cx="1371600" cy="1371600"/>
          </a:xfrm>
          <a:prstGeom prst="rect">
            <a:avLst/>
          </a:prstGeom>
          <a:noFill/>
          <a:ln/>
        </p:spPr>
        <p:txBody>
          <a:bodyPr wrap="square"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PC</a:t>
            </a:r>
            <a:endParaRPr lang="en-US" sz="3000" dirty="0"/>
          </a:p>
        </p:txBody>
      </p:sp>
      <p:sp>
        <p:nvSpPr>
          <p:cNvPr id="12" name="Text 10"/>
          <p:cNvSpPr/>
          <p:nvPr/>
        </p:nvSpPr>
        <p:spPr>
          <a:xfrm>
            <a:off x="4343400" y="3520440"/>
            <a:ext cx="3520440" cy="365760"/>
          </a:xfrm>
          <a:prstGeom prst="rect">
            <a:avLst/>
          </a:prstGeom>
          <a:noFill/>
          <a:ln/>
        </p:spPr>
        <p:txBody>
          <a:bodyPr wrap="square" rtlCol="0" anchor="ctr"/>
          <a:lstStyle/>
          <a:p>
            <a:pPr marL="0" indent="0" algn="ctr">
              <a:buNone/>
            </a:pPr>
            <a:r>
              <a:rPr lang="en-US" sz="1200" i="1" dirty="0">
                <a:solidFill>
                  <a:srgbClr val="5B6584"/>
                </a:solidFill>
                <a:latin typeface="Calibri" pitchFamily="34" charset="0"/>
                <a:ea typeface="Calibri" pitchFamily="34" charset="-122"/>
                <a:cs typeface="Calibri" pitchFamily="34" charset="-120"/>
              </a:rPr>
              <a:t>Program Counter</a:t>
            </a:r>
            <a:endParaRPr lang="en-US" sz="1200" dirty="0"/>
          </a:p>
        </p:txBody>
      </p:sp>
      <p:sp>
        <p:nvSpPr>
          <p:cNvPr id="13" name="Text 11"/>
          <p:cNvSpPr/>
          <p:nvPr/>
        </p:nvSpPr>
        <p:spPr>
          <a:xfrm>
            <a:off x="4526280" y="3931920"/>
            <a:ext cx="3154680" cy="1097280"/>
          </a:xfrm>
          <a:prstGeom prst="rect">
            <a:avLst/>
          </a:prstGeom>
          <a:noFill/>
          <a:ln/>
        </p:spPr>
        <p:txBody>
          <a:bodyPr wrap="square" rtlCol="0" anchor="ctr"/>
          <a:lstStyle/>
          <a:p>
            <a:pPr marL="0" indent="0" algn="ctr">
              <a:lnSpc>
                <a:spcPts val="1700"/>
              </a:lnSpc>
              <a:buNone/>
            </a:pPr>
            <a:r>
              <a:rPr lang="en-US" sz="1350" dirty="0">
                <a:solidFill>
                  <a:srgbClr val="1B1F3B"/>
                </a:solidFill>
                <a:latin typeface="Calibri" pitchFamily="34" charset="0"/>
                <a:ea typeface="Calibri" pitchFamily="34" charset="-122"/>
                <a:cs typeface="Calibri" pitchFamily="34" charset="-120"/>
              </a:rPr>
              <a:t>Contiene la dirección de la próxima instrucción a leer</a:t>
            </a:r>
            <a:endParaRPr lang="en-US" sz="1350" dirty="0"/>
          </a:p>
        </p:txBody>
      </p:sp>
      <p:sp>
        <p:nvSpPr>
          <p:cNvPr id="14" name="Shape 12"/>
          <p:cNvSpPr/>
          <p:nvPr/>
        </p:nvSpPr>
        <p:spPr>
          <a:xfrm>
            <a:off x="9098280" y="1965960"/>
            <a:ext cx="1371600" cy="1371600"/>
          </a:xfrm>
          <a:prstGeom prst="ellipse">
            <a:avLst/>
          </a:prstGeom>
          <a:solidFill>
            <a:srgbClr val="F2F4FB"/>
          </a:solidFill>
          <a:ln/>
        </p:spPr>
        <p:txBody>
          <a:bodyPr/>
          <a:lstStyle/>
          <a:p>
            <a:endParaRPr lang="es-MX"/>
          </a:p>
        </p:txBody>
      </p:sp>
      <p:sp>
        <p:nvSpPr>
          <p:cNvPr id="15" name="Text 13"/>
          <p:cNvSpPr/>
          <p:nvPr/>
        </p:nvSpPr>
        <p:spPr>
          <a:xfrm>
            <a:off x="9098280" y="1965960"/>
            <a:ext cx="1371600" cy="1371600"/>
          </a:xfrm>
          <a:prstGeom prst="rect">
            <a:avLst/>
          </a:prstGeom>
          <a:noFill/>
          <a:ln/>
        </p:spPr>
        <p:txBody>
          <a:bodyPr wrap="square"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PSW</a:t>
            </a:r>
            <a:endParaRPr lang="en-US" sz="3000" dirty="0"/>
          </a:p>
        </p:txBody>
      </p:sp>
      <p:sp>
        <p:nvSpPr>
          <p:cNvPr id="16" name="Text 14"/>
          <p:cNvSpPr/>
          <p:nvPr/>
        </p:nvSpPr>
        <p:spPr>
          <a:xfrm>
            <a:off x="8046720" y="3520440"/>
            <a:ext cx="3520440" cy="365760"/>
          </a:xfrm>
          <a:prstGeom prst="rect">
            <a:avLst/>
          </a:prstGeom>
          <a:noFill/>
          <a:ln/>
        </p:spPr>
        <p:txBody>
          <a:bodyPr wrap="square" rtlCol="0" anchor="ctr"/>
          <a:lstStyle/>
          <a:p>
            <a:pPr marL="0" indent="0" algn="ctr">
              <a:buNone/>
            </a:pPr>
            <a:r>
              <a:rPr lang="en-US" sz="1200" i="1" dirty="0">
                <a:solidFill>
                  <a:srgbClr val="5B6584"/>
                </a:solidFill>
                <a:latin typeface="Calibri" pitchFamily="34" charset="0"/>
                <a:ea typeface="Calibri" pitchFamily="34" charset="-122"/>
                <a:cs typeface="Calibri" pitchFamily="34" charset="-120"/>
              </a:rPr>
              <a:t>Program Status Word</a:t>
            </a:r>
            <a:endParaRPr lang="en-US" sz="1200" dirty="0"/>
          </a:p>
        </p:txBody>
      </p:sp>
      <p:sp>
        <p:nvSpPr>
          <p:cNvPr id="17" name="Text 15"/>
          <p:cNvSpPr/>
          <p:nvPr/>
        </p:nvSpPr>
        <p:spPr>
          <a:xfrm>
            <a:off x="8229600" y="3931920"/>
            <a:ext cx="3154680" cy="1097280"/>
          </a:xfrm>
          <a:prstGeom prst="rect">
            <a:avLst/>
          </a:prstGeom>
          <a:noFill/>
          <a:ln/>
        </p:spPr>
        <p:txBody>
          <a:bodyPr wrap="square" rtlCol="0" anchor="ctr"/>
          <a:lstStyle/>
          <a:p>
            <a:pPr marL="0" indent="0" algn="ctr">
              <a:lnSpc>
                <a:spcPts val="1700"/>
              </a:lnSpc>
              <a:buNone/>
            </a:pPr>
            <a:r>
              <a:rPr lang="en-US" sz="1350" dirty="0">
                <a:solidFill>
                  <a:srgbClr val="1B1F3B"/>
                </a:solidFill>
                <a:latin typeface="Calibri" pitchFamily="34" charset="0"/>
                <a:ea typeface="Calibri" pitchFamily="34" charset="-122"/>
                <a:cs typeface="Calibri" pitchFamily="34" charset="-120"/>
              </a:rPr>
              <a:t>Contiene códigos de condición y otra información de estado</a:t>
            </a:r>
            <a:endParaRPr lang="en-US" sz="135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ADENTRO DEL PSW</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Los indicadores (flags) más comunes</a:t>
            </a:r>
            <a:endParaRPr lang="en-US" sz="2800" dirty="0"/>
          </a:p>
        </p:txBody>
      </p:sp>
      <p:sp>
        <p:nvSpPr>
          <p:cNvPr id="6" name="Shape 4"/>
          <p:cNvSpPr/>
          <p:nvPr/>
        </p:nvSpPr>
        <p:spPr>
          <a:xfrm>
            <a:off x="640080" y="1920240"/>
            <a:ext cx="3429000" cy="1508760"/>
          </a:xfrm>
          <a:prstGeom prst="rect">
            <a:avLst/>
          </a:prstGeom>
          <a:solidFill>
            <a:srgbClr val="F7F8FC"/>
          </a:solidFill>
          <a:ln/>
        </p:spPr>
        <p:txBody>
          <a:bodyPr/>
          <a:lstStyle/>
          <a:p>
            <a:endParaRPr lang="es-MX"/>
          </a:p>
        </p:txBody>
      </p:sp>
      <p:sp>
        <p:nvSpPr>
          <p:cNvPr id="7" name="Text 5"/>
          <p:cNvSpPr/>
          <p:nvPr/>
        </p:nvSpPr>
        <p:spPr>
          <a:xfrm>
            <a:off x="868680" y="2057400"/>
            <a:ext cx="29718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Signo</a:t>
            </a:r>
            <a:endParaRPr lang="en-US" sz="1400" dirty="0"/>
          </a:p>
        </p:txBody>
      </p:sp>
      <p:sp>
        <p:nvSpPr>
          <p:cNvPr id="8" name="Text 6"/>
          <p:cNvSpPr/>
          <p:nvPr/>
        </p:nvSpPr>
        <p:spPr>
          <a:xfrm>
            <a:off x="868680" y="2468880"/>
            <a:ext cx="2971800" cy="9144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Bit del signo de la última operación aritmética</a:t>
            </a:r>
            <a:endParaRPr lang="en-US" sz="1150" dirty="0"/>
          </a:p>
        </p:txBody>
      </p:sp>
      <p:sp>
        <p:nvSpPr>
          <p:cNvPr id="9" name="Shape 7"/>
          <p:cNvSpPr/>
          <p:nvPr/>
        </p:nvSpPr>
        <p:spPr>
          <a:xfrm>
            <a:off x="4343400" y="1920240"/>
            <a:ext cx="3429000" cy="1508760"/>
          </a:xfrm>
          <a:prstGeom prst="rect">
            <a:avLst/>
          </a:prstGeom>
          <a:solidFill>
            <a:srgbClr val="F7F8FC"/>
          </a:solidFill>
          <a:ln/>
        </p:spPr>
        <p:txBody>
          <a:bodyPr/>
          <a:lstStyle/>
          <a:p>
            <a:endParaRPr lang="es-MX"/>
          </a:p>
        </p:txBody>
      </p:sp>
      <p:sp>
        <p:nvSpPr>
          <p:cNvPr id="10" name="Text 8"/>
          <p:cNvSpPr/>
          <p:nvPr/>
        </p:nvSpPr>
        <p:spPr>
          <a:xfrm>
            <a:off x="4572000" y="2057400"/>
            <a:ext cx="29718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Cero</a:t>
            </a:r>
            <a:endParaRPr lang="en-US" sz="1400" dirty="0"/>
          </a:p>
        </p:txBody>
      </p:sp>
      <p:sp>
        <p:nvSpPr>
          <p:cNvPr id="11" name="Text 9"/>
          <p:cNvSpPr/>
          <p:nvPr/>
        </p:nvSpPr>
        <p:spPr>
          <a:xfrm>
            <a:off x="4572000" y="2468880"/>
            <a:ext cx="2971800" cy="9144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Se activa cuando el resultado es cero</a:t>
            </a:r>
            <a:endParaRPr lang="en-US" sz="1150" dirty="0"/>
          </a:p>
        </p:txBody>
      </p:sp>
      <p:sp>
        <p:nvSpPr>
          <p:cNvPr id="12" name="Shape 10"/>
          <p:cNvSpPr/>
          <p:nvPr/>
        </p:nvSpPr>
        <p:spPr>
          <a:xfrm>
            <a:off x="8046720" y="1920240"/>
            <a:ext cx="3429000" cy="1508760"/>
          </a:xfrm>
          <a:prstGeom prst="rect">
            <a:avLst/>
          </a:prstGeom>
          <a:solidFill>
            <a:srgbClr val="F7F8FC"/>
          </a:solidFill>
          <a:ln/>
        </p:spPr>
        <p:txBody>
          <a:bodyPr/>
          <a:lstStyle/>
          <a:p>
            <a:endParaRPr lang="es-MX"/>
          </a:p>
        </p:txBody>
      </p:sp>
      <p:sp>
        <p:nvSpPr>
          <p:cNvPr id="13" name="Text 11"/>
          <p:cNvSpPr/>
          <p:nvPr/>
        </p:nvSpPr>
        <p:spPr>
          <a:xfrm>
            <a:off x="8275320" y="2057400"/>
            <a:ext cx="29718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Acarreo</a:t>
            </a:r>
            <a:endParaRPr lang="en-US" sz="1400" dirty="0"/>
          </a:p>
        </p:txBody>
      </p:sp>
      <p:sp>
        <p:nvSpPr>
          <p:cNvPr id="14" name="Text 12"/>
          <p:cNvSpPr/>
          <p:nvPr/>
        </p:nvSpPr>
        <p:spPr>
          <a:xfrm>
            <a:off x="8275320" y="2468880"/>
            <a:ext cx="2971800" cy="9144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Se activa cuando una suma/resta produce acarreo</a:t>
            </a:r>
            <a:endParaRPr lang="en-US" sz="1150" dirty="0"/>
          </a:p>
        </p:txBody>
      </p:sp>
      <p:sp>
        <p:nvSpPr>
          <p:cNvPr id="15" name="Shape 13"/>
          <p:cNvSpPr/>
          <p:nvPr/>
        </p:nvSpPr>
        <p:spPr>
          <a:xfrm>
            <a:off x="640080" y="3657600"/>
            <a:ext cx="3429000" cy="1508760"/>
          </a:xfrm>
          <a:prstGeom prst="rect">
            <a:avLst/>
          </a:prstGeom>
          <a:solidFill>
            <a:srgbClr val="F7F8FC"/>
          </a:solidFill>
          <a:ln/>
        </p:spPr>
        <p:txBody>
          <a:bodyPr/>
          <a:lstStyle/>
          <a:p>
            <a:endParaRPr lang="es-MX"/>
          </a:p>
        </p:txBody>
      </p:sp>
      <p:sp>
        <p:nvSpPr>
          <p:cNvPr id="16" name="Text 14"/>
          <p:cNvSpPr/>
          <p:nvPr/>
        </p:nvSpPr>
        <p:spPr>
          <a:xfrm>
            <a:off x="868680" y="3794760"/>
            <a:ext cx="29718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Igualdad</a:t>
            </a:r>
            <a:endParaRPr lang="en-US" sz="1400" dirty="0"/>
          </a:p>
        </p:txBody>
      </p:sp>
      <p:sp>
        <p:nvSpPr>
          <p:cNvPr id="17" name="Text 15"/>
          <p:cNvSpPr/>
          <p:nvPr/>
        </p:nvSpPr>
        <p:spPr>
          <a:xfrm>
            <a:off x="868680" y="4206240"/>
            <a:ext cx="2971800" cy="9144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Se activa si una comparación lógica da igualdad</a:t>
            </a:r>
            <a:endParaRPr lang="en-US" sz="1150" dirty="0"/>
          </a:p>
        </p:txBody>
      </p:sp>
      <p:sp>
        <p:nvSpPr>
          <p:cNvPr id="18" name="Shape 16"/>
          <p:cNvSpPr/>
          <p:nvPr/>
        </p:nvSpPr>
        <p:spPr>
          <a:xfrm>
            <a:off x="4343400" y="3657600"/>
            <a:ext cx="3429000" cy="1508760"/>
          </a:xfrm>
          <a:prstGeom prst="rect">
            <a:avLst/>
          </a:prstGeom>
          <a:solidFill>
            <a:srgbClr val="F7F8FC"/>
          </a:solidFill>
          <a:ln/>
        </p:spPr>
        <p:txBody>
          <a:bodyPr/>
          <a:lstStyle/>
          <a:p>
            <a:endParaRPr lang="es-MX"/>
          </a:p>
        </p:txBody>
      </p:sp>
      <p:sp>
        <p:nvSpPr>
          <p:cNvPr id="19" name="Text 17"/>
          <p:cNvSpPr/>
          <p:nvPr/>
        </p:nvSpPr>
        <p:spPr>
          <a:xfrm>
            <a:off x="4572000" y="3794760"/>
            <a:ext cx="29718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Desbordamiento</a:t>
            </a:r>
            <a:endParaRPr lang="en-US" sz="1400" dirty="0"/>
          </a:p>
        </p:txBody>
      </p:sp>
      <p:sp>
        <p:nvSpPr>
          <p:cNvPr id="20" name="Text 18"/>
          <p:cNvSpPr/>
          <p:nvPr/>
        </p:nvSpPr>
        <p:spPr>
          <a:xfrm>
            <a:off x="4572000" y="4206240"/>
            <a:ext cx="2971800" cy="9144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Indica un desbordamiento aritmético</a:t>
            </a:r>
            <a:endParaRPr lang="en-US" sz="1150" dirty="0"/>
          </a:p>
        </p:txBody>
      </p:sp>
      <p:sp>
        <p:nvSpPr>
          <p:cNvPr id="21" name="Shape 19"/>
          <p:cNvSpPr/>
          <p:nvPr/>
        </p:nvSpPr>
        <p:spPr>
          <a:xfrm>
            <a:off x="8046720" y="3657600"/>
            <a:ext cx="3429000" cy="1508760"/>
          </a:xfrm>
          <a:prstGeom prst="rect">
            <a:avLst/>
          </a:prstGeom>
          <a:solidFill>
            <a:srgbClr val="F7F8FC"/>
          </a:solidFill>
          <a:ln/>
        </p:spPr>
        <p:txBody>
          <a:bodyPr/>
          <a:lstStyle/>
          <a:p>
            <a:endParaRPr lang="es-MX"/>
          </a:p>
        </p:txBody>
      </p:sp>
      <p:sp>
        <p:nvSpPr>
          <p:cNvPr id="22" name="Text 20"/>
          <p:cNvSpPr/>
          <p:nvPr/>
        </p:nvSpPr>
        <p:spPr>
          <a:xfrm>
            <a:off x="8275320" y="3794760"/>
            <a:ext cx="297180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Supervisor</a:t>
            </a:r>
            <a:endParaRPr lang="en-US" sz="1400" dirty="0"/>
          </a:p>
        </p:txBody>
      </p:sp>
      <p:sp>
        <p:nvSpPr>
          <p:cNvPr id="23" name="Text 21"/>
          <p:cNvSpPr/>
          <p:nvPr/>
        </p:nvSpPr>
        <p:spPr>
          <a:xfrm>
            <a:off x="8275320" y="4206240"/>
            <a:ext cx="2971800" cy="9144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Indica si el procesador corre en modo usuario o supervisor</a:t>
            </a:r>
            <a:endParaRPr lang="en-US" sz="1150" dirty="0"/>
          </a:p>
        </p:txBody>
      </p:sp>
      <p:sp>
        <p:nvSpPr>
          <p:cNvPr id="24" name="Text 2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CÓMO TRABAJA EL PROCESADOR</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El ciclo de instrucción</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endParaRPr lang="en-US" sz="1200" dirty="0"/>
          </a:p>
        </p:txBody>
      </p:sp>
      <p:sp>
        <p:nvSpPr>
          <p:cNvPr id="6" name="Text 4"/>
          <p:cNvSpPr/>
          <p:nvPr/>
        </p:nvSpPr>
        <p:spPr>
          <a:xfrm>
            <a:off x="640080" y="1691640"/>
            <a:ext cx="10607040" cy="548640"/>
          </a:xfrm>
          <a:prstGeom prst="rect">
            <a:avLst/>
          </a:prstGeom>
          <a:noFill/>
          <a:ln/>
        </p:spPr>
        <p:txBody>
          <a:bodyPr wrap="square" rtlCol="0" anchor="ctr"/>
          <a:lstStyle/>
          <a:p>
            <a:pPr marL="0" indent="0">
              <a:lnSpc>
                <a:spcPts val="2000"/>
              </a:lnSpc>
              <a:buNone/>
            </a:pPr>
            <a:r>
              <a:rPr lang="en-US" sz="1500" dirty="0">
                <a:solidFill>
                  <a:srgbClr val="5B6584"/>
                </a:solidFill>
                <a:latin typeface="Calibri" pitchFamily="34" charset="0"/>
                <a:ea typeface="Calibri" pitchFamily="34" charset="-122"/>
                <a:cs typeface="Calibri" pitchFamily="34" charset="-120"/>
              </a:rPr>
              <a:t>La actividad primordial de un computador: ejecutar programas, instrucción por instrucción. Cada ciclo se compone de dos pasos.</a:t>
            </a:r>
            <a:endParaRPr lang="en-US" sz="1500" dirty="0"/>
          </a:p>
        </p:txBody>
      </p:sp>
      <p:sp>
        <p:nvSpPr>
          <p:cNvPr id="7" name="Shape 5"/>
          <p:cNvSpPr/>
          <p:nvPr/>
        </p:nvSpPr>
        <p:spPr>
          <a:xfrm>
            <a:off x="1463040" y="2514600"/>
            <a:ext cx="2194560" cy="2194560"/>
          </a:xfrm>
          <a:prstGeom prst="ellipse">
            <a:avLst/>
          </a:prstGeom>
          <a:solidFill>
            <a:srgbClr val="1E2761"/>
          </a:solidFill>
          <a:ln/>
        </p:spPr>
        <p:txBody>
          <a:bodyPr/>
          <a:lstStyle/>
          <a:p>
            <a:endParaRPr lang="es-MX"/>
          </a:p>
        </p:txBody>
      </p:sp>
      <p:sp>
        <p:nvSpPr>
          <p:cNvPr id="8" name="Text 6"/>
          <p:cNvSpPr/>
          <p:nvPr/>
        </p:nvSpPr>
        <p:spPr>
          <a:xfrm>
            <a:off x="1463040" y="2514600"/>
            <a:ext cx="2194560" cy="219456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1</a:t>
            </a:r>
            <a:endParaRPr lang="en-US" sz="4800" dirty="0"/>
          </a:p>
        </p:txBody>
      </p:sp>
      <p:sp>
        <p:nvSpPr>
          <p:cNvPr id="9" name="Text 7"/>
          <p:cNvSpPr/>
          <p:nvPr/>
        </p:nvSpPr>
        <p:spPr>
          <a:xfrm>
            <a:off x="914400" y="4846320"/>
            <a:ext cx="3291840" cy="365760"/>
          </a:xfrm>
          <a:prstGeom prst="rect">
            <a:avLst/>
          </a:prstGeom>
          <a:noFill/>
          <a:ln/>
        </p:spPr>
        <p:txBody>
          <a:bodyPr wrap="square" rtlCol="0" anchor="ctr"/>
          <a:lstStyle/>
          <a:p>
            <a:pPr marL="0" indent="0" algn="ctr">
              <a:buNone/>
            </a:pPr>
            <a:r>
              <a:rPr lang="en-US" sz="1500" b="1" dirty="0">
                <a:solidFill>
                  <a:srgbClr val="1B1F3B"/>
                </a:solidFill>
                <a:latin typeface="Calibri" pitchFamily="34" charset="0"/>
                <a:ea typeface="Calibri" pitchFamily="34" charset="-122"/>
                <a:cs typeface="Calibri" pitchFamily="34" charset="-120"/>
              </a:rPr>
              <a:t>Ciclo de Lectura</a:t>
            </a:r>
            <a:endParaRPr lang="en-US" sz="1500" dirty="0"/>
          </a:p>
        </p:txBody>
      </p:sp>
      <p:sp>
        <p:nvSpPr>
          <p:cNvPr id="10" name="Text 8"/>
          <p:cNvSpPr/>
          <p:nvPr/>
        </p:nvSpPr>
        <p:spPr>
          <a:xfrm>
            <a:off x="777240" y="5212080"/>
            <a:ext cx="3566160" cy="731520"/>
          </a:xfrm>
          <a:prstGeom prst="rect">
            <a:avLst/>
          </a:prstGeom>
          <a:noFill/>
          <a:ln/>
        </p:spPr>
        <p:txBody>
          <a:bodyPr wrap="square" rtlCol="0" anchor="ctr"/>
          <a:lstStyle/>
          <a:p>
            <a:pPr marL="0" indent="0" algn="ctr">
              <a:lnSpc>
                <a:spcPts val="1500"/>
              </a:lnSpc>
              <a:buNone/>
            </a:pPr>
            <a:r>
              <a:rPr lang="en-US" sz="1200" dirty="0">
                <a:solidFill>
                  <a:srgbClr val="5B6584"/>
                </a:solidFill>
                <a:latin typeface="Calibri" pitchFamily="34" charset="0"/>
                <a:ea typeface="Calibri" pitchFamily="34" charset="-122"/>
                <a:cs typeface="Calibri" pitchFamily="34" charset="-120"/>
              </a:rPr>
              <a:t>Se transporta la instrucción desde la memoria</a:t>
            </a:r>
            <a:endParaRPr lang="en-US" sz="1200" dirty="0"/>
          </a:p>
        </p:txBody>
      </p:sp>
      <p:sp>
        <p:nvSpPr>
          <p:cNvPr id="11" name="Shape 9"/>
          <p:cNvSpPr/>
          <p:nvPr/>
        </p:nvSpPr>
        <p:spPr>
          <a:xfrm>
            <a:off x="3749039" y="3611880"/>
            <a:ext cx="3710093" cy="0"/>
          </a:xfrm>
          <a:prstGeom prst="line">
            <a:avLst/>
          </a:prstGeom>
          <a:noFill/>
          <a:ln w="38100">
            <a:solidFill>
              <a:srgbClr val="1E2761"/>
            </a:solidFill>
            <a:prstDash val="solid"/>
            <a:tailEnd type="triangle"/>
          </a:ln>
        </p:spPr>
        <p:txBody>
          <a:bodyPr/>
          <a:lstStyle/>
          <a:p>
            <a:endParaRPr lang="es-MX"/>
          </a:p>
        </p:txBody>
      </p:sp>
      <p:sp>
        <p:nvSpPr>
          <p:cNvPr id="12" name="Shape 10"/>
          <p:cNvSpPr/>
          <p:nvPr/>
        </p:nvSpPr>
        <p:spPr>
          <a:xfrm>
            <a:off x="7772400" y="2514600"/>
            <a:ext cx="2194560" cy="2194560"/>
          </a:xfrm>
          <a:prstGeom prst="ellipse">
            <a:avLst/>
          </a:prstGeom>
          <a:solidFill>
            <a:srgbClr val="E8B84B"/>
          </a:solidFill>
          <a:ln/>
        </p:spPr>
        <p:txBody>
          <a:bodyPr/>
          <a:lstStyle/>
          <a:p>
            <a:endParaRPr lang="es-MX"/>
          </a:p>
        </p:txBody>
      </p:sp>
      <p:sp>
        <p:nvSpPr>
          <p:cNvPr id="13" name="Text 11"/>
          <p:cNvSpPr/>
          <p:nvPr/>
        </p:nvSpPr>
        <p:spPr>
          <a:xfrm>
            <a:off x="7772400" y="2514600"/>
            <a:ext cx="2194560" cy="2194560"/>
          </a:xfrm>
          <a:prstGeom prst="rect">
            <a:avLst/>
          </a:prstGeom>
          <a:noFill/>
          <a:ln/>
        </p:spPr>
        <p:txBody>
          <a:bodyPr wrap="square"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2</a:t>
            </a:r>
            <a:endParaRPr lang="en-US" sz="4800" dirty="0"/>
          </a:p>
        </p:txBody>
      </p:sp>
      <p:sp>
        <p:nvSpPr>
          <p:cNvPr id="14" name="Text 12"/>
          <p:cNvSpPr/>
          <p:nvPr/>
        </p:nvSpPr>
        <p:spPr>
          <a:xfrm>
            <a:off x="7223760" y="4846320"/>
            <a:ext cx="3291840" cy="365760"/>
          </a:xfrm>
          <a:prstGeom prst="rect">
            <a:avLst/>
          </a:prstGeom>
          <a:noFill/>
          <a:ln/>
        </p:spPr>
        <p:txBody>
          <a:bodyPr wrap="square" rtlCol="0" anchor="ctr"/>
          <a:lstStyle/>
          <a:p>
            <a:pPr marL="0" indent="0" algn="ctr">
              <a:buNone/>
            </a:pPr>
            <a:r>
              <a:rPr lang="en-US" sz="1500" b="1" dirty="0">
                <a:solidFill>
                  <a:srgbClr val="1B1F3B"/>
                </a:solidFill>
                <a:latin typeface="Calibri" pitchFamily="34" charset="0"/>
                <a:ea typeface="Calibri" pitchFamily="34" charset="-122"/>
                <a:cs typeface="Calibri" pitchFamily="34" charset="-120"/>
              </a:rPr>
              <a:t>Ciclo de Ejecución</a:t>
            </a:r>
            <a:endParaRPr lang="en-US" sz="1500" dirty="0"/>
          </a:p>
        </p:txBody>
      </p:sp>
      <p:sp>
        <p:nvSpPr>
          <p:cNvPr id="15" name="Text 13"/>
          <p:cNvSpPr/>
          <p:nvPr/>
        </p:nvSpPr>
        <p:spPr>
          <a:xfrm>
            <a:off x="7086600" y="5212080"/>
            <a:ext cx="3566160" cy="731520"/>
          </a:xfrm>
          <a:prstGeom prst="rect">
            <a:avLst/>
          </a:prstGeom>
          <a:noFill/>
          <a:ln/>
        </p:spPr>
        <p:txBody>
          <a:bodyPr wrap="square" rtlCol="0" anchor="ctr"/>
          <a:lstStyle/>
          <a:p>
            <a:pPr marL="0" indent="0" algn="ctr">
              <a:lnSpc>
                <a:spcPts val="1500"/>
              </a:lnSpc>
              <a:buNone/>
            </a:pPr>
            <a:r>
              <a:rPr lang="en-US" sz="1200" dirty="0">
                <a:solidFill>
                  <a:srgbClr val="5B6584"/>
                </a:solidFill>
                <a:latin typeface="Calibri" pitchFamily="34" charset="0"/>
                <a:ea typeface="Calibri" pitchFamily="34" charset="-122"/>
                <a:cs typeface="Calibri" pitchFamily="34" charset="-120"/>
              </a:rPr>
              <a:t>Se ejecuta la instrucción leída</a:t>
            </a:r>
            <a:endParaRPr lang="en-US" sz="1200" dirty="0"/>
          </a:p>
        </p:txBody>
      </p:sp>
      <p:sp>
        <p:nvSpPr>
          <p:cNvPr id="16"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¿QUÉ PUEDE HACER UNA INSTRUCCIÓN?</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Cuatro tipos de operaciones</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15 min</a:t>
            </a:r>
            <a:endParaRPr lang="en-US" sz="1200" dirty="0"/>
          </a:p>
        </p:txBody>
      </p:sp>
      <p:sp>
        <p:nvSpPr>
          <p:cNvPr id="6" name="Shape 4"/>
          <p:cNvSpPr/>
          <p:nvPr/>
        </p:nvSpPr>
        <p:spPr>
          <a:xfrm>
            <a:off x="640080" y="1965960"/>
            <a:ext cx="5257800" cy="1737360"/>
          </a:xfrm>
          <a:prstGeom prst="rect">
            <a:avLst/>
          </a:prstGeom>
          <a:solidFill>
            <a:srgbClr val="232E6E"/>
          </a:solidFill>
          <a:ln/>
        </p:spPr>
        <p:txBody>
          <a:bodyPr/>
          <a:lstStyle/>
          <a:p>
            <a:endParaRPr lang="es-MX"/>
          </a:p>
        </p:txBody>
      </p:sp>
      <p:sp>
        <p:nvSpPr>
          <p:cNvPr id="7" name="Text 5"/>
          <p:cNvSpPr/>
          <p:nvPr/>
        </p:nvSpPr>
        <p:spPr>
          <a:xfrm>
            <a:off x="914400" y="2194560"/>
            <a:ext cx="4754880" cy="45720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Procesador ↔ Memoria</a:t>
            </a:r>
            <a:endParaRPr lang="en-US" sz="1600" dirty="0"/>
          </a:p>
        </p:txBody>
      </p:sp>
      <p:sp>
        <p:nvSpPr>
          <p:cNvPr id="8" name="Text 6"/>
          <p:cNvSpPr/>
          <p:nvPr/>
        </p:nvSpPr>
        <p:spPr>
          <a:xfrm>
            <a:off x="914400" y="2697480"/>
            <a:ext cx="4754880" cy="91440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Transporta datos entre el procesador y la memoria principal</a:t>
            </a:r>
            <a:endParaRPr lang="en-US" sz="1300" dirty="0"/>
          </a:p>
        </p:txBody>
      </p:sp>
      <p:sp>
        <p:nvSpPr>
          <p:cNvPr id="9" name="Shape 7"/>
          <p:cNvSpPr/>
          <p:nvPr/>
        </p:nvSpPr>
        <p:spPr>
          <a:xfrm>
            <a:off x="6263640" y="1965960"/>
            <a:ext cx="5257800" cy="1737360"/>
          </a:xfrm>
          <a:prstGeom prst="rect">
            <a:avLst/>
          </a:prstGeom>
          <a:solidFill>
            <a:srgbClr val="232E6E"/>
          </a:solidFill>
          <a:ln/>
        </p:spPr>
        <p:txBody>
          <a:bodyPr/>
          <a:lstStyle/>
          <a:p>
            <a:endParaRPr lang="es-MX"/>
          </a:p>
        </p:txBody>
      </p:sp>
      <p:sp>
        <p:nvSpPr>
          <p:cNvPr id="10" name="Text 8"/>
          <p:cNvSpPr/>
          <p:nvPr/>
        </p:nvSpPr>
        <p:spPr>
          <a:xfrm>
            <a:off x="6537960" y="2194560"/>
            <a:ext cx="4754880" cy="45720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Procesador ↔ E/S</a:t>
            </a:r>
            <a:endParaRPr lang="en-US" sz="1600" dirty="0"/>
          </a:p>
        </p:txBody>
      </p:sp>
      <p:sp>
        <p:nvSpPr>
          <p:cNvPr id="11" name="Text 9"/>
          <p:cNvSpPr/>
          <p:nvPr/>
        </p:nvSpPr>
        <p:spPr>
          <a:xfrm>
            <a:off x="6537960" y="2697480"/>
            <a:ext cx="4754880" cy="91440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Transfiere datos hacia y desde un dispositivo periférico</a:t>
            </a:r>
            <a:endParaRPr lang="en-US" sz="1300" dirty="0"/>
          </a:p>
        </p:txBody>
      </p:sp>
      <p:sp>
        <p:nvSpPr>
          <p:cNvPr id="12" name="Shape 10"/>
          <p:cNvSpPr/>
          <p:nvPr/>
        </p:nvSpPr>
        <p:spPr>
          <a:xfrm>
            <a:off x="640080" y="3931920"/>
            <a:ext cx="5257800" cy="1737360"/>
          </a:xfrm>
          <a:prstGeom prst="rect">
            <a:avLst/>
          </a:prstGeom>
          <a:solidFill>
            <a:srgbClr val="232E6E"/>
          </a:solidFill>
          <a:ln/>
        </p:spPr>
        <p:txBody>
          <a:bodyPr/>
          <a:lstStyle/>
          <a:p>
            <a:endParaRPr lang="es-MX"/>
          </a:p>
        </p:txBody>
      </p:sp>
      <p:sp>
        <p:nvSpPr>
          <p:cNvPr id="13" name="Text 11"/>
          <p:cNvSpPr/>
          <p:nvPr/>
        </p:nvSpPr>
        <p:spPr>
          <a:xfrm>
            <a:off x="914400" y="4160520"/>
            <a:ext cx="4754880" cy="45720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Tratamiento de datos</a:t>
            </a:r>
            <a:endParaRPr lang="en-US" sz="1600" dirty="0"/>
          </a:p>
        </p:txBody>
      </p:sp>
      <p:sp>
        <p:nvSpPr>
          <p:cNvPr id="14" name="Text 12"/>
          <p:cNvSpPr/>
          <p:nvPr/>
        </p:nvSpPr>
        <p:spPr>
          <a:xfrm>
            <a:off x="914400" y="4663440"/>
            <a:ext cx="4754880" cy="91440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Operación aritmética o lógica sobre los datos</a:t>
            </a:r>
            <a:endParaRPr lang="en-US" sz="1300" dirty="0"/>
          </a:p>
        </p:txBody>
      </p:sp>
      <p:sp>
        <p:nvSpPr>
          <p:cNvPr id="15" name="Shape 13"/>
          <p:cNvSpPr/>
          <p:nvPr/>
        </p:nvSpPr>
        <p:spPr>
          <a:xfrm>
            <a:off x="6263640" y="3931920"/>
            <a:ext cx="5257800" cy="1737360"/>
          </a:xfrm>
          <a:prstGeom prst="rect">
            <a:avLst/>
          </a:prstGeom>
          <a:solidFill>
            <a:srgbClr val="232E6E"/>
          </a:solidFill>
          <a:ln/>
        </p:spPr>
        <p:txBody>
          <a:bodyPr/>
          <a:lstStyle/>
          <a:p>
            <a:endParaRPr lang="es-MX"/>
          </a:p>
        </p:txBody>
      </p:sp>
      <p:sp>
        <p:nvSpPr>
          <p:cNvPr id="16" name="Text 14"/>
          <p:cNvSpPr/>
          <p:nvPr/>
        </p:nvSpPr>
        <p:spPr>
          <a:xfrm>
            <a:off x="6537960" y="4160520"/>
            <a:ext cx="4754880" cy="45720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Control</a:t>
            </a:r>
            <a:endParaRPr lang="en-US" sz="1600" dirty="0"/>
          </a:p>
        </p:txBody>
      </p:sp>
      <p:sp>
        <p:nvSpPr>
          <p:cNvPr id="17" name="Text 15"/>
          <p:cNvSpPr/>
          <p:nvPr/>
        </p:nvSpPr>
        <p:spPr>
          <a:xfrm>
            <a:off x="6537960" y="4663440"/>
            <a:ext cx="4754880" cy="91440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Altera la secuencia de ejecución (ej. saltar de la instrucción 100 a la 160)</a:t>
            </a:r>
            <a:endParaRPr lang="en-US" sz="130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OPTIMIZANDO EL PROCESAMIENTO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¿Qué es una interrupción?</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endParaRPr lang="en-US" sz="1200" dirty="0"/>
          </a:p>
        </p:txBody>
      </p:sp>
      <p:sp>
        <p:nvSpPr>
          <p:cNvPr id="6" name="Text 4"/>
          <p:cNvSpPr/>
          <p:nvPr/>
        </p:nvSpPr>
        <p:spPr>
          <a:xfrm>
            <a:off x="640080" y="1691640"/>
            <a:ext cx="10607040" cy="548640"/>
          </a:xfrm>
          <a:prstGeom prst="rect">
            <a:avLst/>
          </a:prstGeom>
          <a:noFill/>
          <a:ln/>
        </p:spPr>
        <p:txBody>
          <a:bodyPr wrap="square" rtlCol="0" anchor="ctr"/>
          <a:lstStyle/>
          <a:p>
            <a:pPr marL="0" indent="0">
              <a:lnSpc>
                <a:spcPts val="2000"/>
              </a:lnSpc>
              <a:buNone/>
            </a:pPr>
            <a:r>
              <a:rPr lang="en-US" sz="1500" dirty="0">
                <a:solidFill>
                  <a:srgbClr val="5B6584"/>
                </a:solidFill>
                <a:latin typeface="Calibri" pitchFamily="34" charset="0"/>
                <a:ea typeface="Calibri" pitchFamily="34" charset="-122"/>
                <a:cs typeface="Calibri" pitchFamily="34" charset="-120"/>
              </a:rPr>
              <a:t>Mecanismo que permite interrumpir la ejecución regular del procesador — generado por E/S, memoria, o el propio procesador.</a:t>
            </a:r>
            <a:endParaRPr lang="en-US" sz="1500" dirty="0"/>
          </a:p>
        </p:txBody>
      </p:sp>
      <p:sp>
        <p:nvSpPr>
          <p:cNvPr id="7" name="Shape 5"/>
          <p:cNvSpPr/>
          <p:nvPr/>
        </p:nvSpPr>
        <p:spPr>
          <a:xfrm>
            <a:off x="640080" y="2468880"/>
            <a:ext cx="5257800" cy="1508760"/>
          </a:xfrm>
          <a:prstGeom prst="rect">
            <a:avLst/>
          </a:prstGeom>
          <a:solidFill>
            <a:srgbClr val="F7F8FC"/>
          </a:solidFill>
          <a:ln/>
        </p:spPr>
        <p:txBody>
          <a:bodyPr/>
          <a:lstStyle/>
          <a:p>
            <a:endParaRPr lang="es-MX"/>
          </a:p>
        </p:txBody>
      </p:sp>
      <p:sp>
        <p:nvSpPr>
          <p:cNvPr id="8" name="Text 6"/>
          <p:cNvSpPr/>
          <p:nvPr/>
        </p:nvSpPr>
        <p:spPr>
          <a:xfrm>
            <a:off x="914400" y="2606040"/>
            <a:ext cx="47548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 Programa</a:t>
            </a:r>
            <a:endParaRPr lang="en-US" sz="1500" dirty="0"/>
          </a:p>
        </p:txBody>
      </p:sp>
      <p:sp>
        <p:nvSpPr>
          <p:cNvPr id="9" name="Text 7"/>
          <p:cNvSpPr/>
          <p:nvPr/>
        </p:nvSpPr>
        <p:spPr>
          <a:xfrm>
            <a:off x="914400" y="3017520"/>
            <a:ext cx="4754880" cy="91440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Desbordamiento aritmético, división por cero, instrucción ilegal, acceso fuera de memoria permitida</a:t>
            </a:r>
            <a:endParaRPr lang="en-US" sz="1200" dirty="0"/>
          </a:p>
        </p:txBody>
      </p:sp>
      <p:sp>
        <p:nvSpPr>
          <p:cNvPr id="10" name="Shape 8"/>
          <p:cNvSpPr/>
          <p:nvPr/>
        </p:nvSpPr>
        <p:spPr>
          <a:xfrm>
            <a:off x="6263640" y="2468880"/>
            <a:ext cx="5257800" cy="1508760"/>
          </a:xfrm>
          <a:prstGeom prst="rect">
            <a:avLst/>
          </a:prstGeom>
          <a:solidFill>
            <a:srgbClr val="F7F8FC"/>
          </a:solidFill>
          <a:ln/>
        </p:spPr>
        <p:txBody>
          <a:bodyPr/>
          <a:lstStyle/>
          <a:p>
            <a:endParaRPr lang="es-MX"/>
          </a:p>
        </p:txBody>
      </p:sp>
      <p:sp>
        <p:nvSpPr>
          <p:cNvPr id="11" name="Text 9"/>
          <p:cNvSpPr/>
          <p:nvPr/>
        </p:nvSpPr>
        <p:spPr>
          <a:xfrm>
            <a:off x="6537960" y="2606040"/>
            <a:ext cx="47548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 Reloj</a:t>
            </a:r>
            <a:endParaRPr lang="en-US" sz="1500" dirty="0"/>
          </a:p>
        </p:txBody>
      </p:sp>
      <p:sp>
        <p:nvSpPr>
          <p:cNvPr id="12" name="Text 10"/>
          <p:cNvSpPr/>
          <p:nvPr/>
        </p:nvSpPr>
        <p:spPr>
          <a:xfrm>
            <a:off x="6537960" y="3017520"/>
            <a:ext cx="4754880" cy="91440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Generadas por el reloj interno — permiten ejecutar tareas con regularidad</a:t>
            </a:r>
            <a:endParaRPr lang="en-US" sz="1200" dirty="0"/>
          </a:p>
        </p:txBody>
      </p:sp>
      <p:sp>
        <p:nvSpPr>
          <p:cNvPr id="13" name="Shape 11"/>
          <p:cNvSpPr/>
          <p:nvPr/>
        </p:nvSpPr>
        <p:spPr>
          <a:xfrm>
            <a:off x="640080" y="4206240"/>
            <a:ext cx="5257800" cy="1508760"/>
          </a:xfrm>
          <a:prstGeom prst="rect">
            <a:avLst/>
          </a:prstGeom>
          <a:solidFill>
            <a:srgbClr val="F7F8FC"/>
          </a:solidFill>
          <a:ln/>
        </p:spPr>
        <p:txBody>
          <a:bodyPr/>
          <a:lstStyle/>
          <a:p>
            <a:endParaRPr lang="es-MX"/>
          </a:p>
        </p:txBody>
      </p:sp>
      <p:sp>
        <p:nvSpPr>
          <p:cNvPr id="14" name="Text 12"/>
          <p:cNvSpPr/>
          <p:nvPr/>
        </p:nvSpPr>
        <p:spPr>
          <a:xfrm>
            <a:off x="914400" y="4343400"/>
            <a:ext cx="47548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 E/S</a:t>
            </a:r>
            <a:endParaRPr lang="en-US" sz="1500" dirty="0"/>
          </a:p>
        </p:txBody>
      </p:sp>
      <p:sp>
        <p:nvSpPr>
          <p:cNvPr id="15" name="Text 13"/>
          <p:cNvSpPr/>
          <p:nvPr/>
        </p:nvSpPr>
        <p:spPr>
          <a:xfrm>
            <a:off x="914400" y="4754880"/>
            <a:ext cx="4754880" cy="91440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Un controlador de E/S avisa que una operación terminó (o hay un error)</a:t>
            </a:r>
            <a:endParaRPr lang="en-US" sz="1200" dirty="0"/>
          </a:p>
        </p:txBody>
      </p:sp>
      <p:sp>
        <p:nvSpPr>
          <p:cNvPr id="16" name="Shape 14"/>
          <p:cNvSpPr/>
          <p:nvPr/>
        </p:nvSpPr>
        <p:spPr>
          <a:xfrm>
            <a:off x="6263640" y="4206240"/>
            <a:ext cx="5257800" cy="1508760"/>
          </a:xfrm>
          <a:prstGeom prst="rect">
            <a:avLst/>
          </a:prstGeom>
          <a:solidFill>
            <a:srgbClr val="F7F8FC"/>
          </a:solidFill>
          <a:ln/>
        </p:spPr>
        <p:txBody>
          <a:bodyPr/>
          <a:lstStyle/>
          <a:p>
            <a:endParaRPr lang="es-MX"/>
          </a:p>
        </p:txBody>
      </p:sp>
      <p:sp>
        <p:nvSpPr>
          <p:cNvPr id="17" name="Text 15"/>
          <p:cNvSpPr/>
          <p:nvPr/>
        </p:nvSpPr>
        <p:spPr>
          <a:xfrm>
            <a:off x="6537960" y="4343400"/>
            <a:ext cx="47548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Por Fallo de Hardware</a:t>
            </a:r>
            <a:endParaRPr lang="en-US" sz="1500" dirty="0"/>
          </a:p>
        </p:txBody>
      </p:sp>
      <p:sp>
        <p:nvSpPr>
          <p:cNvPr id="18" name="Text 16"/>
          <p:cNvSpPr/>
          <p:nvPr/>
        </p:nvSpPr>
        <p:spPr>
          <a:xfrm>
            <a:off x="6537960" y="4754880"/>
            <a:ext cx="4754880" cy="91440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Cortes de energía, error de paridad de memoria, etc.</a:t>
            </a:r>
            <a:endParaRPr lang="en-US" sz="1200" dirty="0"/>
          </a:p>
        </p:txBody>
      </p:sp>
      <p:sp>
        <p:nvSpPr>
          <p:cNvPr id="19" name="Text 1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PASO A PASO</a:t>
            </a:r>
            <a:endParaRPr lang="en-US" sz="1300" dirty="0"/>
          </a:p>
        </p:txBody>
      </p:sp>
      <p:sp>
        <p:nvSpPr>
          <p:cNvPr id="3" name="Text 1"/>
          <p:cNvSpPr/>
          <p:nvPr/>
        </p:nvSpPr>
        <p:spPr>
          <a:xfrm>
            <a:off x="640080" y="86868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El procedimiento de una interrupción</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25 min</a:t>
            </a:r>
            <a:endParaRPr lang="en-US" sz="1200" dirty="0"/>
          </a:p>
        </p:txBody>
      </p:sp>
      <p:sp>
        <p:nvSpPr>
          <p:cNvPr id="6" name="Shape 4"/>
          <p:cNvSpPr/>
          <p:nvPr/>
        </p:nvSpPr>
        <p:spPr>
          <a:xfrm>
            <a:off x="640080" y="1783080"/>
            <a:ext cx="457200" cy="457200"/>
          </a:xfrm>
          <a:prstGeom prst="ellipse">
            <a:avLst/>
          </a:prstGeom>
          <a:solidFill>
            <a:srgbClr val="E8B84B"/>
          </a:solidFill>
          <a:ln/>
        </p:spPr>
        <p:txBody>
          <a:bodyPr/>
          <a:lstStyle/>
          <a:p>
            <a:endParaRPr lang="es-MX"/>
          </a:p>
        </p:txBody>
      </p:sp>
      <p:sp>
        <p:nvSpPr>
          <p:cNvPr id="7" name="Text 5"/>
          <p:cNvSpPr/>
          <p:nvPr/>
        </p:nvSpPr>
        <p:spPr>
          <a:xfrm>
            <a:off x="640080" y="178308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280160" y="1755648"/>
            <a:ext cx="10241280" cy="502920"/>
          </a:xfrm>
          <a:prstGeom prst="rect">
            <a:avLst/>
          </a:prstGeom>
          <a:noFill/>
          <a:ln/>
        </p:spPr>
        <p:txBody>
          <a:bodyPr wrap="square" rtlCol="0" anchor="ctr"/>
          <a:lstStyle/>
          <a:p>
            <a:pPr marL="0" indent="0">
              <a:lnSpc>
                <a:spcPts val="1600"/>
              </a:lnSpc>
              <a:buNone/>
            </a:pPr>
            <a:r>
              <a:rPr lang="en-US" sz="1350" dirty="0">
                <a:solidFill>
                  <a:srgbClr val="FFFFFF"/>
                </a:solidFill>
                <a:latin typeface="Calibri" pitchFamily="34" charset="0"/>
                <a:ea typeface="Calibri" pitchFamily="34" charset="-122"/>
                <a:cs typeface="Calibri" pitchFamily="34" charset="-120"/>
              </a:rPr>
              <a:t>El dispositivo de E/S envía al procesador la señal de interrupción</a:t>
            </a:r>
            <a:endParaRPr lang="en-US" sz="1350" dirty="0"/>
          </a:p>
        </p:txBody>
      </p:sp>
      <p:sp>
        <p:nvSpPr>
          <p:cNvPr id="9" name="Shape 7"/>
          <p:cNvSpPr/>
          <p:nvPr/>
        </p:nvSpPr>
        <p:spPr>
          <a:xfrm>
            <a:off x="640080" y="2441448"/>
            <a:ext cx="457200" cy="457200"/>
          </a:xfrm>
          <a:prstGeom prst="ellipse">
            <a:avLst/>
          </a:prstGeom>
          <a:solidFill>
            <a:srgbClr val="E8B84B"/>
          </a:solidFill>
          <a:ln/>
        </p:spPr>
        <p:txBody>
          <a:bodyPr/>
          <a:lstStyle/>
          <a:p>
            <a:endParaRPr lang="es-MX"/>
          </a:p>
        </p:txBody>
      </p:sp>
      <p:sp>
        <p:nvSpPr>
          <p:cNvPr id="10" name="Text 8"/>
          <p:cNvSpPr/>
          <p:nvPr/>
        </p:nvSpPr>
        <p:spPr>
          <a:xfrm>
            <a:off x="640080" y="2441448"/>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280160" y="2414016"/>
            <a:ext cx="10241280" cy="502920"/>
          </a:xfrm>
          <a:prstGeom prst="rect">
            <a:avLst/>
          </a:prstGeom>
          <a:noFill/>
          <a:ln/>
        </p:spPr>
        <p:txBody>
          <a:bodyPr wrap="square" rtlCol="0" anchor="ctr"/>
          <a:lstStyle/>
          <a:p>
            <a:pPr marL="0" indent="0">
              <a:lnSpc>
                <a:spcPts val="1600"/>
              </a:lnSpc>
              <a:buNone/>
            </a:pPr>
            <a:r>
              <a:rPr lang="en-US" sz="1350" dirty="0">
                <a:solidFill>
                  <a:srgbClr val="FFFFFF"/>
                </a:solidFill>
                <a:latin typeface="Calibri" pitchFamily="34" charset="0"/>
                <a:ea typeface="Calibri" pitchFamily="34" charset="-122"/>
                <a:cs typeface="Calibri" pitchFamily="34" charset="-120"/>
              </a:rPr>
              <a:t>El procesador termina la instrucción en curso antes de responder</a:t>
            </a:r>
            <a:endParaRPr lang="en-US" sz="1350" dirty="0"/>
          </a:p>
        </p:txBody>
      </p:sp>
      <p:sp>
        <p:nvSpPr>
          <p:cNvPr id="12" name="Shape 10"/>
          <p:cNvSpPr/>
          <p:nvPr/>
        </p:nvSpPr>
        <p:spPr>
          <a:xfrm>
            <a:off x="640080" y="3099816"/>
            <a:ext cx="457200" cy="457200"/>
          </a:xfrm>
          <a:prstGeom prst="ellipse">
            <a:avLst/>
          </a:prstGeom>
          <a:solidFill>
            <a:srgbClr val="E8B84B"/>
          </a:solidFill>
          <a:ln/>
        </p:spPr>
        <p:txBody>
          <a:bodyPr/>
          <a:lstStyle/>
          <a:p>
            <a:endParaRPr lang="es-MX"/>
          </a:p>
        </p:txBody>
      </p:sp>
      <p:sp>
        <p:nvSpPr>
          <p:cNvPr id="13" name="Text 11"/>
          <p:cNvSpPr/>
          <p:nvPr/>
        </p:nvSpPr>
        <p:spPr>
          <a:xfrm>
            <a:off x="640080" y="3099816"/>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3072384"/>
            <a:ext cx="10241280" cy="502920"/>
          </a:xfrm>
          <a:prstGeom prst="rect">
            <a:avLst/>
          </a:prstGeom>
          <a:noFill/>
          <a:ln/>
        </p:spPr>
        <p:txBody>
          <a:bodyPr wrap="square" rtlCol="0" anchor="ctr"/>
          <a:lstStyle/>
          <a:p>
            <a:pPr marL="0" indent="0">
              <a:lnSpc>
                <a:spcPts val="1600"/>
              </a:lnSpc>
              <a:buNone/>
            </a:pPr>
            <a:r>
              <a:rPr lang="en-US" sz="1350" dirty="0">
                <a:solidFill>
                  <a:srgbClr val="FFFFFF"/>
                </a:solidFill>
                <a:latin typeface="Calibri" pitchFamily="34" charset="0"/>
                <a:ea typeface="Calibri" pitchFamily="34" charset="-122"/>
                <a:cs typeface="Calibri" pitchFamily="34" charset="-120"/>
              </a:rPr>
              <a:t>El procesador reconoce la interrupción y el dispositivo retira la señal</a:t>
            </a:r>
            <a:endParaRPr lang="en-US" sz="1350" dirty="0"/>
          </a:p>
        </p:txBody>
      </p:sp>
      <p:sp>
        <p:nvSpPr>
          <p:cNvPr id="15" name="Shape 13"/>
          <p:cNvSpPr/>
          <p:nvPr/>
        </p:nvSpPr>
        <p:spPr>
          <a:xfrm>
            <a:off x="640080" y="3758184"/>
            <a:ext cx="457200" cy="457200"/>
          </a:xfrm>
          <a:prstGeom prst="ellipse">
            <a:avLst/>
          </a:prstGeom>
          <a:solidFill>
            <a:srgbClr val="E8B84B"/>
          </a:solidFill>
          <a:ln/>
        </p:spPr>
        <p:txBody>
          <a:bodyPr/>
          <a:lstStyle/>
          <a:p>
            <a:endParaRPr lang="es-MX"/>
          </a:p>
        </p:txBody>
      </p:sp>
      <p:sp>
        <p:nvSpPr>
          <p:cNvPr id="16" name="Text 14"/>
          <p:cNvSpPr/>
          <p:nvPr/>
        </p:nvSpPr>
        <p:spPr>
          <a:xfrm>
            <a:off x="640080" y="3758184"/>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280160" y="3730752"/>
            <a:ext cx="10241280" cy="502920"/>
          </a:xfrm>
          <a:prstGeom prst="rect">
            <a:avLst/>
          </a:prstGeom>
          <a:noFill/>
          <a:ln/>
        </p:spPr>
        <p:txBody>
          <a:bodyPr wrap="square" rtlCol="0" anchor="ctr"/>
          <a:lstStyle/>
          <a:p>
            <a:pPr marL="0" indent="0">
              <a:lnSpc>
                <a:spcPts val="1600"/>
              </a:lnSpc>
              <a:buNone/>
            </a:pPr>
            <a:r>
              <a:rPr lang="en-US" sz="1350" dirty="0">
                <a:solidFill>
                  <a:srgbClr val="FFFFFF"/>
                </a:solidFill>
                <a:latin typeface="Calibri" pitchFamily="34" charset="0"/>
                <a:ea typeface="Calibri" pitchFamily="34" charset="-122"/>
                <a:cs typeface="Calibri" pitchFamily="34" charset="-120"/>
              </a:rPr>
              <a:t>Se transfiere el control a la rutina de interrupción: se guarda PSW y PC</a:t>
            </a:r>
            <a:endParaRPr lang="en-US" sz="1350" dirty="0"/>
          </a:p>
        </p:txBody>
      </p:sp>
      <p:sp>
        <p:nvSpPr>
          <p:cNvPr id="18" name="Shape 16"/>
          <p:cNvSpPr/>
          <p:nvPr/>
        </p:nvSpPr>
        <p:spPr>
          <a:xfrm>
            <a:off x="640080" y="4416552"/>
            <a:ext cx="457200" cy="457200"/>
          </a:xfrm>
          <a:prstGeom prst="ellipse">
            <a:avLst/>
          </a:prstGeom>
          <a:solidFill>
            <a:srgbClr val="E8B84B"/>
          </a:solidFill>
          <a:ln/>
        </p:spPr>
        <p:txBody>
          <a:bodyPr/>
          <a:lstStyle/>
          <a:p>
            <a:endParaRPr lang="es-MX"/>
          </a:p>
        </p:txBody>
      </p:sp>
      <p:sp>
        <p:nvSpPr>
          <p:cNvPr id="19" name="Text 17"/>
          <p:cNvSpPr/>
          <p:nvPr/>
        </p:nvSpPr>
        <p:spPr>
          <a:xfrm>
            <a:off x="640080" y="4416552"/>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5</a:t>
            </a:r>
            <a:endParaRPr lang="en-US" sz="1500" dirty="0"/>
          </a:p>
        </p:txBody>
      </p:sp>
      <p:sp>
        <p:nvSpPr>
          <p:cNvPr id="20" name="Text 18"/>
          <p:cNvSpPr/>
          <p:nvPr/>
        </p:nvSpPr>
        <p:spPr>
          <a:xfrm>
            <a:off x="1280160" y="4389120"/>
            <a:ext cx="10241280" cy="502920"/>
          </a:xfrm>
          <a:prstGeom prst="rect">
            <a:avLst/>
          </a:prstGeom>
          <a:noFill/>
          <a:ln/>
        </p:spPr>
        <p:txBody>
          <a:bodyPr wrap="square" rtlCol="0" anchor="ctr"/>
          <a:lstStyle/>
          <a:p>
            <a:pPr marL="0" indent="0">
              <a:lnSpc>
                <a:spcPts val="1600"/>
              </a:lnSpc>
              <a:buNone/>
            </a:pPr>
            <a:r>
              <a:rPr lang="en-US" sz="1350" dirty="0">
                <a:solidFill>
                  <a:srgbClr val="FFFFFF"/>
                </a:solidFill>
                <a:latin typeface="Calibri" pitchFamily="34" charset="0"/>
                <a:ea typeface="Calibri" pitchFamily="34" charset="-122"/>
                <a:cs typeface="Calibri" pitchFamily="34" charset="-120"/>
              </a:rPr>
              <a:t>Se procesa la interrupción (rutina específica del sistema operativo)</a:t>
            </a:r>
            <a:endParaRPr lang="en-US" sz="1350" dirty="0"/>
          </a:p>
        </p:txBody>
      </p:sp>
      <p:sp>
        <p:nvSpPr>
          <p:cNvPr id="21" name="Shape 19"/>
          <p:cNvSpPr/>
          <p:nvPr/>
        </p:nvSpPr>
        <p:spPr>
          <a:xfrm>
            <a:off x="640080" y="5074920"/>
            <a:ext cx="457200" cy="457200"/>
          </a:xfrm>
          <a:prstGeom prst="ellipse">
            <a:avLst/>
          </a:prstGeom>
          <a:solidFill>
            <a:srgbClr val="E8B84B"/>
          </a:solidFill>
          <a:ln/>
        </p:spPr>
        <p:txBody>
          <a:bodyPr/>
          <a:lstStyle/>
          <a:p>
            <a:endParaRPr lang="es-MX"/>
          </a:p>
        </p:txBody>
      </p:sp>
      <p:sp>
        <p:nvSpPr>
          <p:cNvPr id="22" name="Text 20"/>
          <p:cNvSpPr/>
          <p:nvPr/>
        </p:nvSpPr>
        <p:spPr>
          <a:xfrm>
            <a:off x="640080" y="507492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6</a:t>
            </a:r>
            <a:endParaRPr lang="en-US" sz="1500" dirty="0"/>
          </a:p>
        </p:txBody>
      </p:sp>
      <p:sp>
        <p:nvSpPr>
          <p:cNvPr id="23" name="Text 21"/>
          <p:cNvSpPr/>
          <p:nvPr/>
        </p:nvSpPr>
        <p:spPr>
          <a:xfrm>
            <a:off x="1280160" y="5047488"/>
            <a:ext cx="10241280" cy="502920"/>
          </a:xfrm>
          <a:prstGeom prst="rect">
            <a:avLst/>
          </a:prstGeom>
          <a:noFill/>
          <a:ln/>
        </p:spPr>
        <p:txBody>
          <a:bodyPr wrap="square" rtlCol="0" anchor="ctr"/>
          <a:lstStyle/>
          <a:p>
            <a:pPr marL="0" indent="0">
              <a:lnSpc>
                <a:spcPts val="1600"/>
              </a:lnSpc>
              <a:buNone/>
            </a:pPr>
            <a:r>
              <a:rPr lang="en-US" sz="1350" dirty="0">
                <a:solidFill>
                  <a:srgbClr val="FFFFFF"/>
                </a:solidFill>
                <a:latin typeface="Calibri" pitchFamily="34" charset="0"/>
                <a:ea typeface="Calibri" pitchFamily="34" charset="-122"/>
                <a:cs typeface="Calibri" pitchFamily="34" charset="-120"/>
              </a:rPr>
              <a:t>Se restauran los valores guardados y continúa el programa interrumpido</a:t>
            </a:r>
            <a:endParaRPr lang="en-US" sz="1350" dirty="0"/>
          </a:p>
        </p:txBody>
      </p:sp>
      <p:sp>
        <p:nvSpPr>
          <p:cNvPr id="24" name="Text 2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EL PROBLEMA DE FONDO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Jerarquía de la memoria</a:t>
            </a:r>
            <a:endParaRPr lang="en-US" sz="2800" dirty="0"/>
          </a:p>
        </p:txBody>
      </p:sp>
      <p:sp>
        <p:nvSpPr>
          <p:cNvPr id="6" name="Text 4"/>
          <p:cNvSpPr/>
          <p:nvPr/>
        </p:nvSpPr>
        <p:spPr>
          <a:xfrm>
            <a:off x="640080" y="1691640"/>
            <a:ext cx="10607040" cy="548640"/>
          </a:xfrm>
          <a:prstGeom prst="rect">
            <a:avLst/>
          </a:prstGeom>
          <a:noFill/>
          <a:ln/>
        </p:spPr>
        <p:txBody>
          <a:bodyPr wrap="square" rtlCol="0" anchor="ctr"/>
          <a:lstStyle/>
          <a:p>
            <a:pPr marL="0" indent="0">
              <a:lnSpc>
                <a:spcPts val="2000"/>
              </a:lnSpc>
              <a:buNone/>
            </a:pPr>
            <a:r>
              <a:rPr lang="en-US" sz="1500" dirty="0">
                <a:solidFill>
                  <a:srgbClr val="5B6584"/>
                </a:solidFill>
                <a:latin typeface="Calibri" pitchFamily="34" charset="0"/>
                <a:ea typeface="Calibri" pitchFamily="34" charset="-122"/>
                <a:cs typeface="Calibri" pitchFamily="34" charset="-120"/>
              </a:rPr>
              <a:t>No existe una memoria que sea a la vez muy rápida, muy grande y muy barata. La solución: organizarla en capas.</a:t>
            </a:r>
            <a:endParaRPr lang="en-US" sz="1500" dirty="0"/>
          </a:p>
        </p:txBody>
      </p:sp>
      <p:sp>
        <p:nvSpPr>
          <p:cNvPr id="7" name="Shape 5"/>
          <p:cNvSpPr/>
          <p:nvPr/>
        </p:nvSpPr>
        <p:spPr>
          <a:xfrm>
            <a:off x="640080" y="2377440"/>
            <a:ext cx="8686800" cy="566928"/>
          </a:xfrm>
          <a:prstGeom prst="rect">
            <a:avLst/>
          </a:prstGeom>
          <a:solidFill>
            <a:srgbClr val="E8B84B"/>
          </a:solidFill>
          <a:ln/>
        </p:spPr>
        <p:txBody>
          <a:bodyPr/>
          <a:lstStyle/>
          <a:p>
            <a:endParaRPr lang="es-MX"/>
          </a:p>
        </p:txBody>
      </p:sp>
      <p:sp>
        <p:nvSpPr>
          <p:cNvPr id="8" name="Text 6"/>
          <p:cNvSpPr/>
          <p:nvPr/>
        </p:nvSpPr>
        <p:spPr>
          <a:xfrm>
            <a:off x="640080" y="2377440"/>
            <a:ext cx="8686800" cy="566928"/>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Registros</a:t>
            </a:r>
            <a:endParaRPr lang="en-US" sz="1300" dirty="0"/>
          </a:p>
        </p:txBody>
      </p:sp>
      <p:sp>
        <p:nvSpPr>
          <p:cNvPr id="9" name="Shape 7"/>
          <p:cNvSpPr/>
          <p:nvPr/>
        </p:nvSpPr>
        <p:spPr>
          <a:xfrm>
            <a:off x="1257300" y="3035808"/>
            <a:ext cx="7452360" cy="566928"/>
          </a:xfrm>
          <a:prstGeom prst="rect">
            <a:avLst/>
          </a:prstGeom>
          <a:solidFill>
            <a:srgbClr val="2B3878"/>
          </a:solidFill>
          <a:ln/>
        </p:spPr>
        <p:txBody>
          <a:bodyPr/>
          <a:lstStyle/>
          <a:p>
            <a:endParaRPr lang="es-MX"/>
          </a:p>
        </p:txBody>
      </p:sp>
      <p:sp>
        <p:nvSpPr>
          <p:cNvPr id="10" name="Text 8"/>
          <p:cNvSpPr/>
          <p:nvPr/>
        </p:nvSpPr>
        <p:spPr>
          <a:xfrm>
            <a:off x="1257300" y="3035808"/>
            <a:ext cx="745236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Caché</a:t>
            </a:r>
            <a:endParaRPr lang="en-US" sz="1300" dirty="0"/>
          </a:p>
        </p:txBody>
      </p:sp>
      <p:sp>
        <p:nvSpPr>
          <p:cNvPr id="11" name="Shape 9"/>
          <p:cNvSpPr/>
          <p:nvPr/>
        </p:nvSpPr>
        <p:spPr>
          <a:xfrm>
            <a:off x="1874520" y="3694176"/>
            <a:ext cx="6217920" cy="566928"/>
          </a:xfrm>
          <a:prstGeom prst="rect">
            <a:avLst/>
          </a:prstGeom>
          <a:solidFill>
            <a:srgbClr val="384870"/>
          </a:solidFill>
          <a:ln/>
        </p:spPr>
        <p:txBody>
          <a:bodyPr/>
          <a:lstStyle/>
          <a:p>
            <a:endParaRPr lang="es-MX"/>
          </a:p>
        </p:txBody>
      </p:sp>
      <p:sp>
        <p:nvSpPr>
          <p:cNvPr id="12" name="Text 10"/>
          <p:cNvSpPr/>
          <p:nvPr/>
        </p:nvSpPr>
        <p:spPr>
          <a:xfrm>
            <a:off x="1874520" y="3694176"/>
            <a:ext cx="621792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Memoria Principal</a:t>
            </a:r>
            <a:endParaRPr lang="en-US" sz="1300" dirty="0"/>
          </a:p>
        </p:txBody>
      </p:sp>
      <p:sp>
        <p:nvSpPr>
          <p:cNvPr id="13" name="Shape 11"/>
          <p:cNvSpPr/>
          <p:nvPr/>
        </p:nvSpPr>
        <p:spPr>
          <a:xfrm>
            <a:off x="2491740" y="4352544"/>
            <a:ext cx="4983480" cy="566928"/>
          </a:xfrm>
          <a:prstGeom prst="rect">
            <a:avLst/>
          </a:prstGeom>
          <a:solidFill>
            <a:srgbClr val="455880"/>
          </a:solidFill>
          <a:ln/>
        </p:spPr>
        <p:txBody>
          <a:bodyPr/>
          <a:lstStyle/>
          <a:p>
            <a:endParaRPr lang="es-MX"/>
          </a:p>
        </p:txBody>
      </p:sp>
      <p:sp>
        <p:nvSpPr>
          <p:cNvPr id="14" name="Text 12"/>
          <p:cNvSpPr/>
          <p:nvPr/>
        </p:nvSpPr>
        <p:spPr>
          <a:xfrm>
            <a:off x="2491740" y="4352544"/>
            <a:ext cx="498348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Caché de Disco</a:t>
            </a:r>
            <a:endParaRPr lang="en-US" sz="1300" dirty="0"/>
          </a:p>
        </p:txBody>
      </p:sp>
      <p:sp>
        <p:nvSpPr>
          <p:cNvPr id="15" name="Shape 13"/>
          <p:cNvSpPr/>
          <p:nvPr/>
        </p:nvSpPr>
        <p:spPr>
          <a:xfrm>
            <a:off x="3108960" y="5010912"/>
            <a:ext cx="3749040" cy="566928"/>
          </a:xfrm>
          <a:prstGeom prst="rect">
            <a:avLst/>
          </a:prstGeom>
          <a:solidFill>
            <a:srgbClr val="526894"/>
          </a:solidFill>
          <a:ln/>
        </p:spPr>
        <p:txBody>
          <a:bodyPr/>
          <a:lstStyle/>
          <a:p>
            <a:endParaRPr lang="es-MX"/>
          </a:p>
        </p:txBody>
      </p:sp>
      <p:sp>
        <p:nvSpPr>
          <p:cNvPr id="16" name="Text 14"/>
          <p:cNvSpPr/>
          <p:nvPr/>
        </p:nvSpPr>
        <p:spPr>
          <a:xfrm>
            <a:off x="3108960" y="5010912"/>
            <a:ext cx="374904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Disco Magnético</a:t>
            </a:r>
            <a:endParaRPr lang="en-US" sz="1300" dirty="0"/>
          </a:p>
        </p:txBody>
      </p:sp>
      <p:sp>
        <p:nvSpPr>
          <p:cNvPr id="17" name="Shape 15"/>
          <p:cNvSpPr/>
          <p:nvPr/>
        </p:nvSpPr>
        <p:spPr>
          <a:xfrm>
            <a:off x="3726180" y="5669280"/>
            <a:ext cx="2514600" cy="566928"/>
          </a:xfrm>
          <a:prstGeom prst="rect">
            <a:avLst/>
          </a:prstGeom>
          <a:solidFill>
            <a:srgbClr val="5F78A8"/>
          </a:solidFill>
          <a:ln/>
        </p:spPr>
        <p:txBody>
          <a:bodyPr/>
          <a:lstStyle/>
          <a:p>
            <a:endParaRPr lang="es-MX"/>
          </a:p>
        </p:txBody>
      </p:sp>
      <p:sp>
        <p:nvSpPr>
          <p:cNvPr id="18" name="Text 16"/>
          <p:cNvSpPr/>
          <p:nvPr/>
        </p:nvSpPr>
        <p:spPr>
          <a:xfrm>
            <a:off x="3726180" y="5669280"/>
            <a:ext cx="2514600" cy="56692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Disco Óptico / Cinta</a:t>
            </a:r>
            <a:endParaRPr lang="en-US" sz="1300" dirty="0"/>
          </a:p>
        </p:txBody>
      </p:sp>
      <p:sp>
        <p:nvSpPr>
          <p:cNvPr id="19" name="Text 17"/>
          <p:cNvSpPr/>
          <p:nvPr/>
        </p:nvSpPr>
        <p:spPr>
          <a:xfrm>
            <a:off x="640080" y="6400800"/>
            <a:ext cx="10881360" cy="320040"/>
          </a:xfrm>
          <a:prstGeom prst="rect">
            <a:avLst/>
          </a:prstGeom>
          <a:noFill/>
          <a:ln/>
        </p:spPr>
        <p:txBody>
          <a:bodyPr wrap="square" rtlCol="0" anchor="ctr"/>
          <a:lstStyle/>
          <a:p>
            <a:pPr marL="0" indent="0" algn="ctr">
              <a:buNone/>
            </a:pPr>
            <a:r>
              <a:rPr lang="en-US" sz="1050" i="1" dirty="0">
                <a:solidFill>
                  <a:srgbClr val="5B6584"/>
                </a:solidFill>
                <a:latin typeface="Calibri" pitchFamily="34" charset="0"/>
                <a:ea typeface="Calibri" pitchFamily="34" charset="-122"/>
                <a:cs typeface="Calibri" pitchFamily="34" charset="-120"/>
              </a:rPr>
              <a:t>↑ más rápida, menor capacidad, mayor costo/bit          más lenta, mayor capacidad, menor costo/bit ↓</a:t>
            </a:r>
            <a:endParaRPr lang="en-US" sz="1050" dirty="0"/>
          </a:p>
        </p:txBody>
      </p:sp>
      <p:sp>
        <p:nvSpPr>
          <p:cNvPr id="20" name="Text 1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LA PIEZA CLAVE</a:t>
            </a:r>
            <a:endParaRPr lang="en-US" sz="1300" dirty="0"/>
          </a:p>
        </p:txBody>
      </p:sp>
      <p:sp>
        <p:nvSpPr>
          <p:cNvPr id="3" name="Text 1"/>
          <p:cNvSpPr/>
          <p:nvPr/>
        </p:nvSpPr>
        <p:spPr>
          <a:xfrm>
            <a:off x="640080" y="86868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¿Cómo funciona la memoria caché?</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6" name="Text 4"/>
          <p:cNvSpPr/>
          <p:nvPr/>
        </p:nvSpPr>
        <p:spPr>
          <a:xfrm>
            <a:off x="640080" y="1691640"/>
            <a:ext cx="10607040" cy="640080"/>
          </a:xfrm>
          <a:prstGeom prst="rect">
            <a:avLst/>
          </a:prstGeom>
          <a:noFill/>
          <a:ln/>
        </p:spPr>
        <p:txBody>
          <a:bodyPr wrap="square" rtlCol="0" anchor="ctr"/>
          <a:lstStyle/>
          <a:p>
            <a:pPr marL="0" indent="0">
              <a:lnSpc>
                <a:spcPts val="2000"/>
              </a:lnSpc>
              <a:buNone/>
            </a:pPr>
            <a:r>
              <a:rPr lang="en-US" sz="1500" dirty="0">
                <a:solidFill>
                  <a:srgbClr val="CADCFC"/>
                </a:solidFill>
                <a:latin typeface="Calibri" pitchFamily="34" charset="0"/>
                <a:ea typeface="Calibri" pitchFamily="34" charset="-122"/>
                <a:cs typeface="Calibri" pitchFamily="34" charset="-120"/>
              </a:rPr>
              <a:t>Una memoria pequeña y rápida que guarda una copia de parte de la memoria principal, para acercarse a la velocidad de los registros.</a:t>
            </a:r>
            <a:endParaRPr lang="en-US" sz="1500" dirty="0"/>
          </a:p>
        </p:txBody>
      </p:sp>
      <p:sp>
        <p:nvSpPr>
          <p:cNvPr id="7" name="Shape 5"/>
          <p:cNvSpPr/>
          <p:nvPr/>
        </p:nvSpPr>
        <p:spPr>
          <a:xfrm>
            <a:off x="640080" y="2651760"/>
            <a:ext cx="10881360" cy="685800"/>
          </a:xfrm>
          <a:prstGeom prst="rect">
            <a:avLst/>
          </a:prstGeom>
          <a:solidFill>
            <a:srgbClr val="232E6E"/>
          </a:solidFill>
          <a:ln/>
        </p:spPr>
        <p:txBody>
          <a:bodyPr/>
          <a:lstStyle/>
          <a:p>
            <a:endParaRPr lang="es-MX"/>
          </a:p>
        </p:txBody>
      </p:sp>
      <p:sp>
        <p:nvSpPr>
          <p:cNvPr id="8" name="Text 6"/>
          <p:cNvSpPr/>
          <p:nvPr/>
        </p:nvSpPr>
        <p:spPr>
          <a:xfrm>
            <a:off x="640080" y="2651760"/>
            <a:ext cx="10881360" cy="6858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El procesador busca una palabra en memoria</a:t>
            </a:r>
            <a:endParaRPr lang="en-US" sz="1400" dirty="0"/>
          </a:p>
        </p:txBody>
      </p:sp>
      <p:sp>
        <p:nvSpPr>
          <p:cNvPr id="9" name="Shape 7"/>
          <p:cNvSpPr/>
          <p:nvPr/>
        </p:nvSpPr>
        <p:spPr>
          <a:xfrm>
            <a:off x="640080" y="3474720"/>
            <a:ext cx="10881360" cy="685800"/>
          </a:xfrm>
          <a:prstGeom prst="rect">
            <a:avLst/>
          </a:prstGeom>
          <a:solidFill>
            <a:srgbClr val="E8B84B"/>
          </a:solidFill>
          <a:ln/>
        </p:spPr>
        <p:txBody>
          <a:bodyPr/>
          <a:lstStyle/>
          <a:p>
            <a:endParaRPr lang="es-MX"/>
          </a:p>
        </p:txBody>
      </p:sp>
      <p:sp>
        <p:nvSpPr>
          <p:cNvPr id="10" name="Text 8"/>
          <p:cNvSpPr/>
          <p:nvPr/>
        </p:nvSpPr>
        <p:spPr>
          <a:xfrm>
            <a:off x="640080" y="3474720"/>
            <a:ext cx="10881360" cy="68580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¿Está en la caché?</a:t>
            </a:r>
            <a:endParaRPr lang="en-US" sz="1400" dirty="0"/>
          </a:p>
        </p:txBody>
      </p:sp>
      <p:sp>
        <p:nvSpPr>
          <p:cNvPr id="11" name="Shape 9"/>
          <p:cNvSpPr/>
          <p:nvPr/>
        </p:nvSpPr>
        <p:spPr>
          <a:xfrm>
            <a:off x="640080" y="4297680"/>
            <a:ext cx="10881360" cy="685800"/>
          </a:xfrm>
          <a:prstGeom prst="rect">
            <a:avLst/>
          </a:prstGeom>
          <a:solidFill>
            <a:srgbClr val="232E6E"/>
          </a:solidFill>
          <a:ln/>
        </p:spPr>
        <p:txBody>
          <a:bodyPr/>
          <a:lstStyle/>
          <a:p>
            <a:endParaRPr lang="es-MX"/>
          </a:p>
        </p:txBody>
      </p:sp>
      <p:sp>
        <p:nvSpPr>
          <p:cNvPr id="12" name="Text 10"/>
          <p:cNvSpPr/>
          <p:nvPr/>
        </p:nvSpPr>
        <p:spPr>
          <a:xfrm>
            <a:off x="640080" y="4297680"/>
            <a:ext cx="10881360" cy="6858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SÍ → se envía directo al procesador</a:t>
            </a:r>
            <a:endParaRPr lang="en-US" sz="1400" dirty="0"/>
          </a:p>
        </p:txBody>
      </p:sp>
      <p:sp>
        <p:nvSpPr>
          <p:cNvPr id="13" name="Shape 11"/>
          <p:cNvSpPr/>
          <p:nvPr/>
        </p:nvSpPr>
        <p:spPr>
          <a:xfrm>
            <a:off x="640080" y="5120640"/>
            <a:ext cx="10881360" cy="685800"/>
          </a:xfrm>
          <a:prstGeom prst="rect">
            <a:avLst/>
          </a:prstGeom>
          <a:solidFill>
            <a:srgbClr val="232E6E"/>
          </a:solidFill>
          <a:ln/>
        </p:spPr>
        <p:txBody>
          <a:bodyPr/>
          <a:lstStyle/>
          <a:p>
            <a:endParaRPr lang="es-MX"/>
          </a:p>
        </p:txBody>
      </p:sp>
      <p:sp>
        <p:nvSpPr>
          <p:cNvPr id="14" name="Text 12"/>
          <p:cNvSpPr/>
          <p:nvPr/>
        </p:nvSpPr>
        <p:spPr>
          <a:xfrm>
            <a:off x="640080" y="5120640"/>
            <a:ext cx="10881360" cy="6858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NO → se trae un bloque de memoria principal a la caché</a:t>
            </a:r>
            <a:endParaRPr lang="en-US" sz="140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DECISIONES DE DISEÑO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¿Cómo se diseña una caché?</a:t>
            </a:r>
            <a:endParaRPr lang="en-US" sz="2800" dirty="0"/>
          </a:p>
        </p:txBody>
      </p:sp>
      <p:sp>
        <p:nvSpPr>
          <p:cNvPr id="6" name="Shape 4"/>
          <p:cNvSpPr/>
          <p:nvPr/>
        </p:nvSpPr>
        <p:spPr>
          <a:xfrm>
            <a:off x="640080" y="1874520"/>
            <a:ext cx="5257800" cy="1234440"/>
          </a:xfrm>
          <a:prstGeom prst="rect">
            <a:avLst/>
          </a:prstGeom>
          <a:solidFill>
            <a:srgbClr val="F7F8FC"/>
          </a:solidFill>
          <a:ln/>
        </p:spPr>
        <p:txBody>
          <a:bodyPr/>
          <a:lstStyle/>
          <a:p>
            <a:endParaRPr lang="es-MX"/>
          </a:p>
        </p:txBody>
      </p:sp>
      <p:sp>
        <p:nvSpPr>
          <p:cNvPr id="7" name="Text 5"/>
          <p:cNvSpPr/>
          <p:nvPr/>
        </p:nvSpPr>
        <p:spPr>
          <a:xfrm>
            <a:off x="868680" y="1984248"/>
            <a:ext cx="48006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Tamaño de caché</a:t>
            </a:r>
            <a:endParaRPr lang="en-US" sz="1350" dirty="0"/>
          </a:p>
        </p:txBody>
      </p:sp>
      <p:sp>
        <p:nvSpPr>
          <p:cNvPr id="8" name="Text 6"/>
          <p:cNvSpPr/>
          <p:nvPr/>
        </p:nvSpPr>
        <p:spPr>
          <a:xfrm>
            <a:off x="868680" y="237744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Cachés muy chicas impactan fuerte en el rendimiento</a:t>
            </a:r>
            <a:endParaRPr lang="en-US" sz="1150" dirty="0"/>
          </a:p>
        </p:txBody>
      </p:sp>
      <p:sp>
        <p:nvSpPr>
          <p:cNvPr id="9" name="Shape 7"/>
          <p:cNvSpPr/>
          <p:nvPr/>
        </p:nvSpPr>
        <p:spPr>
          <a:xfrm>
            <a:off x="6263640" y="1874520"/>
            <a:ext cx="5257800" cy="1234440"/>
          </a:xfrm>
          <a:prstGeom prst="rect">
            <a:avLst/>
          </a:prstGeom>
          <a:solidFill>
            <a:srgbClr val="F7F8FC"/>
          </a:solidFill>
          <a:ln/>
        </p:spPr>
        <p:txBody>
          <a:bodyPr/>
          <a:lstStyle/>
          <a:p>
            <a:endParaRPr lang="es-MX"/>
          </a:p>
        </p:txBody>
      </p:sp>
      <p:sp>
        <p:nvSpPr>
          <p:cNvPr id="10" name="Text 8"/>
          <p:cNvSpPr/>
          <p:nvPr/>
        </p:nvSpPr>
        <p:spPr>
          <a:xfrm>
            <a:off x="6492240" y="1984248"/>
            <a:ext cx="48006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Tamaño de bloque</a:t>
            </a:r>
            <a:endParaRPr lang="en-US" sz="1350" dirty="0"/>
          </a:p>
        </p:txBody>
      </p:sp>
      <p:sp>
        <p:nvSpPr>
          <p:cNvPr id="11" name="Text 9"/>
          <p:cNvSpPr/>
          <p:nvPr/>
        </p:nvSpPr>
        <p:spPr>
          <a:xfrm>
            <a:off x="6492240" y="237744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Unidad de intercambio entre caché y memoria principal</a:t>
            </a:r>
            <a:endParaRPr lang="en-US" sz="1150" dirty="0"/>
          </a:p>
        </p:txBody>
      </p:sp>
      <p:sp>
        <p:nvSpPr>
          <p:cNvPr id="12" name="Shape 10"/>
          <p:cNvSpPr/>
          <p:nvPr/>
        </p:nvSpPr>
        <p:spPr>
          <a:xfrm>
            <a:off x="640080" y="3291840"/>
            <a:ext cx="5257800" cy="1234440"/>
          </a:xfrm>
          <a:prstGeom prst="rect">
            <a:avLst/>
          </a:prstGeom>
          <a:solidFill>
            <a:srgbClr val="F7F8FC"/>
          </a:solidFill>
          <a:ln/>
        </p:spPr>
        <p:txBody>
          <a:bodyPr/>
          <a:lstStyle/>
          <a:p>
            <a:endParaRPr lang="es-MX"/>
          </a:p>
        </p:txBody>
      </p:sp>
      <p:sp>
        <p:nvSpPr>
          <p:cNvPr id="13" name="Text 11"/>
          <p:cNvSpPr/>
          <p:nvPr/>
        </p:nvSpPr>
        <p:spPr>
          <a:xfrm>
            <a:off x="868680" y="3401568"/>
            <a:ext cx="48006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Función de correspondencia (mapping)</a:t>
            </a:r>
            <a:endParaRPr lang="en-US" sz="1350" dirty="0"/>
          </a:p>
        </p:txBody>
      </p:sp>
      <p:sp>
        <p:nvSpPr>
          <p:cNvPr id="14" name="Text 12"/>
          <p:cNvSpPr/>
          <p:nvPr/>
        </p:nvSpPr>
        <p:spPr>
          <a:xfrm>
            <a:off x="868680" y="379476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Decide qué posición ocupará un bloque nuevo</a:t>
            </a:r>
            <a:endParaRPr lang="en-US" sz="1150" dirty="0"/>
          </a:p>
        </p:txBody>
      </p:sp>
      <p:sp>
        <p:nvSpPr>
          <p:cNvPr id="15" name="Shape 13"/>
          <p:cNvSpPr/>
          <p:nvPr/>
        </p:nvSpPr>
        <p:spPr>
          <a:xfrm>
            <a:off x="6263640" y="3291840"/>
            <a:ext cx="5257800" cy="1234440"/>
          </a:xfrm>
          <a:prstGeom prst="rect">
            <a:avLst/>
          </a:prstGeom>
          <a:solidFill>
            <a:srgbClr val="F7F8FC"/>
          </a:solidFill>
          <a:ln/>
        </p:spPr>
        <p:txBody>
          <a:bodyPr/>
          <a:lstStyle/>
          <a:p>
            <a:endParaRPr lang="es-MX"/>
          </a:p>
        </p:txBody>
      </p:sp>
      <p:sp>
        <p:nvSpPr>
          <p:cNvPr id="16" name="Text 14"/>
          <p:cNvSpPr/>
          <p:nvPr/>
        </p:nvSpPr>
        <p:spPr>
          <a:xfrm>
            <a:off x="6492240" y="3401568"/>
            <a:ext cx="48006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Algoritmo de reemplazo (LRU)</a:t>
            </a:r>
            <a:endParaRPr lang="en-US" sz="1350" dirty="0"/>
          </a:p>
        </p:txBody>
      </p:sp>
      <p:sp>
        <p:nvSpPr>
          <p:cNvPr id="17" name="Text 15"/>
          <p:cNvSpPr/>
          <p:nvPr/>
        </p:nvSpPr>
        <p:spPr>
          <a:xfrm>
            <a:off x="6492240" y="379476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Reemplaza el bloque no usado hace más tiempo</a:t>
            </a:r>
            <a:endParaRPr lang="en-US" sz="1150" dirty="0"/>
          </a:p>
        </p:txBody>
      </p:sp>
      <p:sp>
        <p:nvSpPr>
          <p:cNvPr id="18" name="Shape 16"/>
          <p:cNvSpPr/>
          <p:nvPr/>
        </p:nvSpPr>
        <p:spPr>
          <a:xfrm>
            <a:off x="640080" y="4709160"/>
            <a:ext cx="5257800" cy="1234440"/>
          </a:xfrm>
          <a:prstGeom prst="rect">
            <a:avLst/>
          </a:prstGeom>
          <a:solidFill>
            <a:srgbClr val="F7F8FC"/>
          </a:solidFill>
          <a:ln/>
        </p:spPr>
        <p:txBody>
          <a:bodyPr/>
          <a:lstStyle/>
          <a:p>
            <a:endParaRPr lang="es-MX"/>
          </a:p>
        </p:txBody>
      </p:sp>
      <p:sp>
        <p:nvSpPr>
          <p:cNvPr id="19" name="Text 17"/>
          <p:cNvSpPr/>
          <p:nvPr/>
        </p:nvSpPr>
        <p:spPr>
          <a:xfrm>
            <a:off x="868680" y="4818888"/>
            <a:ext cx="480060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Política de escritura</a:t>
            </a:r>
            <a:endParaRPr lang="en-US" sz="1350" dirty="0"/>
          </a:p>
        </p:txBody>
      </p:sp>
      <p:sp>
        <p:nvSpPr>
          <p:cNvPr id="20" name="Text 18"/>
          <p:cNvSpPr/>
          <p:nvPr/>
        </p:nvSpPr>
        <p:spPr>
          <a:xfrm>
            <a:off x="868680" y="521208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Cuándo se refleja en memoria principal lo escrito en caché</a:t>
            </a:r>
            <a:endParaRPr lang="en-US" sz="1150" dirty="0"/>
          </a:p>
        </p:txBody>
      </p:sp>
      <p:sp>
        <p:nvSpPr>
          <p:cNvPr id="21" name="Text 1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CERRANDO EL CÍRCULO</a:t>
            </a:r>
            <a:endParaRPr lang="en-US" sz="1300" dirty="0"/>
          </a:p>
        </p:txBody>
      </p:sp>
      <p:sp>
        <p:nvSpPr>
          <p:cNvPr id="3" name="Text 1"/>
          <p:cNvSpPr/>
          <p:nvPr/>
        </p:nvSpPr>
        <p:spPr>
          <a:xfrm>
            <a:off x="640080" y="86868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Técnicas de comunicación de E/S</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20 min</a:t>
            </a:r>
            <a:endParaRPr lang="en-US" sz="1200" dirty="0"/>
          </a:p>
        </p:txBody>
      </p:sp>
      <p:sp>
        <p:nvSpPr>
          <p:cNvPr id="6" name="Shape 4"/>
          <p:cNvSpPr/>
          <p:nvPr/>
        </p:nvSpPr>
        <p:spPr>
          <a:xfrm>
            <a:off x="640080" y="1920240"/>
            <a:ext cx="10881360" cy="1325880"/>
          </a:xfrm>
          <a:prstGeom prst="rect">
            <a:avLst/>
          </a:prstGeom>
          <a:solidFill>
            <a:srgbClr val="232E6E"/>
          </a:solidFill>
          <a:ln/>
        </p:spPr>
        <p:txBody>
          <a:bodyPr/>
          <a:lstStyle/>
          <a:p>
            <a:endParaRPr lang="es-MX"/>
          </a:p>
        </p:txBody>
      </p:sp>
      <p:sp>
        <p:nvSpPr>
          <p:cNvPr id="7" name="Text 5"/>
          <p:cNvSpPr/>
          <p:nvPr/>
        </p:nvSpPr>
        <p:spPr>
          <a:xfrm>
            <a:off x="868680" y="2057400"/>
            <a:ext cx="640080" cy="1005840"/>
          </a:xfrm>
          <a:prstGeom prst="rect">
            <a:avLst/>
          </a:prstGeom>
          <a:noFill/>
          <a:ln/>
        </p:spPr>
        <p:txBody>
          <a:bodyPr wrap="square" rtlCol="0" anchor="ctr"/>
          <a:lstStyle/>
          <a:p>
            <a:pPr marL="0" indent="0">
              <a:buNone/>
            </a:pPr>
            <a:r>
              <a:rPr lang="en-US" sz="3200" b="1" dirty="0">
                <a:solidFill>
                  <a:srgbClr val="E8B84B"/>
                </a:solidFill>
                <a:latin typeface="Cambria" pitchFamily="34" charset="0"/>
                <a:ea typeface="Cambria" pitchFamily="34" charset="-122"/>
                <a:cs typeface="Cambria" pitchFamily="34" charset="-120"/>
              </a:rPr>
              <a:t>1</a:t>
            </a:r>
            <a:endParaRPr lang="en-US" sz="3200" dirty="0"/>
          </a:p>
        </p:txBody>
      </p:sp>
      <p:sp>
        <p:nvSpPr>
          <p:cNvPr id="8" name="Text 6"/>
          <p:cNvSpPr/>
          <p:nvPr/>
        </p:nvSpPr>
        <p:spPr>
          <a:xfrm>
            <a:off x="1600200" y="2084832"/>
            <a:ext cx="960120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E/S Programada</a:t>
            </a:r>
            <a:endParaRPr lang="en-US" sz="1600" dirty="0"/>
          </a:p>
        </p:txBody>
      </p:sp>
      <p:sp>
        <p:nvSpPr>
          <p:cNvPr id="9" name="Text 7"/>
          <p:cNvSpPr/>
          <p:nvPr/>
        </p:nvSpPr>
        <p:spPr>
          <a:xfrm>
            <a:off x="1600200" y="2542032"/>
            <a:ext cx="9601200" cy="594360"/>
          </a:xfrm>
          <a:prstGeom prst="rect">
            <a:avLst/>
          </a:prstGeom>
          <a:noFill/>
          <a:ln/>
        </p:spPr>
        <p:txBody>
          <a:bodyPr wrap="square" rtlCol="0" anchor="ctr"/>
          <a:lstStyle/>
          <a:p>
            <a:pPr marL="0" indent="0">
              <a:lnSpc>
                <a:spcPts val="1600"/>
              </a:lnSpc>
              <a:buNone/>
            </a:pPr>
            <a:r>
              <a:rPr lang="en-US" sz="1250" dirty="0">
                <a:solidFill>
                  <a:srgbClr val="CADCFC"/>
                </a:solidFill>
                <a:latin typeface="Calibri" pitchFamily="34" charset="0"/>
                <a:ea typeface="Calibri" pitchFamily="34" charset="-122"/>
                <a:cs typeface="Calibri" pitchFamily="34" charset="-120"/>
              </a:rPr>
              <a:t>El procesador ejecuta la orden y consulta el estado del módulo constantemente — sin interrumpir</a:t>
            </a:r>
            <a:endParaRPr lang="en-US" sz="1250" dirty="0"/>
          </a:p>
        </p:txBody>
      </p:sp>
      <p:sp>
        <p:nvSpPr>
          <p:cNvPr id="10" name="Shape 8"/>
          <p:cNvSpPr/>
          <p:nvPr/>
        </p:nvSpPr>
        <p:spPr>
          <a:xfrm>
            <a:off x="640080" y="3383280"/>
            <a:ext cx="10881360" cy="1325880"/>
          </a:xfrm>
          <a:prstGeom prst="rect">
            <a:avLst/>
          </a:prstGeom>
          <a:solidFill>
            <a:srgbClr val="232E6E"/>
          </a:solidFill>
          <a:ln/>
        </p:spPr>
        <p:txBody>
          <a:bodyPr/>
          <a:lstStyle/>
          <a:p>
            <a:endParaRPr lang="es-MX"/>
          </a:p>
        </p:txBody>
      </p:sp>
      <p:sp>
        <p:nvSpPr>
          <p:cNvPr id="11" name="Text 9"/>
          <p:cNvSpPr/>
          <p:nvPr/>
        </p:nvSpPr>
        <p:spPr>
          <a:xfrm>
            <a:off x="868680" y="3520440"/>
            <a:ext cx="640080" cy="1005840"/>
          </a:xfrm>
          <a:prstGeom prst="rect">
            <a:avLst/>
          </a:prstGeom>
          <a:noFill/>
          <a:ln/>
        </p:spPr>
        <p:txBody>
          <a:bodyPr wrap="square" rtlCol="0" anchor="ctr"/>
          <a:lstStyle/>
          <a:p>
            <a:pPr marL="0" indent="0">
              <a:buNone/>
            </a:pPr>
            <a:r>
              <a:rPr lang="en-US" sz="3200" b="1" dirty="0">
                <a:solidFill>
                  <a:srgbClr val="E8B84B"/>
                </a:solidFill>
                <a:latin typeface="Cambria" pitchFamily="34" charset="0"/>
                <a:ea typeface="Cambria" pitchFamily="34" charset="-122"/>
                <a:cs typeface="Cambria" pitchFamily="34" charset="-120"/>
              </a:rPr>
              <a:t>2</a:t>
            </a:r>
            <a:endParaRPr lang="en-US" sz="3200" dirty="0"/>
          </a:p>
        </p:txBody>
      </p:sp>
      <p:sp>
        <p:nvSpPr>
          <p:cNvPr id="12" name="Text 10"/>
          <p:cNvSpPr/>
          <p:nvPr/>
        </p:nvSpPr>
        <p:spPr>
          <a:xfrm>
            <a:off x="1600200" y="3547872"/>
            <a:ext cx="960120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E/S dirigida por interrupciones</a:t>
            </a:r>
            <a:endParaRPr lang="en-US" sz="1600" dirty="0"/>
          </a:p>
        </p:txBody>
      </p:sp>
      <p:sp>
        <p:nvSpPr>
          <p:cNvPr id="13" name="Text 11"/>
          <p:cNvSpPr/>
          <p:nvPr/>
        </p:nvSpPr>
        <p:spPr>
          <a:xfrm>
            <a:off x="1600200" y="4005072"/>
            <a:ext cx="9601200" cy="594360"/>
          </a:xfrm>
          <a:prstGeom prst="rect">
            <a:avLst/>
          </a:prstGeom>
          <a:noFill/>
          <a:ln/>
        </p:spPr>
        <p:txBody>
          <a:bodyPr wrap="square" rtlCol="0" anchor="ctr"/>
          <a:lstStyle/>
          <a:p>
            <a:pPr marL="0" indent="0">
              <a:lnSpc>
                <a:spcPts val="1600"/>
              </a:lnSpc>
              <a:buNone/>
            </a:pPr>
            <a:r>
              <a:rPr lang="en-US" sz="1250" dirty="0">
                <a:solidFill>
                  <a:srgbClr val="CADCFC"/>
                </a:solidFill>
                <a:latin typeface="Calibri" pitchFamily="34" charset="0"/>
                <a:ea typeface="Calibri" pitchFamily="34" charset="-122"/>
                <a:cs typeface="Calibri" pitchFamily="34" charset="-120"/>
              </a:rPr>
              <a:t>El procesador da la orden, sigue con otra tarea, y el dispositivo AVISA cuando termina</a:t>
            </a:r>
            <a:endParaRPr lang="en-US" sz="1250" dirty="0"/>
          </a:p>
        </p:txBody>
      </p:sp>
      <p:sp>
        <p:nvSpPr>
          <p:cNvPr id="14" name="Shape 12"/>
          <p:cNvSpPr/>
          <p:nvPr/>
        </p:nvSpPr>
        <p:spPr>
          <a:xfrm>
            <a:off x="640080" y="4846320"/>
            <a:ext cx="10881360" cy="1325880"/>
          </a:xfrm>
          <a:prstGeom prst="rect">
            <a:avLst/>
          </a:prstGeom>
          <a:solidFill>
            <a:srgbClr val="232E6E"/>
          </a:solidFill>
          <a:ln/>
        </p:spPr>
        <p:txBody>
          <a:bodyPr/>
          <a:lstStyle/>
          <a:p>
            <a:endParaRPr lang="es-MX"/>
          </a:p>
        </p:txBody>
      </p:sp>
      <p:sp>
        <p:nvSpPr>
          <p:cNvPr id="15" name="Text 13"/>
          <p:cNvSpPr/>
          <p:nvPr/>
        </p:nvSpPr>
        <p:spPr>
          <a:xfrm>
            <a:off x="868680" y="4983480"/>
            <a:ext cx="640080" cy="1005840"/>
          </a:xfrm>
          <a:prstGeom prst="rect">
            <a:avLst/>
          </a:prstGeom>
          <a:noFill/>
          <a:ln/>
        </p:spPr>
        <p:txBody>
          <a:bodyPr wrap="square" rtlCol="0" anchor="ctr"/>
          <a:lstStyle/>
          <a:p>
            <a:pPr marL="0" indent="0">
              <a:buNone/>
            </a:pPr>
            <a:r>
              <a:rPr lang="en-US" sz="3200" b="1" dirty="0">
                <a:solidFill>
                  <a:srgbClr val="E8B84B"/>
                </a:solidFill>
                <a:latin typeface="Cambria" pitchFamily="34" charset="0"/>
                <a:ea typeface="Cambria" pitchFamily="34" charset="-122"/>
                <a:cs typeface="Cambria" pitchFamily="34" charset="-120"/>
              </a:rPr>
              <a:t>3</a:t>
            </a:r>
            <a:endParaRPr lang="en-US" sz="3200" dirty="0"/>
          </a:p>
        </p:txBody>
      </p:sp>
      <p:sp>
        <p:nvSpPr>
          <p:cNvPr id="16" name="Text 14"/>
          <p:cNvSpPr/>
          <p:nvPr/>
        </p:nvSpPr>
        <p:spPr>
          <a:xfrm>
            <a:off x="1600200" y="5010912"/>
            <a:ext cx="960120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Acceso Directo a Memoria (DMA)</a:t>
            </a:r>
            <a:endParaRPr lang="en-US" sz="1600" dirty="0"/>
          </a:p>
        </p:txBody>
      </p:sp>
      <p:sp>
        <p:nvSpPr>
          <p:cNvPr id="17" name="Text 15"/>
          <p:cNvSpPr/>
          <p:nvPr/>
        </p:nvSpPr>
        <p:spPr>
          <a:xfrm>
            <a:off x="1600200" y="5468112"/>
            <a:ext cx="9601200" cy="594360"/>
          </a:xfrm>
          <a:prstGeom prst="rect">
            <a:avLst/>
          </a:prstGeom>
          <a:noFill/>
          <a:ln/>
        </p:spPr>
        <p:txBody>
          <a:bodyPr wrap="square" rtlCol="0" anchor="ctr"/>
          <a:lstStyle/>
          <a:p>
            <a:pPr marL="0" indent="0">
              <a:lnSpc>
                <a:spcPts val="1600"/>
              </a:lnSpc>
              <a:buNone/>
            </a:pPr>
            <a:r>
              <a:rPr lang="en-US" sz="1250" dirty="0">
                <a:solidFill>
                  <a:srgbClr val="CADCFC"/>
                </a:solidFill>
                <a:latin typeface="Calibri" pitchFamily="34" charset="0"/>
                <a:ea typeface="Calibri" pitchFamily="34" charset="-122"/>
                <a:cs typeface="Calibri" pitchFamily="34" charset="-120"/>
              </a:rPr>
              <a:t>El módulo de E/S transfiere datos directo con la memoria, sin ocupar al procesador</a:t>
            </a:r>
            <a:endParaRPr lang="en-US" sz="125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PARA CERRAR HOY</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Síntesis y próxima clase</a:t>
            </a:r>
            <a:endParaRPr lang="en-US" sz="2800" dirty="0"/>
          </a:p>
        </p:txBody>
      </p:sp>
      <p:sp>
        <p:nvSpPr>
          <p:cNvPr id="6" name="Shape 4"/>
          <p:cNvSpPr/>
          <p:nvPr/>
        </p:nvSpPr>
        <p:spPr>
          <a:xfrm>
            <a:off x="640080" y="1920240"/>
            <a:ext cx="10881360" cy="2286000"/>
          </a:xfrm>
          <a:prstGeom prst="rect">
            <a:avLst/>
          </a:prstGeom>
          <a:solidFill>
            <a:srgbClr val="F2F4FB"/>
          </a:solidFill>
          <a:ln/>
        </p:spPr>
        <p:txBody>
          <a:bodyPr/>
          <a:lstStyle/>
          <a:p>
            <a:endParaRPr lang="es-MX"/>
          </a:p>
        </p:txBody>
      </p:sp>
      <p:sp>
        <p:nvSpPr>
          <p:cNvPr id="7" name="Text 5"/>
          <p:cNvSpPr/>
          <p:nvPr/>
        </p:nvSpPr>
        <p:spPr>
          <a:xfrm>
            <a:off x="960120" y="2148840"/>
            <a:ext cx="102412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Hoy vimos:</a:t>
            </a:r>
            <a:endParaRPr lang="en-US" sz="1500" dirty="0"/>
          </a:p>
        </p:txBody>
      </p:sp>
      <p:sp>
        <p:nvSpPr>
          <p:cNvPr id="8" name="Text 6"/>
          <p:cNvSpPr/>
          <p:nvPr/>
        </p:nvSpPr>
        <p:spPr>
          <a:xfrm>
            <a:off x="960120" y="2560320"/>
            <a:ext cx="10241280" cy="1554480"/>
          </a:xfrm>
          <a:prstGeom prst="rect">
            <a:avLst/>
          </a:prstGeom>
          <a:noFill/>
          <a:ln/>
        </p:spPr>
        <p:txBody>
          <a:bodyPr wrap="square" rtlCol="0" anchor="ctr"/>
          <a:lstStyle/>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Registros del procesador (visibles de usuario y de control/estado)</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El ciclo de ejecución de instrucciones</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Interrupciones: concepto, clases y procedimiento</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Jerarquía de memoria y funcionamiento de la caché</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Técnicas de comunicación de E/S</a:t>
            </a:r>
            <a:endParaRPr lang="en-US" sz="1300" dirty="0"/>
          </a:p>
        </p:txBody>
      </p:sp>
      <p:sp>
        <p:nvSpPr>
          <p:cNvPr id="9" name="Text 7"/>
          <p:cNvSpPr/>
          <p:nvPr/>
        </p:nvSpPr>
        <p:spPr>
          <a:xfrm>
            <a:off x="640080" y="4480560"/>
            <a:ext cx="10881360" cy="548640"/>
          </a:xfrm>
          <a:prstGeom prst="rect">
            <a:avLst/>
          </a:prstGeom>
          <a:noFill/>
          <a:ln/>
        </p:spPr>
        <p:txBody>
          <a:bodyPr wrap="square" rtlCol="0" anchor="ctr"/>
          <a:lstStyle/>
          <a:p>
            <a:pPr marL="0" indent="0">
              <a:buNone/>
            </a:pPr>
            <a:r>
              <a:rPr lang="en-US" sz="1400" i="1" dirty="0">
                <a:solidFill>
                  <a:srgbClr val="5B6584"/>
                </a:solidFill>
                <a:latin typeface="Calibri" pitchFamily="34" charset="0"/>
                <a:ea typeface="Calibri" pitchFamily="34" charset="-122"/>
                <a:cs typeface="Calibri" pitchFamily="34" charset="-120"/>
              </a:rPr>
              <a:t>Próxima clase (25/08): Servicios y evolución del sistema operativo, protección y seguridad — cierra la Unidad 1.</a:t>
            </a:r>
            <a:endParaRPr lang="en-US" sz="1400" dirty="0"/>
          </a:p>
        </p:txBody>
      </p:sp>
      <p:sp>
        <p:nvSpPr>
          <p:cNvPr id="10"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465</TotalTime>
  <Words>3597</Words>
  <Application>Microsoft Office PowerPoint</Application>
  <PresentationFormat>Panorámica</PresentationFormat>
  <Paragraphs>236</Paragraphs>
  <Slides>18</Slides>
  <Notes>18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Avalos</cp:lastModifiedBy>
  <cp:revision>3</cp:revision>
  <dcterms:created xsi:type="dcterms:W3CDTF">2026-08-14T13:03:36Z</dcterms:created>
  <dcterms:modified xsi:type="dcterms:W3CDTF">2026-09-15T00:51:53Z</dcterms:modified>
</cp:coreProperties>
</file>