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53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10 min]
Saludo. Comentario breve sobre el parcial (sin entrar en resultados detallados si aún no están corregidos): "ya cerramos Unidades 1 y 2 con el parcial. Hoy arrancamos Unidad 3: Concurrencia — que es, sin exagerar, el corazón teórico de la materia."
Repaso relámpago (no detallado): recordar que Unidad 2 dejó instalada la idea de que varios procesos/hilos compiten por el procesador y los recursos. Frase puente: "hoy formalizamos QUÉ pasa cuando esos procesos compiten por los mismos datos al mismo tiempo, y cómo evitar que eso rompa todo."
Anunciar que esta es la parte 1 de 2 de la unidad — hoy: el problema de la concurrencia y las soluciones clásicas (software y hardware). La próxima clase (06/10): semáforos, monitores, paso de mensajes e interbloqueo.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 5 min]
Conectar explícitamente con Unidad 2: la intercalación de procesos (traza, distribuidor) ya la vieron — hoy se agrega la pregunta de qué pasa cuando esos procesos intercalados comparten datos.
No dar el ejemplo todavía — se guarda para la diapositiva de "principios generales".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LA CONCURRENCIA? — 20 min]
Explicar las 3 formas en que aparece la concurrencia según el material: multiprogramación (1 procesador, varios procesos intercalados), multiproceso (varios procesadores), y procesos distribuidos (varias máquinas en red).
Idea clave para remarcar: la concurrencia abarca compartición y competencia de recursos, y comunicación y sincronización entre procesos — y esto aplica TANTO a sistemas de un solo procesador como a multiprocesador.
Conectar con SMP (Unidad 2, Clase 6): ahí vieron la arquitectura de hardware; hoy ven el problema de diseño de software que esa arquitectura habilita.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[PRINCIPIOS GENERALES Y RIESGOS — 20 min, primera mitad de bloque de 35 min con actividad]
Explicar los 3 riesgos con calma — son la motivación de TODO lo que viene después en la unidad.
Frase de cierre antes de pasar al ejemplo: "vamos a ver un ejemplo concreto de cómo una variable compartida puede arruinar un programa perfectamente bien escrito."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ECHO — 15 min, segunda mitad del bloque de 35 min]
Dibujar en el pizarrón la línea de tiempo de P1 y P2 tal como la presenta el material, mostrando cómo la variable ENT se sobrescribe.
Introducir el término "condición de carrera" (race condition) aunque el material no lo llame exactamente así en todas partes — es el nombre estándar de la industria para este fenómeno y conviene que lo conozcan.
Mencionar la solución conceptual que se viene: si "ECHO" fuera un recurso de acceso exclusivo (uno a la vez), P2 quedaría bloqueado esperando a que P1 termine — eso es, exactamente, la exclusión mutua que se define en la próxima diapositiva.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CONDICIÓN DE CARRERA — 20 min]
Dar 10 min en parejas para discutir el caso del cajero automático (elegido a propósito por el contexto bancario de la cátedra).
Respuesta esperada P1: el saldo quedaría en Gs. 20.000 (100.000 - 80.000), pero se retiraron Gs. 160.000 en total — el banco pierde Gs. 60.000. Es el mismo patrón que el ejemplo de ECHO: ambos "leyeron" el saldo antes de que el otro "escribiera" el descuento.
Respuesta esperada P2: el segundo cajero necesitaría que el saldo se "bloquee" mientras el primero hace su operación completa (leer + descontar), de forma que el segundo lea el saldo YA actualizado. Eso es, conceptualmente, una sección crítica con exclusión mutua.
Puesta en común (10 min): pedir que 2-3 parejas compartan sus respuestas. Cerrar remarcando: "este problema de dinero real es EXACTAMENTE el mismo problema técnico que la variable ENT — por eso la exclusión mutua no es un tema abstracto, es lo que evita que un banco pierda plata."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[EXCLUSIÓN MUTUA: REQUISITOS — 20 min]
Repasar los 6 requisitos con calma — son la "letra chica" de cualquier solución de exclusión mutua que se vea después (software o hardware).
Remarcar los términos nuevos: interbloqueo (2+ procesos trabados esperándose mutuamente, se ve en profundidad la próxima clase) e inanición (un proceso que nunca consigue su turno, aunque el sistema en general siga funcionando).
Cerrar con la idea de que existen 2 grandes familias de soluciones para cumplir estos requisitos: por software (los procesos se organizan solos) y por hardware (el procesador ayuda) — que se ven en el resto de la clase.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[DEKKER: PRIMER INTENTO — 25 min]
Explicar la analogía del iglú paso a paso, apoyándose en la diapositiva (10 min).
Definir "espera activa": el proceso frustrado no puede hacer nada productivo mientras espera — solo consulta la pizarra una y otra vez, consumiendo tiempo de procesador aunque no avance.
Explicar los 2 problemas grandes (10 min): (1) los procesos deben alternarse ESTRICTAMENTE, así que si P0 usa su sección crítica 1 vez por hora y P1 la necesita 1000 veces por hora, P1 tiene que esperar el ritmo de P0; (2) si un proceso falla (se cuelga) mientras tiene el turno, el otro se bloquea indefinidamente.
Cierre (5 min): "esto se llama estructura de co-rutina — sirve para pasarse el control entre 2 procesos, pero no es una solución robusta para concurrencia real. Por eso Dekker propuso un segundo intento."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[DEKKER: SEGUNDO INTENTO — 20 min]
Explicar el pseudocódigo de la diapositiva: variable global "señal", un booleano por proceso. Cada proceso mira la señal del OTRO antes de entrar.
Explicar la mejora respecto al primer intento (7 min): ya no dependen de turnos estrictos, y una falla fuera de la sección crítica no bloquea al otro para siempre.
Explicar la falla que sigue existiendo (8 min): no hay forma de evitar que, si ambos llegan casi exactamente al mismo tiempo, ambos vean la señal del otro en "falso" y entren juntos — el algoritmo sigue dependiendo de la velocidad relativa de los procesos, lo cual viola el requisito 5 de exclusión mutua.
Transición: "por eso Dekker lo perfeccionó agregando una variable más — turno — y de ahí salió la solución completa. Peterson después encontró una forma mucho más simple de lograr lo mismo."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DE PETERSON — 15 min]
Explicar el pseudocódigo: "señal" indica intención de entrar (igual que en Dekker); "turno" resuelve el empate cuando ambos procesos quieren entrar exactamente al mismo tiempo.
Punto clave (5 min): la condición del while es "señal[j] Y turno=j" — el proceso solo espera si el OTRO también quiere entrar Y además es el turno del otro. Si el otro no quiere entrar, entra directo; si quiere entrar pero no es su turno, entra igual.
Cerrar: Peterson demuestra que un problema puede tener una solución compleja (Dekker completo) y una solución mucho más elegante para el mismo resultado (Peterson) — vale la pena buscar la simplicidad.
Mencionar que existe una generalización de Peterson para N procesos, sin entrar en el detalle si no hay tiempo.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[INHABILITACIÓN DE INTERRUPCIONES — 15 min]
Explicar el mecanismo: es una capacidad primitiva del núcleo, habilitar/inhabilitar interrupciones.
Conectar con Unidad 1 (interrupciones) y Unidad 2 (cambio de proceso): si no hay interrupción, no hay cambio de proceso, así que la sección crítica queda protegida por definición.
Remarcar el límite clave: en multiprocesador esto NO alcanza, porque puede haber otro proceso corriendo en OTRO núcleo al mismo tiempo, sin que haya ninguna interrupción de por medio — de ahí la necesidad de instrucciones especiales de máquina.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[INSTRUCCIONES ESPECIALES DE MÁQUINA — 20 min]
Explicar el concepto de atomicidad primero (5 min) — es la clave para entender por qué estas instrucciones resuelven el problema: nada puede "colarse" entre las dos operaciones porque el hardware las trata como una sola.
Explicar Comparar y Fijar (Compare and Swap) (7 min): útil para implementar un "candado" — comparo si la variable de bloqueo está libre, y si lo está, la marco como ocupada, todo en un solo paso indivisible.
Explicar Intercambiar (Exchange) (7 min): similar en espíritu — intercambia valores de forma atómica, lo que también sirve para implementar bloqueos.
Cierre (1 min): estas instrucciones son la base real sobre la que se construyen los semáforos que se ven en la próxima clase.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FINAL: DETECTIVES DE CONDICIONES DE CARRERA — 25 min]
15 min en grupos + 10 min de puesta en común.
Respuesta esperada P1: si ambas leen 5 antes de escribir, el stock final queda en 1 o en 2 (según quién escribe último) — pero deberían haberse vendido 7 unidades de un stock de 5, lo cual es físicamente imposible. Es incorrecto: se vendieron productos que no existían.
Respuesta esperada P2: la regla es una sección crítica alrededor de "leer stock + vender + escribir stock" como una unidad indivisible — mientras una caja está en esa operación, la otra debe esperar (exclusión mutua).
Cierre de la clase (conectar con toda la clase): "todo lo que vimos hoy — Dekker, Peterson, instrucciones atómicas — son formas distintas de construir esa regla de sección crítica. La semana que viene vamos a ver una herramienta mucho más práctica para lograrlo: los semáforos."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15 min]
Repasar los 5 puntos de la síntesis en voz alta.
Dar espacio real a preguntas — es contenido denso y abstracto, es esperable que necesiten reprocesarlo.
Anunciar el tema de la próxima clase y adelantar que ahí se resuelve "de forma práctica" todo lo que hoy se vio de forma más artesanal (Dekker/Peterson) — los semáforos son la herramienta que realmente se usa en sistemas operativos reales.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4316F"/>
          </a:solidFill>
          <a:ln/>
        </p:spPr>
      </p:sp>
      <p:sp>
        <p:nvSpPr>
          <p:cNvPr id="3" name="Shape 1"/>
          <p:cNvSpPr/>
          <p:nvPr/>
        </p:nvSpPr>
        <p:spPr>
          <a:xfrm>
            <a:off x="10789920" y="4206240"/>
            <a:ext cx="2926080" cy="2926080"/>
          </a:xfrm>
          <a:prstGeom prst="ellipse">
            <a:avLst/>
          </a:prstGeom>
          <a:solidFill>
            <a:srgbClr val="273580"/>
          </a:solidFill>
          <a:ln/>
        </p:spPr>
      </p:sp>
      <p:sp>
        <p:nvSpPr>
          <p:cNvPr id="4" name="Text 2"/>
          <p:cNvSpPr/>
          <p:nvPr/>
        </p:nvSpPr>
        <p:spPr>
          <a:xfrm>
            <a:off x="731520" y="1554480"/>
            <a:ext cx="8229600" cy="365760"/>
          </a:xfrm>
          <a:prstGeom prst="rect">
            <a:avLst/>
          </a:prstGeom>
          <a:noFill/>
          <a:ln/>
        </p:spPr>
        <p:txBody>
          <a:bodyPr wrap="square" rtlCol="0" anchor="ctr"/>
          <a:lstStyle/>
          <a:p>
            <a:pPr marL="0" indent="0">
              <a:buNone/>
            </a:pPr>
            <a:r>
              <a:rPr lang="en-US" sz="1400" b="1" kern="0" spc="200" dirty="0">
                <a:solidFill>
                  <a:srgbClr val="E8B84B"/>
                </a:solidFill>
                <a:latin typeface="Calibri" pitchFamily="34" charset="0"/>
                <a:ea typeface="Calibri" pitchFamily="34" charset="-122"/>
                <a:cs typeface="Calibri" pitchFamily="34" charset="-120"/>
              </a:rPr>
              <a:t>CÁTEDRA · SISTEMAS OPERATIVOS</a:t>
            </a:r>
            <a:endParaRPr lang="en-US" sz="1400" dirty="0"/>
          </a:p>
        </p:txBody>
      </p:sp>
      <p:sp>
        <p:nvSpPr>
          <p:cNvPr id="5" name="Text 3"/>
          <p:cNvSpPr/>
          <p:nvPr/>
        </p:nvSpPr>
        <p:spPr>
          <a:xfrm>
            <a:off x="685800" y="1965960"/>
            <a:ext cx="9144000" cy="182880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Unidad 3</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Concurrencia</a:t>
            </a:r>
            <a:endParaRPr lang="en-US" sz="4400" dirty="0"/>
          </a:p>
        </p:txBody>
      </p:sp>
      <p:sp>
        <p:nvSpPr>
          <p:cNvPr id="6" name="Text 4"/>
          <p:cNvSpPr/>
          <p:nvPr/>
        </p:nvSpPr>
        <p:spPr>
          <a:xfrm>
            <a:off x="731520" y="3840480"/>
            <a:ext cx="987552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Clase 7 · Exclusión mutua: el problema, y las soluciones por software y hardware</a:t>
            </a:r>
            <a:endParaRPr lang="en-US" sz="1600" dirty="0"/>
          </a:p>
        </p:txBody>
      </p:sp>
      <p:sp>
        <p:nvSpPr>
          <p:cNvPr id="7" name="Shape 5"/>
          <p:cNvSpPr/>
          <p:nvPr/>
        </p:nvSpPr>
        <p:spPr>
          <a:xfrm>
            <a:off x="731520" y="5349240"/>
            <a:ext cx="3291840" cy="0"/>
          </a:xfrm>
          <a:prstGeom prst="line">
            <a:avLst/>
          </a:prstGeom>
          <a:noFill/>
          <a:ln w="12700">
            <a:solidFill>
              <a:srgbClr val="3C4A93"/>
            </a:solidFill>
            <a:prstDash val="solid"/>
          </a:ln>
        </p:spPr>
      </p:sp>
      <p:sp>
        <p:nvSpPr>
          <p:cNvPr id="8" name="Text 6"/>
          <p:cNvSpPr/>
          <p:nvPr/>
        </p:nvSpPr>
        <p:spPr>
          <a:xfrm>
            <a:off x="731520" y="548640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29 de septiembre, 2026 · 4 horas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DE PROCESOS INDIVIDUALES A PROCESOS QUE COMPITEN</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¿Por qué hablar de concurrencia ahora?</a:t>
            </a:r>
            <a:endParaRPr lang="en-US" sz="2800" dirty="0"/>
          </a:p>
        </p:txBody>
      </p:sp>
      <p:sp>
        <p:nvSpPr>
          <p:cNvPr id="6" name="Shape 4"/>
          <p:cNvSpPr/>
          <p:nvPr/>
        </p:nvSpPr>
        <p:spPr>
          <a:xfrm>
            <a:off x="640080" y="2011680"/>
            <a:ext cx="10881360" cy="2926080"/>
          </a:xfrm>
          <a:prstGeom prst="rect">
            <a:avLst/>
          </a:prstGeom>
          <a:solidFill>
            <a:srgbClr val="F2F4FB"/>
          </a:solidFill>
          <a:ln/>
        </p:spPr>
      </p:sp>
      <p:sp>
        <p:nvSpPr>
          <p:cNvPr id="7" name="Text 5"/>
          <p:cNvSpPr/>
          <p:nvPr/>
        </p:nvSpPr>
        <p:spPr>
          <a:xfrm>
            <a:off x="960120" y="2286000"/>
            <a:ext cx="10241280" cy="1005840"/>
          </a:xfrm>
          <a:prstGeom prst="rect">
            <a:avLst/>
          </a:prstGeom>
          <a:noFill/>
          <a:ln/>
        </p:spPr>
        <p:txBody>
          <a:bodyPr wrap="square" rtlCol="0" anchor="ctr"/>
          <a:lstStyle/>
          <a:p>
            <a:pPr marL="0" indent="0">
              <a:lnSpc>
                <a:spcPts val="2000"/>
              </a:lnSpc>
              <a:buNone/>
            </a:pPr>
            <a:r>
              <a:rPr lang="en-US" sz="1500" dirty="0">
                <a:solidFill>
                  <a:srgbClr val="1B1F3B"/>
                </a:solidFill>
                <a:latin typeface="Calibri" pitchFamily="34" charset="0"/>
                <a:ea typeface="Calibri" pitchFamily="34" charset="-122"/>
                <a:cs typeface="Calibri" pitchFamily="34" charset="-120"/>
              </a:rPr>
              <a:t>En la Unidad 2 vimos que el sistema operativo intercala procesos para que todos avancen. Pero no dijimos qué pasa cuando dos de esos procesos necesitan tocar el MISMO dato al mismo tiempo.</a:t>
            </a:r>
            <a:endParaRPr lang="en-US" sz="1500" dirty="0"/>
          </a:p>
        </p:txBody>
      </p:sp>
      <p:sp>
        <p:nvSpPr>
          <p:cNvPr id="8" name="Text 6"/>
          <p:cNvSpPr/>
          <p:nvPr/>
        </p:nvSpPr>
        <p:spPr>
          <a:xfrm>
            <a:off x="960120" y="3474720"/>
            <a:ext cx="10241280" cy="1188720"/>
          </a:xfrm>
          <a:prstGeom prst="rect">
            <a:avLst/>
          </a:prstGeom>
          <a:noFill/>
          <a:ln/>
        </p:spPr>
        <p:txBody>
          <a:bodyPr wrap="square" rtlCol="0" anchor="ctr"/>
          <a:lstStyle/>
          <a:p>
            <a:pPr marL="0" indent="0">
              <a:lnSpc>
                <a:spcPts val="2000"/>
              </a:lnSpc>
              <a:buNone/>
            </a:pPr>
            <a:r>
              <a:rPr lang="en-US" sz="1500" b="1" dirty="0">
                <a:solidFill>
                  <a:srgbClr val="1E2761"/>
                </a:solidFill>
                <a:latin typeface="Calibri" pitchFamily="34" charset="0"/>
                <a:ea typeface="Calibri" pitchFamily="34" charset="-122"/>
                <a:cs typeface="Calibri" pitchFamily="34" charset="-120"/>
              </a:rPr>
              <a:t>Eso es la concurrencia: el diseño de mecanismos para que procesos que se ejecutan "al mismo tiempo" (o casi) no se pisen entre sí.</a:t>
            </a:r>
            <a:endParaRPr lang="en-US" sz="1500" dirty="0"/>
          </a:p>
        </p:txBody>
      </p:sp>
      <p:sp>
        <p:nvSpPr>
          <p:cNvPr id="9" name="Text 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CONCEPTO CENTRAL DE LA UNIDAD</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¿Qué es la concurrencia?</a:t>
            </a:r>
            <a:endParaRPr lang="en-US" sz="2800" dirty="0"/>
          </a:p>
        </p:txBody>
      </p:sp>
      <p:sp>
        <p:nvSpPr>
          <p:cNvPr id="6" name="Text 4"/>
          <p:cNvSpPr/>
          <p:nvPr/>
        </p:nvSpPr>
        <p:spPr>
          <a:xfrm>
            <a:off x="640080" y="1691640"/>
            <a:ext cx="10881360" cy="640080"/>
          </a:xfrm>
          <a:prstGeom prst="rect">
            <a:avLst/>
          </a:prstGeom>
          <a:noFill/>
          <a:ln/>
        </p:spPr>
        <p:txBody>
          <a:bodyPr wrap="square" rtlCol="0" anchor="ctr"/>
          <a:lstStyle/>
          <a:p>
            <a:pPr marL="0" indent="0">
              <a:lnSpc>
                <a:spcPts val="1900"/>
              </a:lnSpc>
              <a:buNone/>
            </a:pPr>
            <a:r>
              <a:rPr lang="en-US" sz="1450" dirty="0">
                <a:solidFill>
                  <a:srgbClr val="CADCFC"/>
                </a:solidFill>
                <a:latin typeface="Calibri" pitchFamily="34" charset="0"/>
                <a:ea typeface="Calibri" pitchFamily="34" charset="-122"/>
                <a:cs typeface="Calibri" pitchFamily="34" charset="-120"/>
              </a:rPr>
              <a:t>Los sistemas operativos modernos gestionan procesos e hilos, y la concurrencia es el punto central del diseño de un sistema operativo.</a:t>
            </a:r>
            <a:endParaRPr lang="en-US" sz="1450" dirty="0"/>
          </a:p>
        </p:txBody>
      </p:sp>
      <p:sp>
        <p:nvSpPr>
          <p:cNvPr id="7" name="Shape 5"/>
          <p:cNvSpPr/>
          <p:nvPr/>
        </p:nvSpPr>
        <p:spPr>
          <a:xfrm>
            <a:off x="640080" y="2514600"/>
            <a:ext cx="3520440" cy="2926080"/>
          </a:xfrm>
          <a:prstGeom prst="rect">
            <a:avLst/>
          </a:prstGeom>
          <a:solidFill>
            <a:srgbClr val="232E6E"/>
          </a:solidFill>
          <a:ln/>
        </p:spPr>
      </p:sp>
      <p:sp>
        <p:nvSpPr>
          <p:cNvPr id="8" name="Text 6"/>
          <p:cNvSpPr/>
          <p:nvPr/>
        </p:nvSpPr>
        <p:spPr>
          <a:xfrm>
            <a:off x="914400" y="2743200"/>
            <a:ext cx="2971800" cy="822960"/>
          </a:xfrm>
          <a:prstGeom prst="rect">
            <a:avLst/>
          </a:prstGeom>
          <a:noFill/>
          <a:ln/>
        </p:spPr>
        <p:txBody>
          <a:bodyPr wrap="square" rtlCol="0" anchor="ctr"/>
          <a:lstStyle/>
          <a:p>
            <a:pPr marL="0" indent="0">
              <a:lnSpc>
                <a:spcPts val="1900"/>
              </a:lnSpc>
              <a:buNone/>
            </a:pPr>
            <a:r>
              <a:rPr lang="en-US" sz="1600" b="1" dirty="0">
                <a:solidFill>
                  <a:srgbClr val="E8B84B"/>
                </a:solidFill>
                <a:latin typeface="Calibri" pitchFamily="34" charset="0"/>
                <a:ea typeface="Calibri" pitchFamily="34" charset="-122"/>
                <a:cs typeface="Calibri" pitchFamily="34" charset="-120"/>
              </a:rPr>
              <a:t>Multiprogramación</a:t>
            </a:r>
            <a:endParaRPr lang="en-US" sz="1600" dirty="0"/>
          </a:p>
        </p:txBody>
      </p:sp>
      <p:sp>
        <p:nvSpPr>
          <p:cNvPr id="9" name="Text 7"/>
          <p:cNvSpPr/>
          <p:nvPr/>
        </p:nvSpPr>
        <p:spPr>
          <a:xfrm>
            <a:off x="914400" y="3611880"/>
            <a:ext cx="2971800" cy="164592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Varios procesos gestionados dentro de un sistema MONOPROCESADOR</a:t>
            </a:r>
            <a:endParaRPr lang="en-US" sz="1300" dirty="0"/>
          </a:p>
        </p:txBody>
      </p:sp>
      <p:sp>
        <p:nvSpPr>
          <p:cNvPr id="10" name="Shape 8"/>
          <p:cNvSpPr/>
          <p:nvPr/>
        </p:nvSpPr>
        <p:spPr>
          <a:xfrm>
            <a:off x="4343400" y="2514600"/>
            <a:ext cx="3520440" cy="2926080"/>
          </a:xfrm>
          <a:prstGeom prst="rect">
            <a:avLst/>
          </a:prstGeom>
          <a:solidFill>
            <a:srgbClr val="232E6E"/>
          </a:solidFill>
          <a:ln/>
        </p:spPr>
      </p:sp>
      <p:sp>
        <p:nvSpPr>
          <p:cNvPr id="11" name="Text 9"/>
          <p:cNvSpPr/>
          <p:nvPr/>
        </p:nvSpPr>
        <p:spPr>
          <a:xfrm>
            <a:off x="4617720" y="2743200"/>
            <a:ext cx="2971800" cy="822960"/>
          </a:xfrm>
          <a:prstGeom prst="rect">
            <a:avLst/>
          </a:prstGeom>
          <a:noFill/>
          <a:ln/>
        </p:spPr>
        <p:txBody>
          <a:bodyPr wrap="square" rtlCol="0" anchor="ctr"/>
          <a:lstStyle/>
          <a:p>
            <a:pPr marL="0" indent="0">
              <a:lnSpc>
                <a:spcPts val="1900"/>
              </a:lnSpc>
              <a:buNone/>
            </a:pPr>
            <a:r>
              <a:rPr lang="en-US" sz="1600" b="1" dirty="0">
                <a:solidFill>
                  <a:srgbClr val="E8B84B"/>
                </a:solidFill>
                <a:latin typeface="Calibri" pitchFamily="34" charset="0"/>
                <a:ea typeface="Calibri" pitchFamily="34" charset="-122"/>
                <a:cs typeface="Calibri" pitchFamily="34" charset="-120"/>
              </a:rPr>
              <a:t>Multiproceso</a:t>
            </a:r>
            <a:endParaRPr lang="en-US" sz="1600" dirty="0"/>
          </a:p>
        </p:txBody>
      </p:sp>
      <p:sp>
        <p:nvSpPr>
          <p:cNvPr id="12" name="Text 10"/>
          <p:cNvSpPr/>
          <p:nvPr/>
        </p:nvSpPr>
        <p:spPr>
          <a:xfrm>
            <a:off x="4617720" y="3611880"/>
            <a:ext cx="2971800" cy="164592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Varios procesos gestionados dentro de un sistema MULTIPROCESADOR</a:t>
            </a:r>
            <a:endParaRPr lang="en-US" sz="1300" dirty="0"/>
          </a:p>
        </p:txBody>
      </p:sp>
      <p:sp>
        <p:nvSpPr>
          <p:cNvPr id="13" name="Shape 11"/>
          <p:cNvSpPr/>
          <p:nvPr/>
        </p:nvSpPr>
        <p:spPr>
          <a:xfrm>
            <a:off x="8046720" y="2514600"/>
            <a:ext cx="3520440" cy="2926080"/>
          </a:xfrm>
          <a:prstGeom prst="rect">
            <a:avLst/>
          </a:prstGeom>
          <a:solidFill>
            <a:srgbClr val="232E6E"/>
          </a:solidFill>
          <a:ln/>
        </p:spPr>
      </p:sp>
      <p:sp>
        <p:nvSpPr>
          <p:cNvPr id="14" name="Text 12"/>
          <p:cNvSpPr/>
          <p:nvPr/>
        </p:nvSpPr>
        <p:spPr>
          <a:xfrm>
            <a:off x="8321040" y="2743200"/>
            <a:ext cx="2971800" cy="822960"/>
          </a:xfrm>
          <a:prstGeom prst="rect">
            <a:avLst/>
          </a:prstGeom>
          <a:noFill/>
          <a:ln/>
        </p:spPr>
        <p:txBody>
          <a:bodyPr wrap="square" rtlCol="0" anchor="ctr"/>
          <a:lstStyle/>
          <a:p>
            <a:pPr marL="0" indent="0">
              <a:lnSpc>
                <a:spcPts val="1900"/>
              </a:lnSpc>
              <a:buNone/>
            </a:pPr>
            <a:r>
              <a:rPr lang="en-US" sz="1600" b="1" dirty="0">
                <a:solidFill>
                  <a:srgbClr val="E8B84B"/>
                </a:solidFill>
                <a:latin typeface="Calibri" pitchFamily="34" charset="0"/>
                <a:ea typeface="Calibri" pitchFamily="34" charset="-122"/>
                <a:cs typeface="Calibri" pitchFamily="34" charset="-120"/>
              </a:rPr>
              <a:t>Procesos distribuidos</a:t>
            </a:r>
            <a:endParaRPr lang="en-US" sz="1600" dirty="0"/>
          </a:p>
        </p:txBody>
      </p:sp>
      <p:sp>
        <p:nvSpPr>
          <p:cNvPr id="15" name="Text 13"/>
          <p:cNvSpPr/>
          <p:nvPr/>
        </p:nvSpPr>
        <p:spPr>
          <a:xfrm>
            <a:off x="8321040" y="3611880"/>
            <a:ext cx="2971800" cy="164592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Varios procesos que se ejecutan en sistemas operativos múltiples y remotos</a:t>
            </a:r>
            <a:endParaRPr lang="en-US" sz="1300" dirty="0"/>
          </a:p>
        </p:txBody>
      </p:sp>
      <p:sp>
        <p:nvSpPr>
          <p:cNvPr id="16"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LOS 3 DOLORES DE CABEZA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Principios generales y riesgos de la concurrencia</a:t>
            </a:r>
            <a:endParaRPr lang="en-US" sz="2800" dirty="0"/>
          </a:p>
        </p:txBody>
      </p:sp>
      <p:sp>
        <p:nvSpPr>
          <p:cNvPr id="6" name="Shape 4"/>
          <p:cNvSpPr/>
          <p:nvPr/>
        </p:nvSpPr>
        <p:spPr>
          <a:xfrm>
            <a:off x="640080" y="1920240"/>
            <a:ext cx="10881360" cy="1188720"/>
          </a:xfrm>
          <a:prstGeom prst="rect">
            <a:avLst/>
          </a:prstGeom>
          <a:solidFill>
            <a:srgbClr val="F7F8FC"/>
          </a:solidFill>
          <a:ln/>
        </p:spPr>
      </p:sp>
      <p:sp>
        <p:nvSpPr>
          <p:cNvPr id="7" name="Text 5"/>
          <p:cNvSpPr/>
          <p:nvPr/>
        </p:nvSpPr>
        <p:spPr>
          <a:xfrm>
            <a:off x="868680" y="2057400"/>
            <a:ext cx="640080" cy="914400"/>
          </a:xfrm>
          <a:prstGeom prst="rect">
            <a:avLst/>
          </a:prstGeom>
          <a:noFill/>
          <a:ln/>
        </p:spPr>
        <p:txBody>
          <a:bodyPr wrap="square" rtlCol="0" anchor="ctr"/>
          <a:lstStyle/>
          <a:p>
            <a:pPr marL="0" indent="0">
              <a:buNone/>
            </a:pPr>
            <a:r>
              <a:rPr lang="en-US" sz="2800" b="1" dirty="0">
                <a:solidFill>
                  <a:srgbClr val="E8B84B"/>
                </a:solidFill>
                <a:latin typeface="Cambria" pitchFamily="34" charset="0"/>
                <a:ea typeface="Cambria" pitchFamily="34" charset="-122"/>
                <a:cs typeface="Cambria" pitchFamily="34" charset="-120"/>
              </a:rPr>
              <a:t>1</a:t>
            </a:r>
            <a:endParaRPr lang="en-US" sz="2800" dirty="0"/>
          </a:p>
        </p:txBody>
      </p:sp>
      <p:sp>
        <p:nvSpPr>
          <p:cNvPr id="8" name="Text 6"/>
          <p:cNvSpPr/>
          <p:nvPr/>
        </p:nvSpPr>
        <p:spPr>
          <a:xfrm>
            <a:off x="1600200" y="2084832"/>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Recursos globales compartidos</a:t>
            </a:r>
            <a:endParaRPr lang="en-US" sz="1500" dirty="0"/>
          </a:p>
        </p:txBody>
      </p:sp>
      <p:sp>
        <p:nvSpPr>
          <p:cNvPr id="9" name="Text 7"/>
          <p:cNvSpPr/>
          <p:nvPr/>
        </p:nvSpPr>
        <p:spPr>
          <a:xfrm>
            <a:off x="1600200" y="2514600"/>
            <a:ext cx="9601200" cy="548640"/>
          </a:xfrm>
          <a:prstGeom prst="rect">
            <a:avLst/>
          </a:prstGeom>
          <a:noFill/>
          <a:ln/>
        </p:spPr>
        <p:txBody>
          <a:bodyPr wrap="square" rtlCol="0" anchor="ctr"/>
          <a:lstStyle/>
          <a:p>
            <a:pPr marL="0" indent="0">
              <a:lnSpc>
                <a:spcPts val="1600"/>
              </a:lnSpc>
              <a:buNone/>
            </a:pPr>
            <a:r>
              <a:rPr lang="en-US" sz="1250" dirty="0">
                <a:solidFill>
                  <a:srgbClr val="5B6584"/>
                </a:solidFill>
                <a:latin typeface="Calibri" pitchFamily="34" charset="0"/>
                <a:ea typeface="Calibri" pitchFamily="34" charset="-122"/>
                <a:cs typeface="Calibri" pitchFamily="34" charset="-120"/>
              </a:rPr>
              <a:t>Si dos procesos leen y escriben las mismas variables globales, la situación puede volverse crítica</a:t>
            </a:r>
            <a:endParaRPr lang="en-US" sz="1250" dirty="0"/>
          </a:p>
        </p:txBody>
      </p:sp>
      <p:sp>
        <p:nvSpPr>
          <p:cNvPr id="10" name="Shape 8"/>
          <p:cNvSpPr/>
          <p:nvPr/>
        </p:nvSpPr>
        <p:spPr>
          <a:xfrm>
            <a:off x="640080" y="3246120"/>
            <a:ext cx="10881360" cy="1188720"/>
          </a:xfrm>
          <a:prstGeom prst="rect">
            <a:avLst/>
          </a:prstGeom>
          <a:solidFill>
            <a:srgbClr val="F7F8FC"/>
          </a:solidFill>
          <a:ln/>
        </p:spPr>
      </p:sp>
      <p:sp>
        <p:nvSpPr>
          <p:cNvPr id="11" name="Text 9"/>
          <p:cNvSpPr/>
          <p:nvPr/>
        </p:nvSpPr>
        <p:spPr>
          <a:xfrm>
            <a:off x="868680" y="3383280"/>
            <a:ext cx="640080" cy="914400"/>
          </a:xfrm>
          <a:prstGeom prst="rect">
            <a:avLst/>
          </a:prstGeom>
          <a:noFill/>
          <a:ln/>
        </p:spPr>
        <p:txBody>
          <a:bodyPr wrap="square" rtlCol="0" anchor="ctr"/>
          <a:lstStyle/>
          <a:p>
            <a:pPr marL="0" indent="0">
              <a:buNone/>
            </a:pPr>
            <a:r>
              <a:rPr lang="en-US" sz="2800" b="1" dirty="0">
                <a:solidFill>
                  <a:srgbClr val="E8B84B"/>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1600200" y="3410712"/>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Asignación óptima de recursos</a:t>
            </a:r>
            <a:endParaRPr lang="en-US" sz="1500" dirty="0"/>
          </a:p>
        </p:txBody>
      </p:sp>
      <p:sp>
        <p:nvSpPr>
          <p:cNvPr id="13" name="Text 11"/>
          <p:cNvSpPr/>
          <p:nvPr/>
        </p:nvSpPr>
        <p:spPr>
          <a:xfrm>
            <a:off x="1600200" y="3840480"/>
            <a:ext cx="9601200" cy="548640"/>
          </a:xfrm>
          <a:prstGeom prst="rect">
            <a:avLst/>
          </a:prstGeom>
          <a:noFill/>
          <a:ln/>
        </p:spPr>
        <p:txBody>
          <a:bodyPr wrap="square" rtlCol="0" anchor="ctr"/>
          <a:lstStyle/>
          <a:p>
            <a:pPr marL="0" indent="0">
              <a:lnSpc>
                <a:spcPts val="1600"/>
              </a:lnSpc>
              <a:buNone/>
            </a:pPr>
            <a:r>
              <a:rPr lang="en-US" sz="1250" dirty="0">
                <a:solidFill>
                  <a:srgbClr val="5B6584"/>
                </a:solidFill>
                <a:latin typeface="Calibri" pitchFamily="34" charset="0"/>
                <a:ea typeface="Calibri" pitchFamily="34" charset="-122"/>
                <a:cs typeface="Calibri" pitchFamily="34" charset="-120"/>
              </a:rPr>
              <a:t>No es tarea fácil: bloquear canales o recursos por parte de otros procesos es ineficiente</a:t>
            </a:r>
            <a:endParaRPr lang="en-US" sz="1250" dirty="0"/>
          </a:p>
        </p:txBody>
      </p:sp>
      <p:sp>
        <p:nvSpPr>
          <p:cNvPr id="14" name="Shape 12"/>
          <p:cNvSpPr/>
          <p:nvPr/>
        </p:nvSpPr>
        <p:spPr>
          <a:xfrm>
            <a:off x="640080" y="4572000"/>
            <a:ext cx="10881360" cy="1188720"/>
          </a:xfrm>
          <a:prstGeom prst="rect">
            <a:avLst/>
          </a:prstGeom>
          <a:solidFill>
            <a:srgbClr val="F7F8FC"/>
          </a:solidFill>
          <a:ln/>
        </p:spPr>
      </p:sp>
      <p:sp>
        <p:nvSpPr>
          <p:cNvPr id="15" name="Text 13"/>
          <p:cNvSpPr/>
          <p:nvPr/>
        </p:nvSpPr>
        <p:spPr>
          <a:xfrm>
            <a:off x="868680" y="4709160"/>
            <a:ext cx="640080" cy="914400"/>
          </a:xfrm>
          <a:prstGeom prst="rect">
            <a:avLst/>
          </a:prstGeom>
          <a:noFill/>
          <a:ln/>
        </p:spPr>
        <p:txBody>
          <a:bodyPr wrap="square" rtlCol="0" anchor="ctr"/>
          <a:lstStyle/>
          <a:p>
            <a:pPr marL="0" indent="0">
              <a:buNone/>
            </a:pPr>
            <a:r>
              <a:rPr lang="en-US" sz="2800" b="1" dirty="0">
                <a:solidFill>
                  <a:srgbClr val="E8B84B"/>
                </a:solidFill>
                <a:latin typeface="Cambria" pitchFamily="34" charset="0"/>
                <a:ea typeface="Cambria" pitchFamily="34" charset="-122"/>
                <a:cs typeface="Cambria" pitchFamily="34" charset="-120"/>
              </a:rPr>
              <a:t>3</a:t>
            </a:r>
            <a:endParaRPr lang="en-US" sz="2800" dirty="0"/>
          </a:p>
        </p:txBody>
      </p:sp>
      <p:sp>
        <p:nvSpPr>
          <p:cNvPr id="16" name="Text 14"/>
          <p:cNvSpPr/>
          <p:nvPr/>
        </p:nvSpPr>
        <p:spPr>
          <a:xfrm>
            <a:off x="1600200" y="4736592"/>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Errores difíciles de identificar</a:t>
            </a:r>
            <a:endParaRPr lang="en-US" sz="1500" dirty="0"/>
          </a:p>
        </p:txBody>
      </p:sp>
      <p:sp>
        <p:nvSpPr>
          <p:cNvPr id="17" name="Text 15"/>
          <p:cNvSpPr/>
          <p:nvPr/>
        </p:nvSpPr>
        <p:spPr>
          <a:xfrm>
            <a:off x="1600200" y="5166360"/>
            <a:ext cx="9601200" cy="548640"/>
          </a:xfrm>
          <a:prstGeom prst="rect">
            <a:avLst/>
          </a:prstGeom>
          <a:noFill/>
          <a:ln/>
        </p:spPr>
        <p:txBody>
          <a:bodyPr wrap="square" rtlCol="0" anchor="ctr"/>
          <a:lstStyle/>
          <a:p>
            <a:pPr marL="0" indent="0">
              <a:lnSpc>
                <a:spcPts val="1600"/>
              </a:lnSpc>
              <a:buNone/>
            </a:pPr>
            <a:r>
              <a:rPr lang="en-US" sz="1250" dirty="0">
                <a:solidFill>
                  <a:srgbClr val="5B6584"/>
                </a:solidFill>
                <a:latin typeface="Calibri" pitchFamily="34" charset="0"/>
                <a:ea typeface="Calibri" pitchFamily="34" charset="-122"/>
                <a:cs typeface="Calibri" pitchFamily="34" charset="-120"/>
              </a:rPr>
              <a:t>Los resultados generalmente no son reproducibles — el mismo código puede fallar "a veces"</a:t>
            </a:r>
            <a:endParaRPr lang="en-US" sz="1250" dirty="0"/>
          </a:p>
        </p:txBody>
      </p:sp>
      <p:sp>
        <p:nvSpPr>
          <p:cNvPr id="18" name="Text 16"/>
          <p:cNvSpPr/>
          <p:nvPr/>
        </p:nvSpPr>
        <p:spPr>
          <a:xfrm>
            <a:off x="640080" y="5943600"/>
            <a:ext cx="10881360" cy="548640"/>
          </a:xfrm>
          <a:prstGeom prst="rect">
            <a:avLst/>
          </a:prstGeom>
          <a:noFill/>
          <a:ln/>
        </p:spPr>
        <p:txBody>
          <a:bodyPr wrap="square" rtlCol="0" anchor="ctr"/>
          <a:lstStyle/>
          <a:p>
            <a:pPr marL="0" indent="0">
              <a:lnSpc>
                <a:spcPts val="1600"/>
              </a:lnSpc>
              <a:buNone/>
            </a:pPr>
            <a:r>
              <a:rPr lang="en-US" sz="1250" i="1" dirty="0">
                <a:solidFill>
                  <a:srgbClr val="1E2761"/>
                </a:solidFill>
                <a:latin typeface="Calibri" pitchFamily="34" charset="0"/>
                <a:ea typeface="Calibri" pitchFamily="34" charset="-122"/>
                <a:cs typeface="Calibri" pitchFamily="34" charset="-120"/>
              </a:rPr>
              <a:t>Esto pasa tanto en sistemas monoprocesador como multiprocesador — en multiprocesador es aún más impredecible, porque no se sabe la velocidad relativa de cada procesador.</a:t>
            </a:r>
            <a:endParaRPr lang="en-US" sz="1250" dirty="0"/>
          </a:p>
        </p:txBody>
      </p:sp>
      <p:sp>
        <p:nvSpPr>
          <p:cNvPr id="19" name="Text 1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UN EJEMPLO REAL DEL PROBLEMA</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El procedimiento "ECHO" que se rompe</a:t>
            </a:r>
            <a:endParaRPr lang="en-US" sz="2800" dirty="0"/>
          </a:p>
        </p:txBody>
      </p:sp>
      <p:sp>
        <p:nvSpPr>
          <p:cNvPr id="6" name="Text 4"/>
          <p:cNvSpPr/>
          <p:nvPr/>
        </p:nvSpPr>
        <p:spPr>
          <a:xfrm>
            <a:off x="640080" y="1691640"/>
            <a:ext cx="10881360" cy="731520"/>
          </a:xfrm>
          <a:prstGeom prst="rect">
            <a:avLst/>
          </a:prstGeom>
          <a:noFill/>
          <a:ln/>
        </p:spPr>
        <p:txBody>
          <a:bodyPr wrap="square" rtlCol="0" anchor="ctr"/>
          <a:lstStyle/>
          <a:p>
            <a:pPr marL="0" indent="0">
              <a:lnSpc>
                <a:spcPts val="1800"/>
              </a:lnSpc>
              <a:buNone/>
            </a:pPr>
            <a:r>
              <a:rPr lang="en-US" sz="1350" dirty="0">
                <a:solidFill>
                  <a:srgbClr val="CADCFC"/>
                </a:solidFill>
                <a:latin typeface="Calibri" pitchFamily="34" charset="0"/>
                <a:ea typeface="Calibri" pitchFamily="34" charset="-122"/>
                <a:cs typeface="Calibri" pitchFamily="34" charset="-120"/>
              </a:rPr>
              <a:t>Un procedimiento ECHO simple: lee un carácter del teclado (ENT) y lo muestra en pantalla (SAL := ENT). Dos procesos, P1 y P2, lo usan al mismo tiempo, compartiendo la variable global ENT.</a:t>
            </a:r>
            <a:endParaRPr lang="en-US" sz="1350" dirty="0"/>
          </a:p>
        </p:txBody>
      </p:sp>
      <p:sp>
        <p:nvSpPr>
          <p:cNvPr id="7" name="Shape 5"/>
          <p:cNvSpPr/>
          <p:nvPr/>
        </p:nvSpPr>
        <p:spPr>
          <a:xfrm>
            <a:off x="640080" y="2606040"/>
            <a:ext cx="457200" cy="457200"/>
          </a:xfrm>
          <a:prstGeom prst="ellipse">
            <a:avLst/>
          </a:prstGeom>
          <a:solidFill>
            <a:srgbClr val="E8B84B"/>
          </a:solidFill>
          <a:ln/>
        </p:spPr>
      </p:sp>
      <p:sp>
        <p:nvSpPr>
          <p:cNvPr id="8" name="Text 6"/>
          <p:cNvSpPr/>
          <p:nvPr/>
        </p:nvSpPr>
        <p:spPr>
          <a:xfrm>
            <a:off x="640080" y="260604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80160" y="2560320"/>
            <a:ext cx="9966960" cy="59436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P1 lee "x" y lo guarda en ENT — pero se interrumpe justo antes de mostrarlo</a:t>
            </a:r>
            <a:endParaRPr lang="en-US" sz="1350" dirty="0"/>
          </a:p>
        </p:txBody>
      </p:sp>
      <p:sp>
        <p:nvSpPr>
          <p:cNvPr id="10" name="Shape 8"/>
          <p:cNvSpPr/>
          <p:nvPr/>
        </p:nvSpPr>
        <p:spPr>
          <a:xfrm>
            <a:off x="640080" y="3383280"/>
            <a:ext cx="457200" cy="457200"/>
          </a:xfrm>
          <a:prstGeom prst="ellipse">
            <a:avLst/>
          </a:prstGeom>
          <a:solidFill>
            <a:srgbClr val="E8B84B"/>
          </a:solidFill>
          <a:ln/>
        </p:spPr>
      </p:sp>
      <p:sp>
        <p:nvSpPr>
          <p:cNvPr id="11" name="Text 9"/>
          <p:cNvSpPr/>
          <p:nvPr/>
        </p:nvSpPr>
        <p:spPr>
          <a:xfrm>
            <a:off x="640080" y="338328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3337560"/>
            <a:ext cx="9966960" cy="59436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P2 arranca, lee "y", lo guarda en ENT (¡sobrescribe la "x"!), y lo muestra en pantalla</a:t>
            </a:r>
            <a:endParaRPr lang="en-US" sz="1350" dirty="0"/>
          </a:p>
        </p:txBody>
      </p:sp>
      <p:sp>
        <p:nvSpPr>
          <p:cNvPr id="13" name="Shape 11"/>
          <p:cNvSpPr/>
          <p:nvPr/>
        </p:nvSpPr>
        <p:spPr>
          <a:xfrm>
            <a:off x="640080" y="4160520"/>
            <a:ext cx="457200" cy="457200"/>
          </a:xfrm>
          <a:prstGeom prst="ellipse">
            <a:avLst/>
          </a:prstGeom>
          <a:solidFill>
            <a:srgbClr val="E8B84B"/>
          </a:solidFill>
          <a:ln/>
        </p:spPr>
      </p:sp>
      <p:sp>
        <p:nvSpPr>
          <p:cNvPr id="14" name="Text 12"/>
          <p:cNvSpPr/>
          <p:nvPr/>
        </p:nvSpPr>
        <p:spPr>
          <a:xfrm>
            <a:off x="640080" y="416052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280160" y="4114800"/>
            <a:ext cx="9966960" cy="59436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P1 retoma, pero ENT ya vale "y" — muestra "y" de nuevo, en vez de "x"</a:t>
            </a:r>
            <a:endParaRPr lang="en-US" sz="1350" dirty="0"/>
          </a:p>
        </p:txBody>
      </p:sp>
      <p:sp>
        <p:nvSpPr>
          <p:cNvPr id="16" name="Text 14"/>
          <p:cNvSpPr/>
          <p:nvPr/>
        </p:nvSpPr>
        <p:spPr>
          <a:xfrm>
            <a:off x="640080" y="5257800"/>
            <a:ext cx="10881360" cy="640080"/>
          </a:xfrm>
          <a:prstGeom prst="rect">
            <a:avLst/>
          </a:prstGeom>
          <a:noFill/>
          <a:ln/>
        </p:spPr>
        <p:txBody>
          <a:bodyPr wrap="square" rtlCol="0" anchor="ctr"/>
          <a:lstStyle/>
          <a:p>
            <a:pPr marL="0" indent="0">
              <a:lnSpc>
                <a:spcPts val="1800"/>
              </a:lnSpc>
              <a:buNone/>
            </a:pPr>
            <a:r>
              <a:rPr lang="en-US" sz="1350" i="1" dirty="0">
                <a:solidFill>
                  <a:srgbClr val="E8B84B"/>
                </a:solidFill>
                <a:latin typeface="Calibri" pitchFamily="34" charset="0"/>
                <a:ea typeface="Calibri" pitchFamily="34" charset="-122"/>
                <a:cs typeface="Calibri" pitchFamily="34" charset="-120"/>
              </a:rPr>
              <a:t>Resultado: el carácter "x" se perdió para siempre, y "y" se mostró dos veces. Esto se llama condición de carrera (race condition).</a:t>
            </a:r>
            <a:endParaRPr lang="en-US" sz="1350" dirty="0"/>
          </a:p>
        </p:txBody>
      </p:sp>
      <p:sp>
        <p:nvSpPr>
          <p:cNvPr id="17" name="Text 1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BAJANDO LA TEORÍA A TIERRA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Actividad: encontrá la condición de carrera</a:t>
            </a:r>
            <a:endParaRPr lang="en-US" sz="2800" dirty="0"/>
          </a:p>
        </p:txBody>
      </p:sp>
      <p:sp>
        <p:nvSpPr>
          <p:cNvPr id="6" name="Text 4"/>
          <p:cNvSpPr/>
          <p:nvPr/>
        </p:nvSpPr>
        <p:spPr>
          <a:xfrm>
            <a:off x="640080" y="1737360"/>
            <a:ext cx="9144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En parejas, analicen esta situación y respondan las 2 preguntas:</a:t>
            </a:r>
            <a:endParaRPr lang="en-US" sz="1400" dirty="0"/>
          </a:p>
        </p:txBody>
      </p:sp>
      <p:sp>
        <p:nvSpPr>
          <p:cNvPr id="7" name="Shape 5"/>
          <p:cNvSpPr/>
          <p:nvPr/>
        </p:nvSpPr>
        <p:spPr>
          <a:xfrm>
            <a:off x="640080" y="2194560"/>
            <a:ext cx="10881360" cy="1737360"/>
          </a:xfrm>
          <a:prstGeom prst="rect">
            <a:avLst/>
          </a:prstGeom>
          <a:solidFill>
            <a:srgbClr val="F2F4FB"/>
          </a:solidFill>
          <a:ln/>
        </p:spPr>
      </p:sp>
      <p:sp>
        <p:nvSpPr>
          <p:cNvPr id="8" name="Text 6"/>
          <p:cNvSpPr/>
          <p:nvPr/>
        </p:nvSpPr>
        <p:spPr>
          <a:xfrm>
            <a:off x="914400" y="2423160"/>
            <a:ext cx="10332720" cy="1280160"/>
          </a:xfrm>
          <a:prstGeom prst="rect">
            <a:avLst/>
          </a:prstGeom>
          <a:noFill/>
          <a:ln/>
        </p:spPr>
        <p:txBody>
          <a:bodyPr wrap="square" rtlCol="0" anchor="ctr"/>
          <a:lstStyle/>
          <a:p>
            <a:pPr marL="0" indent="0">
              <a:lnSpc>
                <a:spcPts val="2000"/>
              </a:lnSpc>
              <a:buNone/>
            </a:pPr>
            <a:r>
              <a:rPr lang="en-US" sz="1450" dirty="0">
                <a:solidFill>
                  <a:srgbClr val="1B1F3B"/>
                </a:solidFill>
                <a:latin typeface="Calibri" pitchFamily="34" charset="0"/>
                <a:ea typeface="Calibri" pitchFamily="34" charset="-122"/>
                <a:cs typeface="Calibri" pitchFamily="34" charset="-120"/>
              </a:rPr>
              <a:t>Dos cajeros automáticos del mismo banco leen el saldo de una cuenta (Gs. 100.000), y ambos permiten un retiro de Gs. 80.000 casi al mismo tiempo, cada uno sin saber del otro.</a:t>
            </a:r>
            <a:endParaRPr lang="en-US" sz="1450" dirty="0"/>
          </a:p>
        </p:txBody>
      </p:sp>
      <p:sp>
        <p:nvSpPr>
          <p:cNvPr id="9" name="Text 7"/>
          <p:cNvSpPr/>
          <p:nvPr/>
        </p:nvSpPr>
        <p:spPr>
          <a:xfrm>
            <a:off x="640080" y="4206240"/>
            <a:ext cx="1060704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1. ¿Qué saldo final le va a quedar a la cuenta si no hay ningún mecanismo de protección?</a:t>
            </a:r>
            <a:endParaRPr lang="en-US" sz="1350" dirty="0"/>
          </a:p>
        </p:txBody>
      </p:sp>
      <p:sp>
        <p:nvSpPr>
          <p:cNvPr id="10" name="Text 8"/>
          <p:cNvSpPr/>
          <p:nvPr/>
        </p:nvSpPr>
        <p:spPr>
          <a:xfrm>
            <a:off x="640080" y="4846320"/>
            <a:ext cx="1060704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2. ¿Qué tendría que pasar para que el segundo cajero "se dé cuenta" de que ya no hay saldo suficiente?</a:t>
            </a:r>
            <a:endParaRPr lang="en-US" sz="1350" dirty="0"/>
          </a:p>
        </p:txBody>
      </p:sp>
      <p:sp>
        <p:nvSpPr>
          <p:cNvPr id="11"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LA SOLUCIÓN QUE BUSCAMOS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Exclusión mutua: los 6 requisitos</a:t>
            </a:r>
            <a:endParaRPr lang="en-US" sz="2800" dirty="0"/>
          </a:p>
        </p:txBody>
      </p:sp>
      <p:sp>
        <p:nvSpPr>
          <p:cNvPr id="6" name="Shape 4"/>
          <p:cNvSpPr/>
          <p:nvPr/>
        </p:nvSpPr>
        <p:spPr>
          <a:xfrm>
            <a:off x="640080" y="1783080"/>
            <a:ext cx="5257800" cy="1325880"/>
          </a:xfrm>
          <a:prstGeom prst="rect">
            <a:avLst/>
          </a:prstGeom>
          <a:solidFill>
            <a:srgbClr val="232E6E"/>
          </a:solidFill>
          <a:ln/>
        </p:spPr>
      </p:sp>
      <p:sp>
        <p:nvSpPr>
          <p:cNvPr id="7" name="Text 5"/>
          <p:cNvSpPr/>
          <p:nvPr/>
        </p:nvSpPr>
        <p:spPr>
          <a:xfrm>
            <a:off x="822960" y="189280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371600" y="189280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Solo un proceso a la vez puede estar en su sección crítica sobre el mismo recurso</a:t>
            </a:r>
            <a:endParaRPr lang="en-US" sz="1150" dirty="0"/>
          </a:p>
        </p:txBody>
      </p:sp>
      <p:sp>
        <p:nvSpPr>
          <p:cNvPr id="9" name="Shape 7"/>
          <p:cNvSpPr/>
          <p:nvPr/>
        </p:nvSpPr>
        <p:spPr>
          <a:xfrm>
            <a:off x="6263640" y="1783080"/>
            <a:ext cx="5257800" cy="1325880"/>
          </a:xfrm>
          <a:prstGeom prst="rect">
            <a:avLst/>
          </a:prstGeom>
          <a:solidFill>
            <a:srgbClr val="232E6E"/>
          </a:solidFill>
          <a:ln/>
        </p:spPr>
      </p:sp>
      <p:sp>
        <p:nvSpPr>
          <p:cNvPr id="10" name="Text 8"/>
          <p:cNvSpPr/>
          <p:nvPr/>
        </p:nvSpPr>
        <p:spPr>
          <a:xfrm>
            <a:off x="6446520" y="189280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6995160" y="189280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Un proceso que se interrumpe en una sección NO crítica no debe afectar a los demás</a:t>
            </a:r>
            <a:endParaRPr lang="en-US" sz="1150" dirty="0"/>
          </a:p>
        </p:txBody>
      </p:sp>
      <p:sp>
        <p:nvSpPr>
          <p:cNvPr id="12" name="Shape 10"/>
          <p:cNvSpPr/>
          <p:nvPr/>
        </p:nvSpPr>
        <p:spPr>
          <a:xfrm>
            <a:off x="640080" y="3291840"/>
            <a:ext cx="5257800" cy="1325880"/>
          </a:xfrm>
          <a:prstGeom prst="rect">
            <a:avLst/>
          </a:prstGeom>
          <a:solidFill>
            <a:srgbClr val="232E6E"/>
          </a:solidFill>
          <a:ln/>
        </p:spPr>
      </p:sp>
      <p:sp>
        <p:nvSpPr>
          <p:cNvPr id="13" name="Text 11"/>
          <p:cNvSpPr/>
          <p:nvPr/>
        </p:nvSpPr>
        <p:spPr>
          <a:xfrm>
            <a:off x="822960" y="340156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340156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No debe permitirse el interbloqueo ni la inanición (nunca dejar a un proceso esperando para siempre)</a:t>
            </a:r>
            <a:endParaRPr lang="en-US" sz="1150" dirty="0"/>
          </a:p>
        </p:txBody>
      </p:sp>
      <p:sp>
        <p:nvSpPr>
          <p:cNvPr id="15" name="Shape 13"/>
          <p:cNvSpPr/>
          <p:nvPr/>
        </p:nvSpPr>
        <p:spPr>
          <a:xfrm>
            <a:off x="6263640" y="3291840"/>
            <a:ext cx="5257800" cy="1325880"/>
          </a:xfrm>
          <a:prstGeom prst="rect">
            <a:avLst/>
          </a:prstGeom>
          <a:solidFill>
            <a:srgbClr val="232E6E"/>
          </a:solidFill>
          <a:ln/>
        </p:spPr>
      </p:sp>
      <p:sp>
        <p:nvSpPr>
          <p:cNvPr id="16" name="Text 14"/>
          <p:cNvSpPr/>
          <p:nvPr/>
        </p:nvSpPr>
        <p:spPr>
          <a:xfrm>
            <a:off x="6446520" y="340156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6995160" y="340156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Si nadie está en su sección crítica, un proceso que la pide debe poder entrar sin demora</a:t>
            </a:r>
            <a:endParaRPr lang="en-US" sz="1150" dirty="0"/>
          </a:p>
        </p:txBody>
      </p:sp>
      <p:sp>
        <p:nvSpPr>
          <p:cNvPr id="18" name="Shape 16"/>
          <p:cNvSpPr/>
          <p:nvPr/>
        </p:nvSpPr>
        <p:spPr>
          <a:xfrm>
            <a:off x="640080" y="4800600"/>
            <a:ext cx="5257800" cy="1325880"/>
          </a:xfrm>
          <a:prstGeom prst="rect">
            <a:avLst/>
          </a:prstGeom>
          <a:solidFill>
            <a:srgbClr val="232E6E"/>
          </a:solidFill>
          <a:ln/>
        </p:spPr>
      </p:sp>
      <p:sp>
        <p:nvSpPr>
          <p:cNvPr id="19" name="Text 17"/>
          <p:cNvSpPr/>
          <p:nvPr/>
        </p:nvSpPr>
        <p:spPr>
          <a:xfrm>
            <a:off x="822960" y="491032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5</a:t>
            </a:r>
            <a:endParaRPr lang="en-US" sz="2000" dirty="0"/>
          </a:p>
        </p:txBody>
      </p:sp>
      <p:sp>
        <p:nvSpPr>
          <p:cNvPr id="20" name="Text 18"/>
          <p:cNvSpPr/>
          <p:nvPr/>
        </p:nvSpPr>
        <p:spPr>
          <a:xfrm>
            <a:off x="1371600" y="491032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No se asume nada sobre la velocidad relativa de los procesos ni su cantidad</a:t>
            </a:r>
            <a:endParaRPr lang="en-US" sz="1150" dirty="0"/>
          </a:p>
        </p:txBody>
      </p:sp>
      <p:sp>
        <p:nvSpPr>
          <p:cNvPr id="21" name="Shape 19"/>
          <p:cNvSpPr/>
          <p:nvPr/>
        </p:nvSpPr>
        <p:spPr>
          <a:xfrm>
            <a:off x="6263640" y="4800600"/>
            <a:ext cx="5257800" cy="1325880"/>
          </a:xfrm>
          <a:prstGeom prst="rect">
            <a:avLst/>
          </a:prstGeom>
          <a:solidFill>
            <a:srgbClr val="232E6E"/>
          </a:solidFill>
          <a:ln/>
        </p:spPr>
      </p:sp>
      <p:sp>
        <p:nvSpPr>
          <p:cNvPr id="22" name="Text 20"/>
          <p:cNvSpPr/>
          <p:nvPr/>
        </p:nvSpPr>
        <p:spPr>
          <a:xfrm>
            <a:off x="6446520" y="4910328"/>
            <a:ext cx="457200" cy="109728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6</a:t>
            </a:r>
            <a:endParaRPr lang="en-US" sz="2000" dirty="0"/>
          </a:p>
        </p:txBody>
      </p:sp>
      <p:sp>
        <p:nvSpPr>
          <p:cNvPr id="23" name="Text 21"/>
          <p:cNvSpPr/>
          <p:nvPr/>
        </p:nvSpPr>
        <p:spPr>
          <a:xfrm>
            <a:off x="6995160" y="4910328"/>
            <a:ext cx="4343400" cy="1097280"/>
          </a:xfrm>
          <a:prstGeom prst="rect">
            <a:avLst/>
          </a:prstGeom>
          <a:noFill/>
          <a:ln/>
        </p:spPr>
        <p:txBody>
          <a:bodyPr wrap="square"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Un proceso permanece en su sección crítica solo por un tiempo finito</a:t>
            </a:r>
            <a:endParaRPr lang="en-US" sz="1150" dirty="0"/>
          </a:p>
        </p:txBody>
      </p:sp>
      <p:sp>
        <p:nvSpPr>
          <p:cNvPr id="24" name="Text 2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SOLUCIONES POR SOFTWARE · 1</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Algoritmo de Dekker: el protocolo del iglú</a:t>
            </a:r>
            <a:endParaRPr lang="en-US" sz="2800" dirty="0"/>
          </a:p>
        </p:txBody>
      </p:sp>
      <p:sp>
        <p:nvSpPr>
          <p:cNvPr id="6" name="Text 4"/>
          <p:cNvSpPr/>
          <p:nvPr/>
        </p:nvSpPr>
        <p:spPr>
          <a:xfrm>
            <a:off x="640080" y="1691640"/>
            <a:ext cx="10881360" cy="548640"/>
          </a:xfrm>
          <a:prstGeom prst="rect">
            <a:avLst/>
          </a:prstGeom>
          <a:noFill/>
          <a:ln/>
        </p:spPr>
        <p:txBody>
          <a:bodyPr wrap="square" rtlCol="0" anchor="ctr"/>
          <a:lstStyle/>
          <a:p>
            <a:pPr marL="0" indent="0">
              <a:lnSpc>
                <a:spcPts val="1800"/>
              </a:lnSpc>
              <a:buNone/>
            </a:pPr>
            <a:r>
              <a:rPr lang="en-US" sz="1350" i="1" dirty="0">
                <a:solidFill>
                  <a:srgbClr val="5B6584"/>
                </a:solidFill>
                <a:latin typeface="Calibri" pitchFamily="34" charset="0"/>
                <a:ea typeface="Calibri" pitchFamily="34" charset="-122"/>
                <a:cs typeface="Calibri" pitchFamily="34" charset="-120"/>
              </a:rPr>
              <a:t>Analogía del material: un iglú diminuto donde solo entra una persona a la vez, con una pizarra adentro donde se escribe un número.</a:t>
            </a:r>
            <a:endParaRPr lang="en-US" sz="1350" dirty="0"/>
          </a:p>
        </p:txBody>
      </p:sp>
      <p:sp>
        <p:nvSpPr>
          <p:cNvPr id="7" name="Shape 5"/>
          <p:cNvSpPr/>
          <p:nvPr/>
        </p:nvSpPr>
        <p:spPr>
          <a:xfrm>
            <a:off x="640080" y="2423160"/>
            <a:ext cx="411480" cy="411480"/>
          </a:xfrm>
          <a:prstGeom prst="ellipse">
            <a:avLst/>
          </a:prstGeom>
          <a:solidFill>
            <a:srgbClr val="E8B84B"/>
          </a:solidFill>
          <a:ln/>
        </p:spPr>
      </p:sp>
      <p:sp>
        <p:nvSpPr>
          <p:cNvPr id="8" name="Text 6"/>
          <p:cNvSpPr/>
          <p:nvPr/>
        </p:nvSpPr>
        <p:spPr>
          <a:xfrm>
            <a:off x="640080" y="2423160"/>
            <a:ext cx="411480" cy="41148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34440" y="2377440"/>
            <a:ext cx="996696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El proceso que quiere entrar a su sección crítica va al iglú y mira la pizarra</a:t>
            </a:r>
            <a:endParaRPr lang="en-US" sz="1300" dirty="0"/>
          </a:p>
        </p:txBody>
      </p:sp>
      <p:sp>
        <p:nvSpPr>
          <p:cNvPr id="10" name="Shape 8"/>
          <p:cNvSpPr/>
          <p:nvPr/>
        </p:nvSpPr>
        <p:spPr>
          <a:xfrm>
            <a:off x="640080" y="3017520"/>
            <a:ext cx="411480" cy="411480"/>
          </a:xfrm>
          <a:prstGeom prst="ellipse">
            <a:avLst/>
          </a:prstGeom>
          <a:solidFill>
            <a:srgbClr val="E8B84B"/>
          </a:solidFill>
          <a:ln/>
        </p:spPr>
      </p:sp>
      <p:sp>
        <p:nvSpPr>
          <p:cNvPr id="11" name="Text 9"/>
          <p:cNvSpPr/>
          <p:nvPr/>
        </p:nvSpPr>
        <p:spPr>
          <a:xfrm>
            <a:off x="640080" y="3017520"/>
            <a:ext cx="411480" cy="41148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234440" y="2971800"/>
            <a:ext cx="996696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Si su número está escrito, sale del iglú y entra a su sección crítica</a:t>
            </a:r>
            <a:endParaRPr lang="en-US" sz="1300" dirty="0"/>
          </a:p>
        </p:txBody>
      </p:sp>
      <p:sp>
        <p:nvSpPr>
          <p:cNvPr id="13" name="Shape 11"/>
          <p:cNvSpPr/>
          <p:nvPr/>
        </p:nvSpPr>
        <p:spPr>
          <a:xfrm>
            <a:off x="640080" y="3611880"/>
            <a:ext cx="411480" cy="411480"/>
          </a:xfrm>
          <a:prstGeom prst="ellipse">
            <a:avLst/>
          </a:prstGeom>
          <a:solidFill>
            <a:srgbClr val="E8B84B"/>
          </a:solidFill>
          <a:ln/>
        </p:spPr>
      </p:sp>
      <p:sp>
        <p:nvSpPr>
          <p:cNvPr id="14" name="Text 12"/>
          <p:cNvSpPr/>
          <p:nvPr/>
        </p:nvSpPr>
        <p:spPr>
          <a:xfrm>
            <a:off x="640080" y="3611880"/>
            <a:ext cx="411480" cy="41148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34440" y="3566160"/>
            <a:ext cx="996696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Si no, sale y espera — y vuelve a mirar la pizarra una y otra vez ("espera activa")</a:t>
            </a:r>
            <a:endParaRPr lang="en-US" sz="1300" dirty="0"/>
          </a:p>
        </p:txBody>
      </p:sp>
      <p:sp>
        <p:nvSpPr>
          <p:cNvPr id="16" name="Shape 14"/>
          <p:cNvSpPr/>
          <p:nvPr/>
        </p:nvSpPr>
        <p:spPr>
          <a:xfrm>
            <a:off x="640080" y="4206240"/>
            <a:ext cx="411480" cy="411480"/>
          </a:xfrm>
          <a:prstGeom prst="ellipse">
            <a:avLst/>
          </a:prstGeom>
          <a:solidFill>
            <a:srgbClr val="E8B84B"/>
          </a:solidFill>
          <a:ln/>
        </p:spPr>
      </p:sp>
      <p:sp>
        <p:nvSpPr>
          <p:cNvPr id="17" name="Text 15"/>
          <p:cNvSpPr/>
          <p:nvPr/>
        </p:nvSpPr>
        <p:spPr>
          <a:xfrm>
            <a:off x="640080" y="4206240"/>
            <a:ext cx="411480" cy="41148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34440" y="4160520"/>
            <a:ext cx="9966960" cy="50292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Al terminar su sección crítica, vuelve al iglú y escribe el número del OTRO proceso</a:t>
            </a:r>
            <a:endParaRPr lang="en-US" sz="1300" dirty="0"/>
          </a:p>
        </p:txBody>
      </p:sp>
      <p:sp>
        <p:nvSpPr>
          <p:cNvPr id="19" name="Shape 17"/>
          <p:cNvSpPr/>
          <p:nvPr/>
        </p:nvSpPr>
        <p:spPr>
          <a:xfrm>
            <a:off x="640080" y="4937760"/>
            <a:ext cx="10881360" cy="1097280"/>
          </a:xfrm>
          <a:prstGeom prst="rect">
            <a:avLst/>
          </a:prstGeom>
          <a:solidFill>
            <a:srgbClr val="FBF3E0"/>
          </a:solidFill>
          <a:ln/>
        </p:spPr>
      </p:sp>
      <p:sp>
        <p:nvSpPr>
          <p:cNvPr id="20" name="Text 18"/>
          <p:cNvSpPr/>
          <p:nvPr/>
        </p:nvSpPr>
        <p:spPr>
          <a:xfrm>
            <a:off x="914400" y="5120640"/>
            <a:ext cx="10332720" cy="777240"/>
          </a:xfrm>
          <a:prstGeom prst="rect">
            <a:avLst/>
          </a:prstGeom>
          <a:noFill/>
          <a:ln/>
        </p:spPr>
        <p:txBody>
          <a:bodyPr wrap="square" rtlCol="0" anchor="ctr"/>
          <a:lstStyle/>
          <a:p>
            <a:pPr marL="0" indent="0">
              <a:lnSpc>
                <a:spcPts val="1600"/>
              </a:lnSpc>
              <a:buNone/>
            </a:pPr>
            <a:r>
              <a:rPr lang="en-US" sz="1250" dirty="0">
                <a:solidFill>
                  <a:srgbClr val="8A6212"/>
                </a:solidFill>
                <a:latin typeface="Calibri" pitchFamily="34" charset="0"/>
                <a:ea typeface="Calibri" pitchFamily="34" charset="-122"/>
                <a:cs typeface="Calibri" pitchFamily="34" charset="-120"/>
              </a:rPr>
              <a:t>⚠ Problemas: el proceso más rápido debe adaptarse al ritmo del más lento (turnos estrictos), y si uno falla mientras tiene el turno, el otro queda bloqueado PARA SIEMPRE.</a:t>
            </a:r>
            <a:endParaRPr lang="en-US" sz="1250" dirty="0"/>
          </a:p>
        </p:txBody>
      </p:sp>
      <p:sp>
        <p:nvSpPr>
          <p:cNvPr id="21" name="Text 1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SOLUCIONES POR SOFTWARE · 2</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Segundo intento: cada uno con su propio iglú</a:t>
            </a:r>
            <a:endParaRPr lang="en-US" sz="2800" dirty="0"/>
          </a:p>
        </p:txBody>
      </p:sp>
      <p:sp>
        <p:nvSpPr>
          <p:cNvPr id="6" name="Text 4"/>
          <p:cNvSpPr/>
          <p:nvPr/>
        </p:nvSpPr>
        <p:spPr>
          <a:xfrm>
            <a:off x="640080" y="1691640"/>
            <a:ext cx="10881360" cy="777240"/>
          </a:xfrm>
          <a:prstGeom prst="rect">
            <a:avLst/>
          </a:prstGeom>
          <a:noFill/>
          <a:ln/>
        </p:spPr>
        <p:txBody>
          <a:bodyPr wrap="square" rtlCol="0" anchor="ctr"/>
          <a:lstStyle/>
          <a:p>
            <a:pPr marL="0" indent="0">
              <a:lnSpc>
                <a:spcPts val="1800"/>
              </a:lnSpc>
              <a:buNone/>
            </a:pPr>
            <a:r>
              <a:rPr lang="en-US" sz="1350" dirty="0">
                <a:solidFill>
                  <a:srgbClr val="CADCFC"/>
                </a:solidFill>
                <a:latin typeface="Calibri" pitchFamily="34" charset="0"/>
                <a:ea typeface="Calibri" pitchFamily="34" charset="-122"/>
                <a:cs typeface="Calibri" pitchFamily="34" charset="-120"/>
              </a:rPr>
              <a:t>En vez de guardar DE QUIÉN es el turno, cada proceso guarda su PROPIO estado (¿estoy en mi sección crítica o no?) en su propia pizarra — visible para el otro, pero no editable por él.</a:t>
            </a:r>
            <a:endParaRPr lang="en-US" sz="1350" dirty="0"/>
          </a:p>
        </p:txBody>
      </p:sp>
      <p:sp>
        <p:nvSpPr>
          <p:cNvPr id="7" name="Shape 5"/>
          <p:cNvSpPr/>
          <p:nvPr/>
        </p:nvSpPr>
        <p:spPr>
          <a:xfrm>
            <a:off x="640080" y="2651760"/>
            <a:ext cx="10881360" cy="1828800"/>
          </a:xfrm>
          <a:prstGeom prst="rect">
            <a:avLst/>
          </a:prstGeom>
          <a:solidFill>
            <a:srgbClr val="1B1F2B"/>
          </a:solidFill>
          <a:ln/>
        </p:spPr>
      </p:sp>
      <p:sp>
        <p:nvSpPr>
          <p:cNvPr id="8" name="Text 6"/>
          <p:cNvSpPr/>
          <p:nvPr/>
        </p:nvSpPr>
        <p:spPr>
          <a:xfrm>
            <a:off x="868680" y="2788920"/>
            <a:ext cx="10424160" cy="1554480"/>
          </a:xfrm>
          <a:prstGeom prst="rect">
            <a:avLst/>
          </a:prstGeom>
          <a:noFill/>
          <a:ln/>
        </p:spPr>
        <p:txBody>
          <a:bodyPr wrap="square" rtlCol="0" anchor="ctr"/>
          <a:lstStyle/>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var señal: array [0..1] of booleano;   // inicializado en falso</a:t>
            </a:r>
            <a:endParaRPr lang="en-US" sz="1200" dirty="0"/>
          </a:p>
          <a:p>
            <a:pPr marL="0" indent="0">
              <a:lnSpc>
                <a:spcPts val="1500"/>
              </a:lnSpc>
              <a:buNone/>
            </a:pP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Proceso Pi:                          Proceso Pj:</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  señal[i] := cierto                   señal[j] := cierto</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  &lt;sección crítica&gt;                    &lt;sección crítica&gt;</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  señal[i] := falso                    señal[j] := falso</a:t>
            </a:r>
            <a:endParaRPr lang="en-US" sz="1200" dirty="0"/>
          </a:p>
        </p:txBody>
      </p:sp>
      <p:sp>
        <p:nvSpPr>
          <p:cNvPr id="9" name="Shape 7"/>
          <p:cNvSpPr/>
          <p:nvPr/>
        </p:nvSpPr>
        <p:spPr>
          <a:xfrm>
            <a:off x="640080" y="4663440"/>
            <a:ext cx="10881360" cy="1280160"/>
          </a:xfrm>
          <a:prstGeom prst="rect">
            <a:avLst/>
          </a:prstGeom>
          <a:solidFill>
            <a:srgbClr val="232E6E"/>
          </a:solidFill>
          <a:ln/>
        </p:spPr>
      </p:sp>
      <p:sp>
        <p:nvSpPr>
          <p:cNvPr id="10" name="Text 8"/>
          <p:cNvSpPr/>
          <p:nvPr/>
        </p:nvSpPr>
        <p:spPr>
          <a:xfrm>
            <a:off x="914400" y="4846320"/>
            <a:ext cx="10332720" cy="91440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Mejora: si un proceso falla FUERA de su sección crítica, el otro no se bloquea. Pero sigue siendo incorrecto: si ambos ponen su señal en "cierto" casi al mismo tiempo, ¡los dos entran a la vez!</a:t>
            </a:r>
            <a:endParaRPr lang="en-US" sz="1250" dirty="0"/>
          </a:p>
        </p:txBody>
      </p:sp>
      <p:sp>
        <p:nvSpPr>
          <p:cNvPr id="11"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LA SOLUCIÓN ELEGANTE</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Algoritmo de Peterson</a:t>
            </a:r>
            <a:endParaRPr lang="en-US" sz="2800" dirty="0"/>
          </a:p>
        </p:txBody>
      </p:sp>
      <p:sp>
        <p:nvSpPr>
          <p:cNvPr id="6" name="Text 4"/>
          <p:cNvSpPr/>
          <p:nvPr/>
        </p:nvSpPr>
        <p:spPr>
          <a:xfrm>
            <a:off x="640080" y="1691640"/>
            <a:ext cx="10881360" cy="594360"/>
          </a:xfrm>
          <a:prstGeom prst="rect">
            <a:avLst/>
          </a:prstGeom>
          <a:noFill/>
          <a:ln/>
        </p:spPr>
        <p:txBody>
          <a:bodyPr wrap="square" rtlCol="0" anchor="ctr"/>
          <a:lstStyle/>
          <a:p>
            <a:pPr marL="0" indent="0">
              <a:lnSpc>
                <a:spcPts val="1800"/>
              </a:lnSpc>
              <a:buNone/>
            </a:pPr>
            <a:r>
              <a:rPr lang="en-US" sz="1350" dirty="0">
                <a:solidFill>
                  <a:srgbClr val="5B6584"/>
                </a:solidFill>
                <a:latin typeface="Calibri" pitchFamily="34" charset="0"/>
                <a:ea typeface="Calibri" pitchFamily="34" charset="-122"/>
                <a:cs typeface="Calibri" pitchFamily="34" charset="-120"/>
              </a:rPr>
              <a:t>Combina las dos variables que fallaban por separado: señal (¿quiero entrar?) + turno (a quién le toca si ambos quieren entrar a la vez).</a:t>
            </a:r>
            <a:endParaRPr lang="en-US" sz="1350" dirty="0"/>
          </a:p>
        </p:txBody>
      </p:sp>
      <p:sp>
        <p:nvSpPr>
          <p:cNvPr id="7" name="Shape 5"/>
          <p:cNvSpPr/>
          <p:nvPr/>
        </p:nvSpPr>
        <p:spPr>
          <a:xfrm>
            <a:off x="640080" y="2423160"/>
            <a:ext cx="10881360" cy="2103120"/>
          </a:xfrm>
          <a:prstGeom prst="rect">
            <a:avLst/>
          </a:prstGeom>
          <a:solidFill>
            <a:srgbClr val="1B1F2B"/>
          </a:solidFill>
          <a:ln/>
        </p:spPr>
      </p:sp>
      <p:sp>
        <p:nvSpPr>
          <p:cNvPr id="8" name="Text 6"/>
          <p:cNvSpPr/>
          <p:nvPr/>
        </p:nvSpPr>
        <p:spPr>
          <a:xfrm>
            <a:off x="868680" y="2560320"/>
            <a:ext cx="10424160" cy="1828800"/>
          </a:xfrm>
          <a:prstGeom prst="rect">
            <a:avLst/>
          </a:prstGeom>
          <a:noFill/>
          <a:ln/>
        </p:spPr>
        <p:txBody>
          <a:bodyPr wrap="square" rtlCol="0" anchor="ctr"/>
          <a:lstStyle/>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señal[i] := cierto</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turno := j                              // le "cedo" el turno al otro</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while (señal[j] and turno = j) do {nada}   // solo espero si él también quiere Y es su turno</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&lt;sección crítica&gt;</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señal[i] := falso</a:t>
            </a:r>
            <a:endParaRPr lang="en-US" sz="1200" dirty="0"/>
          </a:p>
        </p:txBody>
      </p:sp>
      <p:sp>
        <p:nvSpPr>
          <p:cNvPr id="9" name="Shape 7"/>
          <p:cNvSpPr/>
          <p:nvPr/>
        </p:nvSpPr>
        <p:spPr>
          <a:xfrm>
            <a:off x="640080" y="4709160"/>
            <a:ext cx="10881360" cy="1234440"/>
          </a:xfrm>
          <a:prstGeom prst="rect">
            <a:avLst/>
          </a:prstGeom>
          <a:solidFill>
            <a:srgbClr val="F2F4FB"/>
          </a:solidFill>
          <a:ln/>
        </p:spPr>
      </p:sp>
      <p:sp>
        <p:nvSpPr>
          <p:cNvPr id="10" name="Text 8"/>
          <p:cNvSpPr/>
          <p:nvPr/>
        </p:nvSpPr>
        <p:spPr>
          <a:xfrm>
            <a:off x="914400" y="4937760"/>
            <a:ext cx="10332720" cy="822960"/>
          </a:xfrm>
          <a:prstGeom prst="rect">
            <a:avLst/>
          </a:prstGeom>
          <a:noFill/>
          <a:ln/>
        </p:spPr>
        <p:txBody>
          <a:bodyPr wrap="square" rtlCol="0" anchor="ctr"/>
          <a:lstStyle/>
          <a:p>
            <a:pPr marL="0" indent="0">
              <a:lnSpc>
                <a:spcPts val="1700"/>
              </a:lnSpc>
              <a:buNone/>
            </a:pPr>
            <a:r>
              <a:rPr lang="en-US" sz="1300" dirty="0">
                <a:solidFill>
                  <a:srgbClr val="1E2761"/>
                </a:solidFill>
                <a:latin typeface="Calibri" pitchFamily="34" charset="0"/>
                <a:ea typeface="Calibri" pitchFamily="34" charset="-122"/>
                <a:cs typeface="Calibri" pitchFamily="34" charset="-120"/>
              </a:rPr>
              <a:t>✓ Funciona siempre, para 2 procesos (y se puede extender a N). Es mucho más simple de programar y de demostrar que es correcto que la solución completa de Dekker.</a:t>
            </a:r>
            <a:endParaRPr lang="en-US" sz="1300" dirty="0"/>
          </a:p>
        </p:txBody>
      </p:sp>
      <p:sp>
        <p:nvSpPr>
          <p:cNvPr id="11"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AHORA CON AYUDA DEL PROCESADOR</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Soluciones por hardware: inhabilitar interrupciones</a:t>
            </a:r>
            <a:endParaRPr lang="en-US" sz="2800" dirty="0"/>
          </a:p>
        </p:txBody>
      </p:sp>
      <p:sp>
        <p:nvSpPr>
          <p:cNvPr id="6" name="Shape 4"/>
          <p:cNvSpPr/>
          <p:nvPr/>
        </p:nvSpPr>
        <p:spPr>
          <a:xfrm>
            <a:off x="640080" y="1828800"/>
            <a:ext cx="10881360" cy="1554480"/>
          </a:xfrm>
          <a:prstGeom prst="rect">
            <a:avLst/>
          </a:prstGeom>
          <a:solidFill>
            <a:srgbClr val="232E6E"/>
          </a:solidFill>
          <a:ln/>
        </p:spPr>
      </p:sp>
      <p:sp>
        <p:nvSpPr>
          <p:cNvPr id="7" name="Text 5"/>
          <p:cNvSpPr/>
          <p:nvPr/>
        </p:nvSpPr>
        <p:spPr>
          <a:xfrm>
            <a:off x="914400" y="2057400"/>
            <a:ext cx="10332720" cy="1097280"/>
          </a:xfrm>
          <a:prstGeom prst="rect">
            <a:avLst/>
          </a:prstGeom>
          <a:noFill/>
          <a:ln/>
        </p:spPr>
        <p:txBody>
          <a:bodyPr wrap="square" rtlCol="0" anchor="ctr"/>
          <a:lstStyle/>
          <a:p>
            <a:pPr marL="0" indent="0">
              <a:lnSpc>
                <a:spcPts val="1900"/>
              </a:lnSpc>
              <a:buNone/>
            </a:pPr>
            <a:r>
              <a:rPr lang="en-US" sz="1450" dirty="0">
                <a:solidFill>
                  <a:srgbClr val="FFFFFF"/>
                </a:solidFill>
                <a:latin typeface="Calibri" pitchFamily="34" charset="0"/>
                <a:ea typeface="Calibri" pitchFamily="34" charset="-122"/>
                <a:cs typeface="Calibri" pitchFamily="34" charset="-120"/>
              </a:rPr>
              <a:t>En un monoprocesador, un proceso sigue ejecutándose hasta que pide un servicio del SO o es interrumpido. Entonces: si nadie puede interrumpirlo, nadie puede "meterse" en su sección crítica.</a:t>
            </a:r>
            <a:endParaRPr lang="en-US" sz="1450" dirty="0"/>
          </a:p>
        </p:txBody>
      </p:sp>
      <p:sp>
        <p:nvSpPr>
          <p:cNvPr id="8" name="Shape 6"/>
          <p:cNvSpPr/>
          <p:nvPr/>
        </p:nvSpPr>
        <p:spPr>
          <a:xfrm>
            <a:off x="640080" y="3657600"/>
            <a:ext cx="5349240" cy="2011680"/>
          </a:xfrm>
          <a:prstGeom prst="rect">
            <a:avLst/>
          </a:prstGeom>
          <a:solidFill>
            <a:srgbClr val="F2F4FB"/>
          </a:solidFill>
          <a:ln/>
        </p:spPr>
      </p:sp>
      <p:sp>
        <p:nvSpPr>
          <p:cNvPr id="9" name="Text 7"/>
          <p:cNvSpPr/>
          <p:nvPr/>
        </p:nvSpPr>
        <p:spPr>
          <a:xfrm>
            <a:off x="914400" y="3886200"/>
            <a:ext cx="48006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 A favor</a:t>
            </a:r>
            <a:endParaRPr lang="en-US" sz="1500" dirty="0"/>
          </a:p>
        </p:txBody>
      </p:sp>
      <p:sp>
        <p:nvSpPr>
          <p:cNvPr id="10" name="Text 8"/>
          <p:cNvSpPr/>
          <p:nvPr/>
        </p:nvSpPr>
        <p:spPr>
          <a:xfrm>
            <a:off x="914400" y="4343400"/>
            <a:ext cx="4800600" cy="1188720"/>
          </a:xfrm>
          <a:prstGeom prst="rect">
            <a:avLst/>
          </a:prstGeom>
          <a:noFill/>
          <a:ln/>
        </p:spPr>
        <p:txBody>
          <a:bodyPr wrap="square" rtlCol="0" anchor="ctr"/>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Solución simple: inhabilitar interrupciones antes de entrar a la sección crítica, y volver a habilitarlas al salir</a:t>
            </a:r>
            <a:endParaRPr lang="en-US" sz="1200" dirty="0"/>
          </a:p>
        </p:txBody>
      </p:sp>
      <p:sp>
        <p:nvSpPr>
          <p:cNvPr id="11" name="Shape 9"/>
          <p:cNvSpPr/>
          <p:nvPr/>
        </p:nvSpPr>
        <p:spPr>
          <a:xfrm>
            <a:off x="6217920" y="3657600"/>
            <a:ext cx="5349240" cy="2011680"/>
          </a:xfrm>
          <a:prstGeom prst="rect">
            <a:avLst/>
          </a:prstGeom>
          <a:solidFill>
            <a:srgbClr val="F2F4FB"/>
          </a:solidFill>
          <a:ln/>
        </p:spPr>
      </p:sp>
      <p:sp>
        <p:nvSpPr>
          <p:cNvPr id="12" name="Text 10"/>
          <p:cNvSpPr/>
          <p:nvPr/>
        </p:nvSpPr>
        <p:spPr>
          <a:xfrm>
            <a:off x="6492240" y="3886200"/>
            <a:ext cx="48006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 En contra</a:t>
            </a:r>
            <a:endParaRPr lang="en-US" sz="1500" dirty="0"/>
          </a:p>
        </p:txBody>
      </p:sp>
      <p:sp>
        <p:nvSpPr>
          <p:cNvPr id="13" name="Text 11"/>
          <p:cNvSpPr/>
          <p:nvPr/>
        </p:nvSpPr>
        <p:spPr>
          <a:xfrm>
            <a:off x="6492240" y="4343400"/>
            <a:ext cx="4800600" cy="1188720"/>
          </a:xfrm>
          <a:prstGeom prst="rect">
            <a:avLst/>
          </a:prstGeom>
          <a:noFill/>
          <a:ln/>
        </p:spPr>
        <p:txBody>
          <a:bodyPr wrap="square" rtlCol="0" anchor="ctr"/>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Muy costoso (degrada la eficiencia del procesador) y NO funciona en multiprocesador — puede haber otro proceso ejecutándose en otro núcleo al mismo tiempo</a:t>
            </a:r>
            <a:endParaRPr lang="en-US" sz="120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PARA MULTIPROCESADOR</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Instrucciones especiales de máquina</a:t>
            </a:r>
            <a:endParaRPr lang="en-US" sz="2800" dirty="0"/>
          </a:p>
        </p:txBody>
      </p:sp>
      <p:sp>
        <p:nvSpPr>
          <p:cNvPr id="6" name="Text 4"/>
          <p:cNvSpPr/>
          <p:nvPr/>
        </p:nvSpPr>
        <p:spPr>
          <a:xfrm>
            <a:off x="640080" y="1691640"/>
            <a:ext cx="10881360" cy="777240"/>
          </a:xfrm>
          <a:prstGeom prst="rect">
            <a:avLst/>
          </a:prstGeom>
          <a:noFill/>
          <a:ln/>
        </p:spPr>
        <p:txBody>
          <a:bodyPr wrap="square" rtlCol="0" anchor="ctr"/>
          <a:lstStyle/>
          <a:p>
            <a:pPr marL="0" indent="0">
              <a:lnSpc>
                <a:spcPts val="1800"/>
              </a:lnSpc>
              <a:buNone/>
            </a:pPr>
            <a:r>
              <a:rPr lang="en-US" sz="1350" dirty="0">
                <a:solidFill>
                  <a:srgbClr val="5B6584"/>
                </a:solidFill>
                <a:latin typeface="Calibri" pitchFamily="34" charset="0"/>
                <a:ea typeface="Calibri" pitchFamily="34" charset="-122"/>
                <a:cs typeface="Calibri" pitchFamily="34" charset="-120"/>
              </a:rPr>
              <a:t>En multiprocesador, los procesadores son iguales entre sí (recordemos SMP) — no hay interrupciones entre ellos. La solución: instrucciones que hacen 2 operaciones de forma ATÓMICA (inseparable), en un solo ciclo.</a:t>
            </a:r>
            <a:endParaRPr lang="en-US" sz="1350" dirty="0"/>
          </a:p>
        </p:txBody>
      </p:sp>
      <p:sp>
        <p:nvSpPr>
          <p:cNvPr id="7" name="Shape 5"/>
          <p:cNvSpPr/>
          <p:nvPr/>
        </p:nvSpPr>
        <p:spPr>
          <a:xfrm>
            <a:off x="640080" y="2743200"/>
            <a:ext cx="5349240" cy="2377440"/>
          </a:xfrm>
          <a:prstGeom prst="rect">
            <a:avLst/>
          </a:prstGeom>
          <a:solidFill>
            <a:srgbClr val="1E2761"/>
          </a:solidFill>
          <a:ln/>
        </p:spPr>
      </p:sp>
      <p:sp>
        <p:nvSpPr>
          <p:cNvPr id="8" name="Text 6"/>
          <p:cNvSpPr/>
          <p:nvPr/>
        </p:nvSpPr>
        <p:spPr>
          <a:xfrm>
            <a:off x="914400" y="2971800"/>
            <a:ext cx="4800600" cy="777240"/>
          </a:xfrm>
          <a:prstGeom prst="rect">
            <a:avLst/>
          </a:prstGeom>
          <a:noFill/>
          <a:ln/>
        </p:spPr>
        <p:txBody>
          <a:bodyPr wrap="square" rtlCol="0" anchor="ctr"/>
          <a:lstStyle/>
          <a:p>
            <a:pPr marL="0" indent="0">
              <a:lnSpc>
                <a:spcPts val="1800"/>
              </a:lnSpc>
              <a:buNone/>
            </a:pPr>
            <a:r>
              <a:rPr lang="en-US" sz="1550" b="1" dirty="0">
                <a:solidFill>
                  <a:srgbClr val="E8B84B"/>
                </a:solidFill>
                <a:latin typeface="Calibri" pitchFamily="34" charset="0"/>
                <a:ea typeface="Calibri" pitchFamily="34" charset="-122"/>
                <a:cs typeface="Calibri" pitchFamily="34" charset="-120"/>
              </a:rPr>
              <a:t>Comparar y Fijar</a:t>
            </a:r>
            <a:endParaRPr lang="en-US" sz="1550" dirty="0"/>
          </a:p>
          <a:p>
            <a:pPr marL="0" indent="0">
              <a:lnSpc>
                <a:spcPts val="1800"/>
              </a:lnSpc>
              <a:buNone/>
            </a:pPr>
            <a:r>
              <a:rPr lang="en-US" sz="1550" b="1" dirty="0">
                <a:solidFill>
                  <a:srgbClr val="E8B84B"/>
                </a:solidFill>
                <a:latin typeface="Calibri" pitchFamily="34" charset="0"/>
                <a:ea typeface="Calibri" pitchFamily="34" charset="-122"/>
                <a:cs typeface="Calibri" pitchFamily="34" charset="-120"/>
              </a:rPr>
              <a:t>(Compare and Swap)</a:t>
            </a:r>
            <a:endParaRPr lang="en-US" sz="1550" dirty="0"/>
          </a:p>
        </p:txBody>
      </p:sp>
      <p:sp>
        <p:nvSpPr>
          <p:cNvPr id="9" name="Text 7"/>
          <p:cNvSpPr/>
          <p:nvPr/>
        </p:nvSpPr>
        <p:spPr>
          <a:xfrm>
            <a:off x="914400" y="3794760"/>
            <a:ext cx="4800600" cy="118872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Compara el valor de una posición de memoria con un valor esperado, y si coincide, lo reemplaza — todo en una sola instrucción indivisible</a:t>
            </a:r>
            <a:endParaRPr lang="en-US" sz="1200" dirty="0"/>
          </a:p>
        </p:txBody>
      </p:sp>
      <p:sp>
        <p:nvSpPr>
          <p:cNvPr id="10" name="Shape 8"/>
          <p:cNvSpPr/>
          <p:nvPr/>
        </p:nvSpPr>
        <p:spPr>
          <a:xfrm>
            <a:off x="6217920" y="2743200"/>
            <a:ext cx="5349240" cy="2377440"/>
          </a:xfrm>
          <a:prstGeom prst="rect">
            <a:avLst/>
          </a:prstGeom>
          <a:solidFill>
            <a:srgbClr val="1E2761"/>
          </a:solidFill>
          <a:ln/>
        </p:spPr>
      </p:sp>
      <p:sp>
        <p:nvSpPr>
          <p:cNvPr id="11" name="Text 9"/>
          <p:cNvSpPr/>
          <p:nvPr/>
        </p:nvSpPr>
        <p:spPr>
          <a:xfrm>
            <a:off x="6492240" y="2971800"/>
            <a:ext cx="4800600" cy="777240"/>
          </a:xfrm>
          <a:prstGeom prst="rect">
            <a:avLst/>
          </a:prstGeom>
          <a:noFill/>
          <a:ln/>
        </p:spPr>
        <p:txBody>
          <a:bodyPr wrap="square" rtlCol="0" anchor="ctr"/>
          <a:lstStyle/>
          <a:p>
            <a:pPr marL="0" indent="0">
              <a:lnSpc>
                <a:spcPts val="1800"/>
              </a:lnSpc>
              <a:buNone/>
            </a:pPr>
            <a:r>
              <a:rPr lang="en-US" sz="1550" b="1" dirty="0">
                <a:solidFill>
                  <a:srgbClr val="E8B84B"/>
                </a:solidFill>
                <a:latin typeface="Calibri" pitchFamily="34" charset="0"/>
                <a:ea typeface="Calibri" pitchFamily="34" charset="-122"/>
                <a:cs typeface="Calibri" pitchFamily="34" charset="-120"/>
              </a:rPr>
              <a:t>Intercambiar</a:t>
            </a:r>
            <a:endParaRPr lang="en-US" sz="1550" dirty="0"/>
          </a:p>
          <a:p>
            <a:pPr marL="0" indent="0">
              <a:lnSpc>
                <a:spcPts val="1800"/>
              </a:lnSpc>
              <a:buNone/>
            </a:pPr>
            <a:r>
              <a:rPr lang="en-US" sz="1550" b="1" dirty="0">
                <a:solidFill>
                  <a:srgbClr val="E8B84B"/>
                </a:solidFill>
                <a:latin typeface="Calibri" pitchFamily="34" charset="0"/>
                <a:ea typeface="Calibri" pitchFamily="34" charset="-122"/>
                <a:cs typeface="Calibri" pitchFamily="34" charset="-120"/>
              </a:rPr>
              <a:t>(Exchange)</a:t>
            </a:r>
            <a:endParaRPr lang="en-US" sz="1550" dirty="0"/>
          </a:p>
        </p:txBody>
      </p:sp>
      <p:sp>
        <p:nvSpPr>
          <p:cNvPr id="12" name="Text 10"/>
          <p:cNvSpPr/>
          <p:nvPr/>
        </p:nvSpPr>
        <p:spPr>
          <a:xfrm>
            <a:off x="6492240" y="3794760"/>
            <a:ext cx="4800600" cy="118872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Intercambia el contenido de dos posiciones de memoria (ej. un registro y una variable de memoria) en un único paso atómico</a:t>
            </a:r>
            <a:endParaRPr lang="en-US" sz="1200" dirty="0"/>
          </a:p>
        </p:txBody>
      </p:sp>
      <p:sp>
        <p:nvSpPr>
          <p:cNvPr id="13" name="Text 11"/>
          <p:cNvSpPr/>
          <p:nvPr/>
        </p:nvSpPr>
        <p:spPr>
          <a:xfrm>
            <a:off x="640080" y="5349240"/>
            <a:ext cx="10881360" cy="548640"/>
          </a:xfrm>
          <a:prstGeom prst="rect">
            <a:avLst/>
          </a:prstGeom>
          <a:noFill/>
          <a:ln/>
        </p:spPr>
        <p:txBody>
          <a:bodyPr wrap="square" rtlCol="0" anchor="ctr"/>
          <a:lstStyle/>
          <a:p>
            <a:pPr marL="0" indent="0">
              <a:buNone/>
            </a:pPr>
            <a:r>
              <a:rPr lang="en-US" sz="1250" i="1" dirty="0">
                <a:solidFill>
                  <a:srgbClr val="1E2761"/>
                </a:solidFill>
                <a:latin typeface="Calibri" pitchFamily="34" charset="0"/>
                <a:ea typeface="Calibri" pitchFamily="34" charset="-122"/>
                <a:cs typeface="Calibri" pitchFamily="34" charset="-120"/>
              </a:rPr>
              <a:t>"Atómico" = no puede interrumpirse a la mitad. Ninguna otra instrucción, ni siquiera de otro procesador, puede colarse entre el paso 1 y el paso 2.</a:t>
            </a:r>
            <a:endParaRPr lang="en-US" sz="125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CERRANDO CON UN CASO REAL</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Actividad: detectives de condiciones de carrera</a:t>
            </a:r>
            <a:endParaRPr lang="en-US" sz="2800" dirty="0"/>
          </a:p>
        </p:txBody>
      </p:sp>
      <p:sp>
        <p:nvSpPr>
          <p:cNvPr id="6" name="Text 4"/>
          <p:cNvSpPr/>
          <p:nvPr/>
        </p:nvSpPr>
        <p:spPr>
          <a:xfrm>
            <a:off x="640080" y="1691640"/>
            <a:ext cx="10881360" cy="594360"/>
          </a:xfrm>
          <a:prstGeom prst="rect">
            <a:avLst/>
          </a:prstGeom>
          <a:noFill/>
          <a:ln/>
        </p:spPr>
        <p:txBody>
          <a:bodyPr wrap="square" rtlCol="0" anchor="ctr"/>
          <a:lstStyle/>
          <a:p>
            <a:pPr marL="0" indent="0">
              <a:lnSpc>
                <a:spcPts val="1800"/>
              </a:lnSpc>
              <a:buNone/>
            </a:pPr>
            <a:r>
              <a:rPr lang="en-US" sz="1350" dirty="0">
                <a:solidFill>
                  <a:srgbClr val="1B1F3B"/>
                </a:solidFill>
                <a:latin typeface="Calibri" pitchFamily="34" charset="0"/>
                <a:ea typeface="Calibri" pitchFamily="34" charset="-122"/>
                <a:cs typeface="Calibri" pitchFamily="34" charset="-120"/>
              </a:rPr>
              <a:t>En grupos de 3-4, analicen este fragmento de código (dos cajas registradoras del mismo comercio, mismo stock de un producto):</a:t>
            </a:r>
            <a:endParaRPr lang="en-US" sz="1350" dirty="0"/>
          </a:p>
        </p:txBody>
      </p:sp>
      <p:sp>
        <p:nvSpPr>
          <p:cNvPr id="7" name="Shape 5"/>
          <p:cNvSpPr/>
          <p:nvPr/>
        </p:nvSpPr>
        <p:spPr>
          <a:xfrm>
            <a:off x="640080" y="2377440"/>
            <a:ext cx="10881360" cy="1554480"/>
          </a:xfrm>
          <a:prstGeom prst="rect">
            <a:avLst/>
          </a:prstGeom>
          <a:solidFill>
            <a:srgbClr val="1B1F2B"/>
          </a:solidFill>
          <a:ln/>
        </p:spPr>
      </p:sp>
      <p:sp>
        <p:nvSpPr>
          <p:cNvPr id="8" name="Text 6"/>
          <p:cNvSpPr/>
          <p:nvPr/>
        </p:nvSpPr>
        <p:spPr>
          <a:xfrm>
            <a:off x="868680" y="2514600"/>
            <a:ext cx="10424160" cy="1280160"/>
          </a:xfrm>
          <a:prstGeom prst="rect">
            <a:avLst/>
          </a:prstGeom>
          <a:noFill/>
          <a:ln/>
        </p:spPr>
        <p:txBody>
          <a:bodyPr wrap="square" rtlCol="0" anchor="ctr"/>
          <a:lstStyle/>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 Variable global compartida: stock = 5</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Caja A: leer stock (5) → vender 3 unidades → escribir stock = 5 - 3 = 2</a:t>
            </a:r>
            <a:endParaRPr lang="en-US" sz="1200" dirty="0"/>
          </a:p>
          <a:p>
            <a:pPr marL="0" indent="0">
              <a:lnSpc>
                <a:spcPts val="1500"/>
              </a:lnSpc>
              <a:buNone/>
            </a:pPr>
            <a:r>
              <a:rPr lang="en-US" sz="1200" dirty="0">
                <a:solidFill>
                  <a:srgbClr val="8CE99A"/>
                </a:solidFill>
                <a:latin typeface="Consolas" pitchFamily="34" charset="0"/>
                <a:ea typeface="Consolas" pitchFamily="34" charset="-122"/>
                <a:cs typeface="Consolas" pitchFamily="34" charset="-120"/>
              </a:rPr>
              <a:t>Caja B: leer stock (5) → vender 4 unidades → escribir stock = 5 - 4 = 1</a:t>
            </a:r>
            <a:endParaRPr lang="en-US" sz="1200" dirty="0"/>
          </a:p>
        </p:txBody>
      </p:sp>
      <p:sp>
        <p:nvSpPr>
          <p:cNvPr id="9" name="Text 7"/>
          <p:cNvSpPr/>
          <p:nvPr/>
        </p:nvSpPr>
        <p:spPr>
          <a:xfrm>
            <a:off x="640080" y="4160520"/>
            <a:ext cx="10607040" cy="54864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1. Si ambas cajas leen el stock ANTES de que la otra escriba su resultado, ¿qué valor final queda? ¿Es correcto?</a:t>
            </a:r>
            <a:endParaRPr lang="en-US" sz="1300" dirty="0"/>
          </a:p>
        </p:txBody>
      </p:sp>
      <p:sp>
        <p:nvSpPr>
          <p:cNvPr id="10" name="Text 8"/>
          <p:cNvSpPr/>
          <p:nvPr/>
        </p:nvSpPr>
        <p:spPr>
          <a:xfrm>
            <a:off x="640080" y="4754880"/>
            <a:ext cx="10607040" cy="548640"/>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2. Propongan, con sus palabras, una regla (sección crítica) que evite este problema.</a:t>
            </a:r>
            <a:endParaRPr lang="en-US" sz="1300" dirty="0"/>
          </a:p>
        </p:txBody>
      </p:sp>
      <p:sp>
        <p:nvSpPr>
          <p:cNvPr id="11"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PARA CERRAR HOY</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Síntesis y próxima clase</a:t>
            </a:r>
            <a:endParaRPr lang="en-US" sz="2800" dirty="0"/>
          </a:p>
        </p:txBody>
      </p:sp>
      <p:sp>
        <p:nvSpPr>
          <p:cNvPr id="6" name="Shape 4"/>
          <p:cNvSpPr/>
          <p:nvPr/>
        </p:nvSpPr>
        <p:spPr>
          <a:xfrm>
            <a:off x="640080" y="1828800"/>
            <a:ext cx="10881360" cy="2468880"/>
          </a:xfrm>
          <a:prstGeom prst="rect">
            <a:avLst/>
          </a:prstGeom>
          <a:solidFill>
            <a:srgbClr val="232E6E"/>
          </a:solidFill>
          <a:ln/>
        </p:spPr>
      </p:sp>
      <p:sp>
        <p:nvSpPr>
          <p:cNvPr id="7" name="Text 5"/>
          <p:cNvSpPr/>
          <p:nvPr/>
        </p:nvSpPr>
        <p:spPr>
          <a:xfrm>
            <a:off x="960120" y="2057400"/>
            <a:ext cx="10241280" cy="365760"/>
          </a:xfrm>
          <a:prstGeom prst="rect">
            <a:avLst/>
          </a:prstGeom>
          <a:noFill/>
          <a:ln/>
        </p:spPr>
        <p:txBody>
          <a:bodyPr wrap="square" rtlCol="0" anchor="ctr"/>
          <a:lstStyle/>
          <a:p>
            <a:pPr marL="0" indent="0">
              <a:buNone/>
            </a:pPr>
            <a:r>
              <a:rPr lang="en-US" sz="1500" b="1" dirty="0">
                <a:solidFill>
                  <a:srgbClr val="E8B84B"/>
                </a:solidFill>
                <a:latin typeface="Calibri" pitchFamily="34" charset="0"/>
                <a:ea typeface="Calibri" pitchFamily="34" charset="-122"/>
                <a:cs typeface="Calibri" pitchFamily="34" charset="-120"/>
              </a:rPr>
              <a:t>Hoy vimos:</a:t>
            </a:r>
            <a:endParaRPr lang="en-US" sz="1500" dirty="0"/>
          </a:p>
        </p:txBody>
      </p:sp>
      <p:sp>
        <p:nvSpPr>
          <p:cNvPr id="8" name="Text 6"/>
          <p:cNvSpPr/>
          <p:nvPr/>
        </p:nvSpPr>
        <p:spPr>
          <a:xfrm>
            <a:off x="960120" y="2468880"/>
            <a:ext cx="10241280" cy="1737360"/>
          </a:xfrm>
          <a:prstGeom prst="rect">
            <a:avLst/>
          </a:prstGeom>
          <a:noFill/>
          <a:ln/>
        </p:spPr>
        <p:txBody>
          <a:bodyPr wrap="square" rtlCol="0" anchor="ctr"/>
          <a:lstStyle/>
          <a:p>
            <a:pPr marL="342900" indent="-342900">
              <a:lnSpc>
                <a:spcPts val="17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Qué es la concurrencia y por qué es central en el diseño de un SO</a:t>
            </a:r>
            <a:endParaRPr lang="en-US" sz="1300" dirty="0"/>
          </a:p>
          <a:p>
            <a:pPr marL="342900" indent="-342900">
              <a:lnSpc>
                <a:spcPts val="17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Condiciones de carrera: cuando compartir datos sale mal</a:t>
            </a:r>
            <a:endParaRPr lang="en-US" sz="1300" dirty="0"/>
          </a:p>
          <a:p>
            <a:pPr marL="342900" indent="-342900">
              <a:lnSpc>
                <a:spcPts val="17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Exclusión mutua: los 6 requisitos que cualquier solución debe cumplir</a:t>
            </a:r>
            <a:endParaRPr lang="en-US" sz="1300" dirty="0"/>
          </a:p>
          <a:p>
            <a:pPr marL="342900" indent="-342900">
              <a:lnSpc>
                <a:spcPts val="17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Soluciones por software: Dekker (1er y 2do intento) y Peterson</a:t>
            </a:r>
            <a:endParaRPr lang="en-US" sz="1300" dirty="0"/>
          </a:p>
          <a:p>
            <a:pPr marL="342900" indent="-342900">
              <a:lnSpc>
                <a:spcPts val="17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Soluciones por hardware: inhabilitación de interrupciones e instrucciones atómicas</a:t>
            </a:r>
            <a:endParaRPr lang="en-US" sz="1300" dirty="0"/>
          </a:p>
        </p:txBody>
      </p:sp>
      <p:sp>
        <p:nvSpPr>
          <p:cNvPr id="9" name="Text 7"/>
          <p:cNvSpPr/>
          <p:nvPr/>
        </p:nvSpPr>
        <p:spPr>
          <a:xfrm>
            <a:off x="640080" y="4572000"/>
            <a:ext cx="10881360" cy="64008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Próxima clase (06/10): Unidad 3, parte 2 — Semáforos, Monitores, Paso de Mensajes, Interbloqueo y el problema de los filósofos comensales.</a:t>
            </a:r>
            <a:endParaRPr lang="en-US" sz="140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3470</Words>
  <Application>Microsoft Office PowerPoint</Application>
  <PresentationFormat>Panorámica</PresentationFormat>
  <Paragraphs>166</Paragraphs>
  <Slides>14</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Lab206 DT</cp:lastModifiedBy>
  <cp:revision>2</cp:revision>
  <dcterms:created xsi:type="dcterms:W3CDTF">2026-09-22T22:09:38Z</dcterms:created>
  <dcterms:modified xsi:type="dcterms:W3CDTF">2026-10-13T23:32:06Z</dcterms:modified>
</cp:coreProperties>
</file>