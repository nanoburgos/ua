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827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 5 min]
Saludo. Recordar en una frase la clase pasada: vimos el PROBLEMA (condición de carrera) y las soluciones "artesanales" (Dekker, Peterson, interrupciones, instrucciones atómicas).
Frase de enganche: "Hoy vemos las herramientas que el sistema operativo realmente le ofrece a los programas para coordinarse: semáforos, monitores y mensajes. Y también el gran problema que aparece cuando se usan mal: el interbloqueo."
PREPARACIÓN PREVIA: ninguna. Es una clase 100% teórica: solo se necesitan el proyector y el pizarrón. Los alumnos necesitan lápiz y papel para las actividades.
Hoy no hay clase de repaso aparte hasta la próxima (13/10) — esta es la última clase con contenido nuevo de la Unidad 3 antes del 2do Parcial (20/10).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parte de los 10 min de apertura]
Leer la agenda remarcando que hoy es una clase 100% teórica: no hay ejercicios para resolver, sino ejemplos resueltos paso a paso en el pizarrón (traza de un semáforo, la suma perdida, afirmaciones clave, los filósofos y un caso de interbloqueo). No hace falta computadora.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Y TRANSICIÓN — 10 min junto con la apertura]
Repasar sin volver a explicar: la clase pasada cerró diciendo que las soluciones por software y hardware tienen desventajas (espera activa: el proceso que espera sigue consumiendo procesador; inanición: la elección del proceso que entra es arbitraria; incluso puede darse un interbloqueo con prioridades).
Pregunta rápida al curso para activar: "¿cuál era el problema de la espera activa?" (respuesta: el proceso frustrado no hace nada útil pero igual gasta tiempo de procesador).
Conclusión del propio material: "se requiere buscar otros mecanismos: semáforos, monitores, paso de mensajes". Eso es la clase de hoy.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[SEMÁFOROS: CONCEPTO — 15 min del bloque de 25]
Contar el origen: en 1965 Dijkstra propuso un tratado sobre cooperación de procesos secuenciales; los semáforos fueron un gran avance para resolver los problemas de los procesos concurrentes.
Idea central (frase del material): procesos que cooperan con señales simples y pueden detenerse hasta recibir una señal específica.
Analogía útil (no está en el material, aclararlo como analogía docente): el semáforo como un "contador de fichas" a la entrada de una sala. wait = tomar una ficha para entrar (si no hay, esperás afuera); signal = devolver una ficha al salir.
Nombres: wait y signal son las dos primitivas (en la literatura a veces P y V). Ambas deben ser ATÓMICAS: no pueden interrumpirse a la mitad (recordar atomicidad de la Clase 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[SEMÁFOROS: OPERACIONES — 10 min restantes del bloque de 25]
Explicar el pseudocódigo (versión formal de la Figura 8 del material). Lectura del valor del contador:
- contador &gt;= 0: es el número de procesos que pueden hacer wait sin bloquearse.
- contador &lt; 0: su valor absoluto es el número de procesos bloqueados en la cola.
Distinguir semáforo general (contador entero) de binario (solo 0 y 1). El material aclara que el binario es más sencillo de implementar y tiene el mismo poder de expresión.
Cola: no se especifica el orden de salida; la política más equilibrada es FIFO. Requisito estricto: ningún proceso puede quedar retenido para siempre en la cola de un semáforo (si no, inanición).
Implementación: wait y signal deben ser atómicas. Se pueden implementar con inhabilitación de interrupciones o con una instrucción tipo comparar-y-fijar (TS) — conexión directa con lo visto la clase pasada. La espera activa que queda es muy corta porque las operaciones son cortas.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[SEMÁFOROS Y EXCLUSIÓN MUTUA — 10 min del bloque de 20]
Mostrar que con UN semáforo inicializado en 1 se resuelve la exclusión mutua para N procesos con muy pocas líneas — comparar con Dekker/Peterson de la clase pasada (mucho más complejos).
Seguir la ejecución: primer proceso: wait -&gt; s=0, entra. Segundo: wait -&gt; s=-1, se bloquea. Tercero: s=-2, se bloquea. Cuando el primero sale: signal -&gt; s=-1 y se despierta a uno de los bloqueados.
Dato del material: si el semáforo se inicia con un valor mayor que 1 (N), hasta N procesos pueden estar simultáneamente en la sección — útil para controlar recursos con varias unidades iguales.
Transición: "Ahora lo hacen ustedes en papel."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RESUELTO: TRAZA DE SEMÁFORO — 10 min, exposición del docente]
Recorrer la tabla fila por fila, narrando en voz alta qué hace cada wait/signal. Texto sugerido para cada fila:
1. "P1 hace wait: el contador baja de 1 a 0. Como no quedó negativo, P1 sigue y entra a su sección crítica."
2. "P2 hace wait: baja a -1. Quedó negativo, entonces P2 se bloquea y va a la cola del semáforo."
3. "P3 hace wait: baja a -2, también se bloquea. Ahora hay dos procesos esperando: por eso -2."
4. "P1 sale y hace signal: el contador sube a -1. Como todavía es negativo o cero, se despierta al primero de la cola (P2). Queda P3 bloqueado."
5. "P2 hace signal: sube a 0 y se despierta a P3. Ya nadie está bloqueado."
6. "P3 hace signal: sube a 1, el valor inicial. El semáforo quedó como al principio."
Cierre: "si el semáforo arrancara en 2 en vez de 1, podrían estar dos procesos adentro a la vez" (semáforo general).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RESUELTO: LA SUMA PERDIDA — 25 min, exposición del docente]
Objetivo: ver, sin computadora, exactamente cómo ocurre una condición de carrera (la misma de la clase 7 con la variable ENT). Dibujar la tabla en el pizarrón y completarla fila por fila mientras se explica.
Narración sugerida (10 min):
1. "P1 lee c: ve un 0. Todavía no escribió nada."
2. "Antes de que P1 escriba, el sistema le da el procesador a P2. P2 también lee c y ve un 0, el mismo valor viejo."
3. "Vuelve P1: suma 1 y escribe. Ahora c vale 1."
4. "Vuelve P2: él también tenía 0 en la mano, suma 1 y escribe 1. Pisó el resultado de P1."
Conclusión (5 min): debería valer 2 porque hubo dos sumas, pero vale 1. Se perdió una suma. Y lo peor: si el orden fuera otro (P1 lee, suma y escribe, y recién después P2 lee) el resultado sería 2. El resultado depende del orden en que el sistema intercale, que no se puede predecir: son errores no reproducibles (visto en la clase 7).
Solución (10 min): poner LEER + SUMAR + ESCRIBIR entre wait(s) y signal(s) con s inicializado en 1. Así P2 no puede leer hasta que P1 termine de escribir. Esa secuencia protegida es la sección crítica. Mostrar el pseudocódigo en el pizarrón: wait(s); c := c + 1; signal(s).
Si sobra tiempo, mostrar otra intercalación distinta con resultado correcto (2) para reforzar que el problema es "a veces".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[PRODUCTOR/CONSUMIDOR — 20 min]
Plantear el problema (productores/consumidor, buffer, nunca superponer operaciones). El material muestra primero una solución INCORRECTA con semáforos binarios (condición de carrera con la variable n, que llegaba a -1 = "consumió un elemento que no existe"), luego una correcta con binarios, y finalmente la solución con semáforos generales (Figura 13), la más simple y es la que se presenta acá.
Explicar los roles: s = exclusión mutua del buffer; n = cantidad de elementos (sirve de sincronización: wait(n) bloquea al consumidor si no hay nada).
Dato textual del material: cambiar el orden de signal(s) y signal(n) no afecta, porque el consumidor tiene que esperar ambos.
PREGUNTA PARA DISCUTIR (extensión docente, no está en el material): si el consumidor hiciera wait(s) ANTES de wait(n) y el buffer estuviera vacío, el consumidor tomaría el semáforo s y se quedaría bloqueado esperando n; el productor necesita s para añadir y nunca podría entrar =&gt; INTERBLOQUEO. Es un excelente adelanto del tema siguiente: el ORDEN de los wait importa.
Comentario de contexto: el pipe | de la terminal de Linux es un productor/consumidor con buffer del núcleo.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[MONITORES — 10 min]
Problema que resuelven: con semáforos, la corrección depende de que el programador coloque bien cada wait/signal en distintos lugares del código; en un monitor la exclusión mutua es AUTOMÁTICA (solo un proceso adentro a la vez).
Sincronización: variables de condición, accesibles solo desde adentro del monitor. cwait(c) suspende al proceso y libera el monitor para que entre otro. csignal(c) reanuda a uno suspendido en esa condición; si no hay nadie esperando, no hace nada (la señal se PIERDE) — diferencia clave con signal de los semáforos, que sí "recuerda" (incrementa el contador).
Ejemplo del material: monitor "buffer acotado" con dos condiciones: no_lleno (hay espacio) y no_vacío (hay al menos un carácter). El productor solo agrega mediante el procedimiento del monitor; si no hay lugar, hace cwait(no_lleno).
Frase para cerrar: "con semáforos la exclusión mutua y la sincronización son responsabilidad del programador; con monitores, el monitor se encarga de la exclusión mutua y el programador solo coordina las condiciones."
Comentario de contexto: hoy los monitores existen en lenguajes (p. ej. synchronized en Java) o como biblioteca.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DE MENSAJES (1) — 10 min]
Presentar las dos primitivas: send(destino, mensaje) y receive(origen, mensaje).
Sincronización: el emisor puede bloquearse o no hasta que el mensaje se reciba; igual el receptor si no hay mensaje en espera. Las tres combinaciones comunes del material están en las tarjetas.
Riesgo del envío no bloqueante (material): un error en el proceso puede generar mensajes repetidamente y consumir recursos del sistema: tiempo de procesador y espacio de buffer.
Riesgo del receive no bloqueante / pérdida de mensajes: si el mensaje se envía antes de que el proceso ejecute el receive, se pierde.
Comentario de contexto: en Linux, un "pipe con nombre" (FIFO) se comporta como envío bloqueante / recepción bloqueante.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DE MENSAJES (2) — 10 min]
Direccionamiento directo vs indirecto (buzones/puertos). Ventaja del indirecto: se desacopla emisor y receptor y gana flexibilidad. Relación muchos-a-uno = típica de cliente/servidor.
Formato: cabecera (origen, destino, longitud, tipo) + cuerpo. Cola: FIFO es lo más simple pero puede ser poco óptimo si hay mensajes más urgentes; alternativas: prioridad, o que el receptor elija.
EXCLUSIÓN MUTUA CON MENSAJES (Figura 19): hay un buzón compartido con UN solo mensaje (nulo). Para entrar a la sección crítica, el proceso hace receive del mensaje (si el buzón está vacío, se bloquea); al salir lo devuelve con send. El mensaje funciona como un TESTIGO (token) que se pasa de un proceso a otro: solo quien lo tiene puede entrar. Se usan receive bloqueante y send no bloqueante.
Comparar con semáforo binario: el mensaje-testigo cumple el mismo rol que el valor 1 del semáforo.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[AFIRMACIONES CLAVE — 20 min, exposición del docente]
Leer cada afirmación en voz alta y explicar por qué es verdadera o falsa, usando el texto de la diapositiva y ampliando con el ejemplo sugerido. Es un repaso de todo el bloque (semáforos, monitores, mensajes) y además anticipa el tipo de preguntas que pueden aparecer en el 2do Parcial.
1. VERDADERO. Con contador negativo, |contador| = cantidad de procesos bloqueados en la cola (lo vimos en la traza).
2. FALSO. En un monitor solo puede ejecutar UN proceso a la vez; los demás esperan afuera, aunque quieran llamar a procedimientos distintos. Por eso el monitor da exclusión mutua automática.
3. VERDADERO. A diferencia del signal de un semáforo (que incrementa el contador y por lo tanto "recuerda"), el csignal de un monitor se pierde si nadie espera en esa condición.
4. FALSO. Receive bloqueante significa que el receptor se bloquea hasta que llegue un mensaje. Con receive no bloqueante, en cambio, sigue ejecutando.
5. VERDADERO. Los mensajes van a un buzón (puerto), así emisor y receptor no necesitan conocerse directamente.
6. VERDADERO. El semáforo binario toma solo los valores 0 y 1 y es igual de expresivo que el general (se puede construir uno a partir del otro).
Dejar 5 minutos finales para preguntas del curso sobre este bloque.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[INTERBLOQUEO: CONCEPTO — 8 min]
Definición del material: bloqueo permanente de un grupo de procesos que rivalizan por recursos del sistema. Para el caso general NO hay una solución eficiente.
Explicar con el diagrama de avance conjunto (Figura 20): existe un punto de la ejecución en que P1 tiene R1 y P2 tiene R2 y cada uno necesita el del otro.
Dos tipos de recursos: reutilizables (se usan y se devuelven) y consumibles (se crean y destruyen).
Definir inanición (diferenciar): en el interbloqueo un GRUPO de procesos queda trabado entre sí; en la inanición un proceso no consigue su turno nunca (aunque el resto del sistema avance) — por eso los requisitos de exclusión mutua piden evitar ambas.
Más adelante hacen un ejercicio en papel con un caso de interbloqueo (impresora y escáner).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4 CONDICIONES — 7 min]
Las tres primeras son condiciones de POLÍTICA (decisiones de diseño del sistema); la cuarta (círculo vicioso de espera) es consecuencia de las anteriores y es la que efectivamente concreta el interbloqueo. Las cuatro deben darse a la vez: si se elimina una, no puede haber interbloqueo.
Dibujar en el pizarrón un círculo de 4 procesos y 4 recursos para la espera circular (Figura 21).
Pregunta de reflexión rápida con el ejemplo P1/P2 (R1 y R2): ¿cuál es cada condición? (exclusión mutua: cada recurso lo usa uno solo; retención y espera: cada proceso retiene un recurso mientras pide el otro; no apropiación: no se le puede quitar el recurso; espera circular: P1 espera a P2 y P2 espera a P1).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[PREVENCIÓN Y DETECCIÓN — 12 min]
Prevención: dos métodos — indirectos (impiden alguna de las tres primeras condiciones) y directos (evitan el círculo vicioso). Técnicas por condición en la tarjeta izquierda. Todas pueden volverse ineficientes: atrasan procesos y deniegan accesos.
Ordenación lineal de recursos (el material la nombra para el círculo vicioso): si todos piden los recursos siempre en el mismo orden (ej. primero R1 y después R2), no puede cerrarse un círculo. Se aplica en el ejercicio de interbloqueo en papel.
Detección: no restringe nada; se corre un chequeo con la frecuencia que justifique la probabilidad de interbloqueo; al detectar, aplicar una estrategia de recuperación (las 4 de la tarjeta derecha).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[PREDICCIÓN Y ESTRATEGIA INTEGRADA — 8 min]
Diferenciar claramente prevención de predicción (el material los trata como enfoques distintos): la prevención obliga a las solicitudes a impedir al menos una de las 4 condiciones; la predicción permite las condiciones pero analiza cada solicitud antes de concederla. (En la bibliografía en inglés a esto se le llama "avoidance"; algunos textos en español lo llaman "evitación".)
Estrategia integrada: en lugar de un único mecanismo, agrupar los recursos en clases, ordenar linealmente las clases y, dentro de cada clase, aplicar la técnica más adecuada. El material menciona como ejemplos de clases el espacio intercambiable y los recursos de procesos.
Cierre del bloque con la frase de resumen de la diapositiva.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[FILÓSOFOS — 10 min]
Contar la historia (Dijkstra): 5 filósofos que solo piensan y comen espaguetis; mesa redonda con 5 platos y 5 tenedores; para comer se necesitan los dos tenedores a los lados del plato.
Solución 1 (Figura 23): cada uno toma primero el tenedor izquierdo y luego el derecho. Garantiza exclusión mutua pero produce INTERBLOQUEO: si los 5 tienen hambre a la vez, todos toman el izquierdo y todos esperan el derecho. Cumple las cuatro condiciones (exclusión mutua, retención y espera, no apropiación, círculo de espera).
Soluciones que menciona el material: comprar 5 tenedores más; enseñarles a comer con un solo tenedor; o incorporar un "sirviente" que deje pasar solo a 4 filósofos al comedor.
Solución 2 (Figura 24): semáforo "habitación" inicializado en 4: con un máximo de 4 sentados, al menos uno tiene acceso a ambos tenedores. Libre de interbloqueo y de inanición. Es decir: se rompe la condición de "círculo vicioso" limitando cuántos compiten.
Nota: el problema sirve como caso de prueba estándar para evaluar soluciones de sincronización.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[FILÓSOFOS: QUÉ PASA EN CADA CASO — 8 min, exposición del docente]
Explicar con apoyo del pizarrón (dibujar una mesa redonda con 5 círculos y 5 palitos entre ellos).
CASO 1: narrar que todos "agarran el izquierdo" al mismo tiempo. Cada uno queda con un tenedor y esperando el de su vecino. Como nadie suelta, nadie come: interbloqueo. Identificar las condiciones: retención y espera (cada uno retiene uno mientras espera otro) y círculo vicioso de espera (A espera a B, B a C, ... E a A).
CASO 2: con el sirviente que deja sentarse solo a 4, siempre hay al menos un filósofo que tiene un tenedor libre a cada lado; come, suelta, y la cadena se desarma. El 5º entra cuando alguien termina (equivale a un semáforo "habitación" inicializado en 4).
Pregunta de cierre, respondida por el docente: ¿qué condición rompe? El círculo vicioso de espera.
Comentario extra si hay tiempo: otra solución es que uno de los filósofos tome primero el derecho (ordenación distinta de los recursos), que también rompe el círculo.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RESUELTO DE INTERBLOQUEO — 12 min, exposición del docente]
Presentar el caso y recorrer las 3 respuestas de la diapositiva, apoyándose en un dibujo en el pizarrón: dos círculos (P1 y P2), dos cuadrados (impresora y escáner) y flechas de "tiene" y "pide" que forman un círculo cerrado.
a) SÍ hay interbloqueo: cada proceso tiene lo que el otro necesita y ninguno lo va a soltar.
b) Las 4 condiciones se cumplen: exclusión mutua, retención y espera, no apropiación y círculo vicioso de espera.
c) Prevención (cualquiera sirve, indicando qué condición rompe): ordenación lineal de recursos (rompe círculo vicioso), pedir ambos recursos juntos (rompe retención y espera), permitir apropiación (rompe no apropiación). La exclusión mutua no se puede eliminar porque el sistema debe soportarla.
Conexión con los filósofos: es el mismo problema con 2 procesos en lugar de 5.
Dejar los últimos minutos para preguntas.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 10 min]
Repasar en voz alta los 5 puntos. Dejar tiempo real para preguntas: hoy fue una clase intensa con mucho vocabulario nuevo (wait/signal, buzón, monitor, interbloqueo, inanición).
Recordar: la clase del 13/10 es de repaso de TODA la Unidad 3 (clases 7 y 8) y el 2do Parcial es el 20/10. Pedirles que traigan dudas concretas y que repasen los dos ejercicios en papel (traza del semáforo y filósofos).
Si evaluaste alguna de las actividades, recordar el formato y la fecha de entrega.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24316F"/>
          </a:solidFill>
          <a:ln/>
        </p:spPr>
        <p:txBody>
          <a:bodyPr/>
          <a:lstStyle/>
          <a:p>
            <a:endParaRPr lang="es-PY"/>
          </a:p>
        </p:txBody>
      </p:sp>
      <p:sp>
        <p:nvSpPr>
          <p:cNvPr id="3" name="Shape 1"/>
          <p:cNvSpPr/>
          <p:nvPr/>
        </p:nvSpPr>
        <p:spPr>
          <a:xfrm>
            <a:off x="10789920" y="4206240"/>
            <a:ext cx="2926080" cy="2926080"/>
          </a:xfrm>
          <a:prstGeom prst="ellipse">
            <a:avLst/>
          </a:prstGeom>
          <a:solidFill>
            <a:srgbClr val="273580"/>
          </a:solidFill>
          <a:ln/>
        </p:spPr>
        <p:txBody>
          <a:bodyPr/>
          <a:lstStyle/>
          <a:p>
            <a:endParaRPr lang="es-PY"/>
          </a:p>
        </p:txBody>
      </p:sp>
      <p:sp>
        <p:nvSpPr>
          <p:cNvPr id="4" name="Text 2"/>
          <p:cNvSpPr/>
          <p:nvPr/>
        </p:nvSpPr>
        <p:spPr>
          <a:xfrm>
            <a:off x="731520" y="1463040"/>
            <a:ext cx="8229600" cy="365760"/>
          </a:xfrm>
          <a:prstGeom prst="rect">
            <a:avLst/>
          </a:prstGeom>
          <a:noFill/>
          <a:ln/>
        </p:spPr>
        <p:txBody>
          <a:bodyPr wrap="square" rtlCol="0" anchor="ctr"/>
          <a:lstStyle/>
          <a:p>
            <a:pPr marL="0" indent="0">
              <a:buNone/>
            </a:pPr>
            <a:r>
              <a:rPr lang="en-US" sz="1400" b="1" kern="0" spc="200" dirty="0">
                <a:solidFill>
                  <a:srgbClr val="E8B84B"/>
                </a:solidFill>
                <a:latin typeface="Calibri" pitchFamily="34" charset="0"/>
                <a:ea typeface="Calibri" pitchFamily="34" charset="-122"/>
                <a:cs typeface="Calibri" pitchFamily="34" charset="-120"/>
              </a:rPr>
              <a:t>CÁTEDRA · SISTEMAS OPERATIVOS</a:t>
            </a:r>
            <a:endParaRPr lang="en-US" sz="1400" dirty="0"/>
          </a:p>
        </p:txBody>
      </p:sp>
      <p:sp>
        <p:nvSpPr>
          <p:cNvPr id="5" name="Text 3"/>
          <p:cNvSpPr/>
          <p:nvPr/>
        </p:nvSpPr>
        <p:spPr>
          <a:xfrm>
            <a:off x="685800" y="1874520"/>
            <a:ext cx="10058400" cy="1828800"/>
          </a:xfrm>
          <a:prstGeom prst="rect">
            <a:avLst/>
          </a:prstGeom>
          <a:noFill/>
          <a:ln/>
        </p:spPr>
        <p:txBody>
          <a:bodyPr wrap="square" rtlCol="0" anchor="ctr"/>
          <a:lstStyle/>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Unidad 3 (cierre)</a:t>
            </a:r>
            <a:endParaRPr lang="en-US" sz="3800" dirty="0"/>
          </a:p>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Semáforos, mensajes e interbloqueo</a:t>
            </a:r>
            <a:endParaRPr lang="en-US" sz="3800" dirty="0"/>
          </a:p>
        </p:txBody>
      </p:sp>
      <p:sp>
        <p:nvSpPr>
          <p:cNvPr id="6" name="Text 4"/>
          <p:cNvSpPr/>
          <p:nvPr/>
        </p:nvSpPr>
        <p:spPr>
          <a:xfrm>
            <a:off x="731520" y="3931920"/>
            <a:ext cx="9875520" cy="54864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Clase 8 · Mecanismos de sincronización del SO e interbloqueo</a:t>
            </a:r>
            <a:endParaRPr lang="en-US" sz="1600" dirty="0"/>
          </a:p>
        </p:txBody>
      </p:sp>
      <p:sp>
        <p:nvSpPr>
          <p:cNvPr id="7" name="Shape 5"/>
          <p:cNvSpPr/>
          <p:nvPr/>
        </p:nvSpPr>
        <p:spPr>
          <a:xfrm>
            <a:off x="731520" y="5349240"/>
            <a:ext cx="3291840" cy="0"/>
          </a:xfrm>
          <a:prstGeom prst="line">
            <a:avLst/>
          </a:prstGeom>
          <a:noFill/>
          <a:ln w="12700">
            <a:solidFill>
              <a:srgbClr val="3C4A93"/>
            </a:solidFill>
            <a:prstDash val="solid"/>
          </a:ln>
        </p:spPr>
        <p:txBody>
          <a:bodyPr/>
          <a:lstStyle/>
          <a:p>
            <a:endParaRPr lang="es-PY"/>
          </a:p>
        </p:txBody>
      </p:sp>
      <p:sp>
        <p:nvSpPr>
          <p:cNvPr id="8" name="Text 6"/>
          <p:cNvSpPr/>
          <p:nvPr/>
        </p:nvSpPr>
        <p:spPr>
          <a:xfrm>
            <a:off x="731520" y="5486400"/>
            <a:ext cx="548640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06 de octubre, 2026 · 4 horas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HOY VEMOS</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Agenda de la clase</a:t>
            </a:r>
            <a:endParaRPr lang="en-US" sz="2800" dirty="0"/>
          </a:p>
        </p:txBody>
      </p:sp>
      <p:sp>
        <p:nvSpPr>
          <p:cNvPr id="6" name="Shape 4"/>
          <p:cNvSpPr/>
          <p:nvPr/>
        </p:nvSpPr>
        <p:spPr>
          <a:xfrm>
            <a:off x="640080" y="1783080"/>
            <a:ext cx="10881360" cy="438912"/>
          </a:xfrm>
          <a:prstGeom prst="rect">
            <a:avLst/>
          </a:prstGeom>
          <a:solidFill>
            <a:srgbClr val="F7F8FC"/>
          </a:solidFill>
          <a:ln/>
        </p:spPr>
        <p:txBody>
          <a:bodyPr/>
          <a:lstStyle/>
          <a:p>
            <a:endParaRPr lang="es-PY"/>
          </a:p>
        </p:txBody>
      </p:sp>
      <p:sp>
        <p:nvSpPr>
          <p:cNvPr id="7" name="Text 5"/>
          <p:cNvSpPr/>
          <p:nvPr/>
        </p:nvSpPr>
        <p:spPr>
          <a:xfrm>
            <a:off x="822960" y="1783080"/>
            <a:ext cx="457200" cy="438912"/>
          </a:xfrm>
          <a:prstGeom prst="rect">
            <a:avLst/>
          </a:prstGeom>
          <a:noFill/>
          <a:ln/>
        </p:spPr>
        <p:txBody>
          <a:bodyPr wrap="square" rtlCol="0" anchor="ctr"/>
          <a:lstStyle/>
          <a:p>
            <a:pPr marL="0" indent="0">
              <a:buNone/>
            </a:pPr>
            <a:r>
              <a:rPr lang="en-US" sz="1500" b="1" dirty="0">
                <a:solidFill>
                  <a:srgbClr val="E8B84B"/>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371600" y="178308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Semáforos: concepto y primitivas</a:t>
            </a:r>
            <a:endParaRPr lang="en-US" sz="1250" dirty="0"/>
          </a:p>
        </p:txBody>
      </p:sp>
      <p:sp>
        <p:nvSpPr>
          <p:cNvPr id="9" name="Text 7"/>
          <p:cNvSpPr/>
          <p:nvPr/>
        </p:nvSpPr>
        <p:spPr>
          <a:xfrm>
            <a:off x="9326880" y="1783080"/>
            <a:ext cx="2011680" cy="438912"/>
          </a:xfrm>
          <a:prstGeom prst="rect">
            <a:avLst/>
          </a:prstGeom>
          <a:noFill/>
          <a:ln/>
        </p:spPr>
        <p:txBody>
          <a:bodyPr wrap="square" rtlCol="0" anchor="ctr"/>
          <a:lstStyle/>
          <a:p>
            <a:pPr marL="0" indent="0" algn="r">
              <a:buNone/>
            </a:pPr>
            <a:r>
              <a:rPr lang="en-US" sz="1150" dirty="0">
                <a:solidFill>
                  <a:srgbClr val="5B6584"/>
                </a:solidFill>
                <a:latin typeface="Calibri" pitchFamily="34" charset="0"/>
                <a:ea typeface="Calibri" pitchFamily="34" charset="-122"/>
                <a:cs typeface="Calibri" pitchFamily="34" charset="-120"/>
              </a:rPr>
              <a:t>25 min</a:t>
            </a:r>
            <a:endParaRPr lang="en-US" sz="1150" dirty="0"/>
          </a:p>
        </p:txBody>
      </p:sp>
      <p:sp>
        <p:nvSpPr>
          <p:cNvPr id="10" name="Shape 8"/>
          <p:cNvSpPr/>
          <p:nvPr/>
        </p:nvSpPr>
        <p:spPr>
          <a:xfrm>
            <a:off x="640080" y="2286000"/>
            <a:ext cx="10881360" cy="438912"/>
          </a:xfrm>
          <a:prstGeom prst="rect">
            <a:avLst/>
          </a:prstGeom>
          <a:solidFill>
            <a:srgbClr val="FFFFFF"/>
          </a:solidFill>
          <a:ln/>
        </p:spPr>
        <p:txBody>
          <a:bodyPr/>
          <a:lstStyle/>
          <a:p>
            <a:endParaRPr lang="es-PY"/>
          </a:p>
        </p:txBody>
      </p:sp>
      <p:sp>
        <p:nvSpPr>
          <p:cNvPr id="11" name="Text 9"/>
          <p:cNvSpPr/>
          <p:nvPr/>
        </p:nvSpPr>
        <p:spPr>
          <a:xfrm>
            <a:off x="822960" y="2286000"/>
            <a:ext cx="457200" cy="438912"/>
          </a:xfrm>
          <a:prstGeom prst="rect">
            <a:avLst/>
          </a:prstGeom>
          <a:noFill/>
          <a:ln/>
        </p:spPr>
        <p:txBody>
          <a:bodyPr wrap="square" rtlCol="0" anchor="ctr"/>
          <a:lstStyle/>
          <a:p>
            <a:pPr marL="0" indent="0">
              <a:buNone/>
            </a:pPr>
            <a:r>
              <a:rPr lang="en-US" sz="1500" b="1" dirty="0">
                <a:solidFill>
                  <a:srgbClr val="E8B84B"/>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71600" y="228600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Semáforos y exclusión mutua + ejemplo resuelto de traza</a:t>
            </a:r>
            <a:endParaRPr lang="en-US" sz="1250" dirty="0"/>
          </a:p>
        </p:txBody>
      </p:sp>
      <p:sp>
        <p:nvSpPr>
          <p:cNvPr id="13" name="Text 11"/>
          <p:cNvSpPr/>
          <p:nvPr/>
        </p:nvSpPr>
        <p:spPr>
          <a:xfrm>
            <a:off x="9326880" y="2286000"/>
            <a:ext cx="2011680" cy="438912"/>
          </a:xfrm>
          <a:prstGeom prst="rect">
            <a:avLst/>
          </a:prstGeom>
          <a:noFill/>
          <a:ln/>
        </p:spPr>
        <p:txBody>
          <a:bodyPr wrap="square" rtlCol="0" anchor="ctr"/>
          <a:lstStyle/>
          <a:p>
            <a:pPr marL="0" indent="0" algn="r">
              <a:buNone/>
            </a:pPr>
            <a:r>
              <a:rPr lang="en-US" sz="1150" dirty="0">
                <a:solidFill>
                  <a:srgbClr val="5B6584"/>
                </a:solidFill>
                <a:latin typeface="Calibri" pitchFamily="34" charset="0"/>
                <a:ea typeface="Calibri" pitchFamily="34" charset="-122"/>
                <a:cs typeface="Calibri" pitchFamily="34" charset="-120"/>
              </a:rPr>
              <a:t>20 min</a:t>
            </a:r>
            <a:endParaRPr lang="en-US" sz="1150" dirty="0"/>
          </a:p>
        </p:txBody>
      </p:sp>
      <p:sp>
        <p:nvSpPr>
          <p:cNvPr id="14" name="Shape 12"/>
          <p:cNvSpPr/>
          <p:nvPr/>
        </p:nvSpPr>
        <p:spPr>
          <a:xfrm>
            <a:off x="640080" y="2788920"/>
            <a:ext cx="10881360" cy="438912"/>
          </a:xfrm>
          <a:prstGeom prst="rect">
            <a:avLst/>
          </a:prstGeom>
          <a:solidFill>
            <a:srgbClr val="E9F3F0"/>
          </a:solidFill>
          <a:ln/>
        </p:spPr>
        <p:txBody>
          <a:bodyPr/>
          <a:lstStyle/>
          <a:p>
            <a:endParaRPr lang="es-PY"/>
          </a:p>
        </p:txBody>
      </p:sp>
      <p:sp>
        <p:nvSpPr>
          <p:cNvPr id="15" name="Text 13"/>
          <p:cNvSpPr/>
          <p:nvPr/>
        </p:nvSpPr>
        <p:spPr>
          <a:xfrm>
            <a:off x="822960" y="2788920"/>
            <a:ext cx="457200" cy="438912"/>
          </a:xfrm>
          <a:prstGeom prst="rect">
            <a:avLst/>
          </a:prstGeom>
          <a:noFill/>
          <a:ln/>
        </p:spPr>
        <p:txBody>
          <a:bodyPr wrap="square" rtlCol="0" anchor="ctr"/>
          <a:lstStyle/>
          <a:p>
            <a:pPr marL="0" indent="0">
              <a:buNone/>
            </a:pPr>
            <a:r>
              <a:rPr lang="en-US" sz="1500" b="1" dirty="0">
                <a:solidFill>
                  <a:srgbClr val="1F6F5C"/>
                </a:solidFill>
                <a:latin typeface="Cambria" pitchFamily="34" charset="0"/>
                <a:ea typeface="Cambria" pitchFamily="34" charset="-122"/>
                <a:cs typeface="Cambria" pitchFamily="34" charset="-120"/>
              </a:rPr>
              <a:t>3</a:t>
            </a:r>
            <a:endParaRPr lang="en-US" sz="1500" dirty="0"/>
          </a:p>
        </p:txBody>
      </p:sp>
      <p:sp>
        <p:nvSpPr>
          <p:cNvPr id="16" name="Text 14"/>
          <p:cNvSpPr/>
          <p:nvPr/>
        </p:nvSpPr>
        <p:spPr>
          <a:xfrm>
            <a:off x="1371600" y="278892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 Ejemplo resuelto: ¿cómo se pierde una suma?</a:t>
            </a:r>
            <a:endParaRPr lang="en-US" sz="1250" dirty="0"/>
          </a:p>
        </p:txBody>
      </p:sp>
      <p:sp>
        <p:nvSpPr>
          <p:cNvPr id="17" name="Text 15"/>
          <p:cNvSpPr/>
          <p:nvPr/>
        </p:nvSpPr>
        <p:spPr>
          <a:xfrm>
            <a:off x="9326880" y="2788920"/>
            <a:ext cx="2011680" cy="438912"/>
          </a:xfrm>
          <a:prstGeom prst="rect">
            <a:avLst/>
          </a:prstGeom>
          <a:noFill/>
          <a:ln/>
        </p:spPr>
        <p:txBody>
          <a:bodyPr wrap="square" rtlCol="0" anchor="ctr"/>
          <a:lstStyle/>
          <a:p>
            <a:pPr marL="0" indent="0" algn="r">
              <a:buNone/>
            </a:pPr>
            <a:r>
              <a:rPr lang="en-US" sz="1150" dirty="0">
                <a:solidFill>
                  <a:srgbClr val="5B6584"/>
                </a:solidFill>
                <a:latin typeface="Calibri" pitchFamily="34" charset="0"/>
                <a:ea typeface="Calibri" pitchFamily="34" charset="-122"/>
                <a:cs typeface="Calibri" pitchFamily="34" charset="-120"/>
              </a:rPr>
              <a:t>25 min</a:t>
            </a:r>
            <a:endParaRPr lang="en-US" sz="1150" dirty="0"/>
          </a:p>
        </p:txBody>
      </p:sp>
      <p:sp>
        <p:nvSpPr>
          <p:cNvPr id="18" name="Shape 16"/>
          <p:cNvSpPr/>
          <p:nvPr/>
        </p:nvSpPr>
        <p:spPr>
          <a:xfrm>
            <a:off x="640080" y="3291840"/>
            <a:ext cx="10881360" cy="438912"/>
          </a:xfrm>
          <a:prstGeom prst="rect">
            <a:avLst/>
          </a:prstGeom>
          <a:solidFill>
            <a:srgbClr val="FFFFFF"/>
          </a:solidFill>
          <a:ln/>
        </p:spPr>
        <p:txBody>
          <a:bodyPr/>
          <a:lstStyle/>
          <a:p>
            <a:endParaRPr lang="es-PY"/>
          </a:p>
        </p:txBody>
      </p:sp>
      <p:sp>
        <p:nvSpPr>
          <p:cNvPr id="19" name="Text 17"/>
          <p:cNvSpPr/>
          <p:nvPr/>
        </p:nvSpPr>
        <p:spPr>
          <a:xfrm>
            <a:off x="822960" y="3291840"/>
            <a:ext cx="457200" cy="438912"/>
          </a:xfrm>
          <a:prstGeom prst="rect">
            <a:avLst/>
          </a:prstGeom>
          <a:noFill/>
          <a:ln/>
        </p:spPr>
        <p:txBody>
          <a:bodyPr wrap="square" rtlCol="0" anchor="ctr"/>
          <a:lstStyle/>
          <a:p>
            <a:pPr marL="0" indent="0">
              <a:buNone/>
            </a:pPr>
            <a:r>
              <a:rPr lang="en-US" sz="1500" b="1" dirty="0">
                <a:solidFill>
                  <a:srgbClr val="E8B84B"/>
                </a:solidFill>
                <a:latin typeface="Cambria" pitchFamily="34" charset="0"/>
                <a:ea typeface="Cambria" pitchFamily="34" charset="-122"/>
                <a:cs typeface="Cambria" pitchFamily="34" charset="-120"/>
              </a:rPr>
              <a:t>4</a:t>
            </a:r>
            <a:endParaRPr lang="en-US" sz="1500" dirty="0"/>
          </a:p>
        </p:txBody>
      </p:sp>
      <p:sp>
        <p:nvSpPr>
          <p:cNvPr id="20" name="Text 18"/>
          <p:cNvSpPr/>
          <p:nvPr/>
        </p:nvSpPr>
        <p:spPr>
          <a:xfrm>
            <a:off x="1371600" y="329184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Productor/consumidor y monitores</a:t>
            </a:r>
            <a:endParaRPr lang="en-US" sz="1250" dirty="0"/>
          </a:p>
        </p:txBody>
      </p:sp>
      <p:sp>
        <p:nvSpPr>
          <p:cNvPr id="21" name="Text 19"/>
          <p:cNvSpPr/>
          <p:nvPr/>
        </p:nvSpPr>
        <p:spPr>
          <a:xfrm>
            <a:off x="9326880" y="3291840"/>
            <a:ext cx="2011680" cy="438912"/>
          </a:xfrm>
          <a:prstGeom prst="rect">
            <a:avLst/>
          </a:prstGeom>
          <a:noFill/>
          <a:ln/>
        </p:spPr>
        <p:txBody>
          <a:bodyPr wrap="square" rtlCol="0" anchor="ctr"/>
          <a:lstStyle/>
          <a:p>
            <a:pPr marL="0" indent="0" algn="r">
              <a:buNone/>
            </a:pPr>
            <a:r>
              <a:rPr lang="en-US" sz="1150" dirty="0">
                <a:solidFill>
                  <a:srgbClr val="5B6584"/>
                </a:solidFill>
                <a:latin typeface="Calibri" pitchFamily="34" charset="0"/>
                <a:ea typeface="Calibri" pitchFamily="34" charset="-122"/>
                <a:cs typeface="Calibri" pitchFamily="34" charset="-120"/>
              </a:rPr>
              <a:t>30 min</a:t>
            </a:r>
            <a:endParaRPr lang="en-US" sz="1150" dirty="0"/>
          </a:p>
        </p:txBody>
      </p:sp>
      <p:sp>
        <p:nvSpPr>
          <p:cNvPr id="22" name="Shape 20"/>
          <p:cNvSpPr/>
          <p:nvPr/>
        </p:nvSpPr>
        <p:spPr>
          <a:xfrm>
            <a:off x="640080" y="3794760"/>
            <a:ext cx="10881360" cy="438912"/>
          </a:xfrm>
          <a:prstGeom prst="rect">
            <a:avLst/>
          </a:prstGeom>
          <a:solidFill>
            <a:srgbClr val="F7F8FC"/>
          </a:solidFill>
          <a:ln/>
        </p:spPr>
        <p:txBody>
          <a:bodyPr/>
          <a:lstStyle/>
          <a:p>
            <a:endParaRPr lang="es-PY"/>
          </a:p>
        </p:txBody>
      </p:sp>
      <p:sp>
        <p:nvSpPr>
          <p:cNvPr id="23" name="Text 21"/>
          <p:cNvSpPr/>
          <p:nvPr/>
        </p:nvSpPr>
        <p:spPr>
          <a:xfrm>
            <a:off x="822960" y="3794760"/>
            <a:ext cx="457200" cy="438912"/>
          </a:xfrm>
          <a:prstGeom prst="rect">
            <a:avLst/>
          </a:prstGeom>
          <a:noFill/>
          <a:ln/>
        </p:spPr>
        <p:txBody>
          <a:bodyPr wrap="square" rtlCol="0" anchor="ctr"/>
          <a:lstStyle/>
          <a:p>
            <a:pPr marL="0" indent="0">
              <a:buNone/>
            </a:pPr>
            <a:r>
              <a:rPr lang="en-US" sz="1500" b="1" dirty="0">
                <a:solidFill>
                  <a:srgbClr val="E8B84B"/>
                </a:solidFill>
                <a:latin typeface="Cambria" pitchFamily="34" charset="0"/>
                <a:ea typeface="Cambria" pitchFamily="34" charset="-122"/>
                <a:cs typeface="Cambria" pitchFamily="34" charset="-120"/>
              </a:rPr>
              <a:t>5</a:t>
            </a:r>
            <a:endParaRPr lang="en-US" sz="1500" dirty="0"/>
          </a:p>
        </p:txBody>
      </p:sp>
      <p:sp>
        <p:nvSpPr>
          <p:cNvPr id="24" name="Text 22"/>
          <p:cNvSpPr/>
          <p:nvPr/>
        </p:nvSpPr>
        <p:spPr>
          <a:xfrm>
            <a:off x="1371600" y="379476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Paso de mensajes</a:t>
            </a:r>
            <a:endParaRPr lang="en-US" sz="1250" dirty="0"/>
          </a:p>
        </p:txBody>
      </p:sp>
      <p:sp>
        <p:nvSpPr>
          <p:cNvPr id="25" name="Text 23"/>
          <p:cNvSpPr/>
          <p:nvPr/>
        </p:nvSpPr>
        <p:spPr>
          <a:xfrm>
            <a:off x="9326880" y="3794760"/>
            <a:ext cx="2011680" cy="438912"/>
          </a:xfrm>
          <a:prstGeom prst="rect">
            <a:avLst/>
          </a:prstGeom>
          <a:noFill/>
          <a:ln/>
        </p:spPr>
        <p:txBody>
          <a:bodyPr wrap="square" rtlCol="0" anchor="ctr"/>
          <a:lstStyle/>
          <a:p>
            <a:pPr marL="0" indent="0" algn="r">
              <a:buNone/>
            </a:pPr>
            <a:r>
              <a:rPr lang="en-US" sz="1150" dirty="0">
                <a:solidFill>
                  <a:srgbClr val="5B6584"/>
                </a:solidFill>
                <a:latin typeface="Calibri" pitchFamily="34" charset="0"/>
                <a:ea typeface="Calibri" pitchFamily="34" charset="-122"/>
                <a:cs typeface="Calibri" pitchFamily="34" charset="-120"/>
              </a:rPr>
              <a:t>20 min</a:t>
            </a:r>
            <a:endParaRPr lang="en-US" sz="1150" dirty="0"/>
          </a:p>
        </p:txBody>
      </p:sp>
      <p:sp>
        <p:nvSpPr>
          <p:cNvPr id="26" name="Shape 24"/>
          <p:cNvSpPr/>
          <p:nvPr/>
        </p:nvSpPr>
        <p:spPr>
          <a:xfrm>
            <a:off x="640080" y="4297680"/>
            <a:ext cx="10881360" cy="438912"/>
          </a:xfrm>
          <a:prstGeom prst="rect">
            <a:avLst/>
          </a:prstGeom>
          <a:solidFill>
            <a:srgbClr val="E9F3F0"/>
          </a:solidFill>
          <a:ln/>
        </p:spPr>
        <p:txBody>
          <a:bodyPr/>
          <a:lstStyle/>
          <a:p>
            <a:endParaRPr lang="es-PY"/>
          </a:p>
        </p:txBody>
      </p:sp>
      <p:sp>
        <p:nvSpPr>
          <p:cNvPr id="27" name="Text 25"/>
          <p:cNvSpPr/>
          <p:nvPr/>
        </p:nvSpPr>
        <p:spPr>
          <a:xfrm>
            <a:off x="822960" y="4297680"/>
            <a:ext cx="457200" cy="438912"/>
          </a:xfrm>
          <a:prstGeom prst="rect">
            <a:avLst/>
          </a:prstGeom>
          <a:noFill/>
          <a:ln/>
        </p:spPr>
        <p:txBody>
          <a:bodyPr wrap="square" rtlCol="0" anchor="ctr"/>
          <a:lstStyle/>
          <a:p>
            <a:pPr marL="0" indent="0">
              <a:buNone/>
            </a:pPr>
            <a:r>
              <a:rPr lang="en-US" sz="1500" b="1" dirty="0">
                <a:solidFill>
                  <a:srgbClr val="1F6F5C"/>
                </a:solidFill>
                <a:latin typeface="Cambria" pitchFamily="34" charset="0"/>
                <a:ea typeface="Cambria" pitchFamily="34" charset="-122"/>
                <a:cs typeface="Cambria" pitchFamily="34" charset="-120"/>
              </a:rPr>
              <a:t>6</a:t>
            </a:r>
            <a:endParaRPr lang="en-US" sz="1500" dirty="0"/>
          </a:p>
        </p:txBody>
      </p:sp>
      <p:sp>
        <p:nvSpPr>
          <p:cNvPr id="28" name="Text 26"/>
          <p:cNvSpPr/>
          <p:nvPr/>
        </p:nvSpPr>
        <p:spPr>
          <a:xfrm>
            <a:off x="1371600" y="429768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 Afirmaciones clave: semáforos, monitores y mensajes</a:t>
            </a:r>
            <a:endParaRPr lang="en-US" sz="1250" dirty="0"/>
          </a:p>
        </p:txBody>
      </p:sp>
      <p:sp>
        <p:nvSpPr>
          <p:cNvPr id="29" name="Text 27"/>
          <p:cNvSpPr/>
          <p:nvPr/>
        </p:nvSpPr>
        <p:spPr>
          <a:xfrm>
            <a:off x="9326880" y="4297680"/>
            <a:ext cx="2011680" cy="438912"/>
          </a:xfrm>
          <a:prstGeom prst="rect">
            <a:avLst/>
          </a:prstGeom>
          <a:noFill/>
          <a:ln/>
        </p:spPr>
        <p:txBody>
          <a:bodyPr wrap="square" rtlCol="0" anchor="ctr"/>
          <a:lstStyle/>
          <a:p>
            <a:pPr marL="0" indent="0" algn="r">
              <a:buNone/>
            </a:pPr>
            <a:r>
              <a:rPr lang="en-US" sz="1150" dirty="0">
                <a:solidFill>
                  <a:srgbClr val="5B6584"/>
                </a:solidFill>
                <a:latin typeface="Calibri" pitchFamily="34" charset="0"/>
                <a:ea typeface="Calibri" pitchFamily="34" charset="-122"/>
                <a:cs typeface="Calibri" pitchFamily="34" charset="-120"/>
              </a:rPr>
              <a:t>20 min</a:t>
            </a:r>
            <a:endParaRPr lang="en-US" sz="1150" dirty="0"/>
          </a:p>
        </p:txBody>
      </p:sp>
      <p:sp>
        <p:nvSpPr>
          <p:cNvPr id="30" name="Shape 28"/>
          <p:cNvSpPr/>
          <p:nvPr/>
        </p:nvSpPr>
        <p:spPr>
          <a:xfrm>
            <a:off x="640080" y="4800600"/>
            <a:ext cx="10881360" cy="438912"/>
          </a:xfrm>
          <a:prstGeom prst="rect">
            <a:avLst/>
          </a:prstGeom>
          <a:solidFill>
            <a:srgbClr val="F7F8FC"/>
          </a:solidFill>
          <a:ln/>
        </p:spPr>
        <p:txBody>
          <a:bodyPr/>
          <a:lstStyle/>
          <a:p>
            <a:endParaRPr lang="es-PY"/>
          </a:p>
        </p:txBody>
      </p:sp>
      <p:sp>
        <p:nvSpPr>
          <p:cNvPr id="31" name="Text 29"/>
          <p:cNvSpPr/>
          <p:nvPr/>
        </p:nvSpPr>
        <p:spPr>
          <a:xfrm>
            <a:off x="822960" y="4800600"/>
            <a:ext cx="457200" cy="438912"/>
          </a:xfrm>
          <a:prstGeom prst="rect">
            <a:avLst/>
          </a:prstGeom>
          <a:noFill/>
          <a:ln/>
        </p:spPr>
        <p:txBody>
          <a:bodyPr wrap="square" rtlCol="0" anchor="ctr"/>
          <a:lstStyle/>
          <a:p>
            <a:pPr marL="0" indent="0">
              <a:buNone/>
            </a:pPr>
            <a:r>
              <a:rPr lang="en-US" sz="1500" b="1" dirty="0">
                <a:solidFill>
                  <a:srgbClr val="E8B84B"/>
                </a:solidFill>
                <a:latin typeface="Cambria" pitchFamily="34" charset="0"/>
                <a:ea typeface="Cambria" pitchFamily="34" charset="-122"/>
                <a:cs typeface="Cambria" pitchFamily="34" charset="-120"/>
              </a:rPr>
              <a:t>7</a:t>
            </a:r>
            <a:endParaRPr lang="en-US" sz="1500" dirty="0"/>
          </a:p>
        </p:txBody>
      </p:sp>
      <p:sp>
        <p:nvSpPr>
          <p:cNvPr id="32" name="Text 30"/>
          <p:cNvSpPr/>
          <p:nvPr/>
        </p:nvSpPr>
        <p:spPr>
          <a:xfrm>
            <a:off x="1371600" y="480060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Interbloqueo: condiciones, prevención, detección, predicción</a:t>
            </a:r>
            <a:endParaRPr lang="en-US" sz="1250" dirty="0"/>
          </a:p>
        </p:txBody>
      </p:sp>
      <p:sp>
        <p:nvSpPr>
          <p:cNvPr id="33" name="Text 31"/>
          <p:cNvSpPr/>
          <p:nvPr/>
        </p:nvSpPr>
        <p:spPr>
          <a:xfrm>
            <a:off x="9326880" y="4800600"/>
            <a:ext cx="2011680" cy="438912"/>
          </a:xfrm>
          <a:prstGeom prst="rect">
            <a:avLst/>
          </a:prstGeom>
          <a:noFill/>
          <a:ln/>
        </p:spPr>
        <p:txBody>
          <a:bodyPr wrap="square" rtlCol="0" anchor="ctr"/>
          <a:lstStyle/>
          <a:p>
            <a:pPr marL="0" indent="0" algn="r">
              <a:buNone/>
            </a:pPr>
            <a:r>
              <a:rPr lang="en-US" sz="1150" dirty="0">
                <a:solidFill>
                  <a:srgbClr val="5B6584"/>
                </a:solidFill>
                <a:latin typeface="Calibri" pitchFamily="34" charset="0"/>
                <a:ea typeface="Calibri" pitchFamily="34" charset="-122"/>
                <a:cs typeface="Calibri" pitchFamily="34" charset="-120"/>
              </a:rPr>
              <a:t>50 min</a:t>
            </a:r>
            <a:endParaRPr lang="en-US" sz="1150" dirty="0"/>
          </a:p>
        </p:txBody>
      </p:sp>
      <p:sp>
        <p:nvSpPr>
          <p:cNvPr id="34" name="Shape 32"/>
          <p:cNvSpPr/>
          <p:nvPr/>
        </p:nvSpPr>
        <p:spPr>
          <a:xfrm>
            <a:off x="640080" y="5303520"/>
            <a:ext cx="10881360" cy="438912"/>
          </a:xfrm>
          <a:prstGeom prst="rect">
            <a:avLst/>
          </a:prstGeom>
          <a:solidFill>
            <a:srgbClr val="E9F3F0"/>
          </a:solidFill>
          <a:ln/>
        </p:spPr>
        <p:txBody>
          <a:bodyPr/>
          <a:lstStyle/>
          <a:p>
            <a:endParaRPr lang="es-PY"/>
          </a:p>
        </p:txBody>
      </p:sp>
      <p:sp>
        <p:nvSpPr>
          <p:cNvPr id="35" name="Text 33"/>
          <p:cNvSpPr/>
          <p:nvPr/>
        </p:nvSpPr>
        <p:spPr>
          <a:xfrm>
            <a:off x="822960" y="5303520"/>
            <a:ext cx="457200" cy="438912"/>
          </a:xfrm>
          <a:prstGeom prst="rect">
            <a:avLst/>
          </a:prstGeom>
          <a:noFill/>
          <a:ln/>
        </p:spPr>
        <p:txBody>
          <a:bodyPr wrap="square" rtlCol="0" anchor="ctr"/>
          <a:lstStyle/>
          <a:p>
            <a:pPr marL="0" indent="0">
              <a:buNone/>
            </a:pPr>
            <a:r>
              <a:rPr lang="en-US" sz="1500" b="1" dirty="0">
                <a:solidFill>
                  <a:srgbClr val="1F6F5C"/>
                </a:solidFill>
                <a:latin typeface="Cambria" pitchFamily="34" charset="0"/>
                <a:ea typeface="Cambria" pitchFamily="34" charset="-122"/>
                <a:cs typeface="Cambria" pitchFamily="34" charset="-120"/>
              </a:rPr>
              <a:t>8</a:t>
            </a:r>
            <a:endParaRPr lang="en-US" sz="1500" dirty="0"/>
          </a:p>
        </p:txBody>
      </p:sp>
      <p:sp>
        <p:nvSpPr>
          <p:cNvPr id="36" name="Text 34"/>
          <p:cNvSpPr/>
          <p:nvPr/>
        </p:nvSpPr>
        <p:spPr>
          <a:xfrm>
            <a:off x="1371600" y="5303520"/>
            <a:ext cx="7955280" cy="438912"/>
          </a:xfrm>
          <a:prstGeom prst="rect">
            <a:avLst/>
          </a:prstGeom>
          <a:noFill/>
          <a:ln/>
        </p:spPr>
        <p:txBody>
          <a:bodyPr wrap="square" rtlCol="0" anchor="ctr"/>
          <a:lstStyle/>
          <a:p>
            <a:pPr marL="0" indent="0">
              <a:buNone/>
            </a:pPr>
            <a:r>
              <a:rPr lang="en-US" sz="1250" b="1" dirty="0">
                <a:solidFill>
                  <a:srgbClr val="1B1F3B"/>
                </a:solidFill>
                <a:latin typeface="Calibri" pitchFamily="34" charset="0"/>
                <a:ea typeface="Calibri" pitchFamily="34" charset="-122"/>
                <a:cs typeface="Calibri" pitchFamily="34" charset="-120"/>
              </a:rPr>
              <a:t>Filósofos + 📘 qué pasa en cada caso + 📘 ejemplo de interbloqueo</a:t>
            </a:r>
            <a:endParaRPr lang="en-US" sz="1250" dirty="0"/>
          </a:p>
        </p:txBody>
      </p:sp>
      <p:sp>
        <p:nvSpPr>
          <p:cNvPr id="37" name="Text 35"/>
          <p:cNvSpPr/>
          <p:nvPr/>
        </p:nvSpPr>
        <p:spPr>
          <a:xfrm>
            <a:off x="9326880" y="5303520"/>
            <a:ext cx="2011680" cy="438912"/>
          </a:xfrm>
          <a:prstGeom prst="rect">
            <a:avLst/>
          </a:prstGeom>
          <a:noFill/>
          <a:ln/>
        </p:spPr>
        <p:txBody>
          <a:bodyPr wrap="square" rtlCol="0" anchor="ctr"/>
          <a:lstStyle/>
          <a:p>
            <a:pPr marL="0" indent="0" algn="r">
              <a:buNone/>
            </a:pPr>
            <a:r>
              <a:rPr lang="en-US" sz="1150" dirty="0">
                <a:solidFill>
                  <a:srgbClr val="5B6584"/>
                </a:solidFill>
                <a:latin typeface="Calibri" pitchFamily="34" charset="0"/>
                <a:ea typeface="Calibri" pitchFamily="34" charset="-122"/>
                <a:cs typeface="Calibri" pitchFamily="34" charset="-120"/>
              </a:rPr>
              <a:t>30 min</a:t>
            </a:r>
            <a:endParaRPr lang="en-US" sz="1150" dirty="0"/>
          </a:p>
        </p:txBody>
      </p:sp>
      <p:sp>
        <p:nvSpPr>
          <p:cNvPr id="38" name="Text 36"/>
          <p:cNvSpPr/>
          <p:nvPr/>
        </p:nvSpPr>
        <p:spPr>
          <a:xfrm>
            <a:off x="640080" y="5943600"/>
            <a:ext cx="10058400" cy="320040"/>
          </a:xfrm>
          <a:prstGeom prst="rect">
            <a:avLst/>
          </a:prstGeom>
          <a:noFill/>
          <a:ln/>
        </p:spPr>
        <p:txBody>
          <a:bodyPr wrap="square" rtlCol="0" anchor="ctr"/>
          <a:lstStyle/>
          <a:p>
            <a:pPr marL="0" indent="0">
              <a:buNone/>
            </a:pPr>
            <a:r>
              <a:rPr lang="en-US" sz="1050" i="1" dirty="0">
                <a:solidFill>
                  <a:srgbClr val="5B6584"/>
                </a:solidFill>
                <a:latin typeface="Calibri" pitchFamily="34" charset="0"/>
                <a:ea typeface="Calibri" pitchFamily="34" charset="-122"/>
                <a:cs typeface="Calibri" pitchFamily="34" charset="-120"/>
              </a:rPr>
              <a:t>* En verde: ejemplos resueltos paso a paso. Clase 100% teórica: sin computadora ni ejercicios. Incluye 10 min de apertura, 10 de cierre y 15 de descanso.</a:t>
            </a:r>
            <a:endParaRPr lang="en-US" sz="1050" dirty="0"/>
          </a:p>
        </p:txBody>
      </p:sp>
      <p:sp>
        <p:nvSpPr>
          <p:cNvPr id="39" name="Text 37"/>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DE LO ARTESANAL A LO QUE OFRECE EL SO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¿Por qué necesitamos otros mecanismos?</a:t>
            </a:r>
            <a:endParaRPr lang="en-US" sz="2800" dirty="0"/>
          </a:p>
        </p:txBody>
      </p:sp>
      <p:sp>
        <p:nvSpPr>
          <p:cNvPr id="6" name="Shape 4"/>
          <p:cNvSpPr/>
          <p:nvPr/>
        </p:nvSpPr>
        <p:spPr>
          <a:xfrm>
            <a:off x="640080" y="1828800"/>
            <a:ext cx="5349240" cy="3017520"/>
          </a:xfrm>
          <a:prstGeom prst="rect">
            <a:avLst/>
          </a:prstGeom>
          <a:solidFill>
            <a:srgbClr val="F2F4FB"/>
          </a:solidFill>
          <a:ln/>
        </p:spPr>
        <p:txBody>
          <a:bodyPr/>
          <a:lstStyle/>
          <a:p>
            <a:endParaRPr lang="es-PY"/>
          </a:p>
        </p:txBody>
      </p:sp>
      <p:sp>
        <p:nvSpPr>
          <p:cNvPr id="7" name="Text 5"/>
          <p:cNvSpPr/>
          <p:nvPr/>
        </p:nvSpPr>
        <p:spPr>
          <a:xfrm>
            <a:off x="868680" y="193852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Soluciones por software y hardware (Clase 7)</a:t>
            </a:r>
            <a:endParaRPr lang="en-US" sz="1450" dirty="0"/>
          </a:p>
        </p:txBody>
      </p:sp>
      <p:sp>
        <p:nvSpPr>
          <p:cNvPr id="8" name="Text 6"/>
          <p:cNvSpPr/>
          <p:nvPr/>
        </p:nvSpPr>
        <p:spPr>
          <a:xfrm>
            <a:off x="868680" y="2377440"/>
            <a:ext cx="4892040" cy="2377440"/>
          </a:xfrm>
          <a:prstGeom prst="rect">
            <a:avLst/>
          </a:prstGeom>
          <a:noFill/>
          <a:ln/>
        </p:spPr>
        <p:txBody>
          <a:bodyPr wrap="square" rtlCol="0" anchor="t"/>
          <a:lstStyle/>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 Dekker y Peterson: espera activa, complejas de verificar</a:t>
            </a:r>
            <a:endParaRPr lang="en-US" sz="1250" dirty="0"/>
          </a:p>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 Inhabilitar interrupciones: costoso, no sirve en multiprocesador</a:t>
            </a:r>
            <a:endParaRPr lang="en-US" sz="1250" dirty="0"/>
          </a:p>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 Instrucciones atómicas: espera activa, posible inanición e incluso interbloqueo</a:t>
            </a:r>
            <a:endParaRPr lang="en-US" sz="1250" dirty="0"/>
          </a:p>
        </p:txBody>
      </p:sp>
      <p:sp>
        <p:nvSpPr>
          <p:cNvPr id="9" name="Shape 7"/>
          <p:cNvSpPr/>
          <p:nvPr/>
        </p:nvSpPr>
        <p:spPr>
          <a:xfrm>
            <a:off x="6172200" y="1828800"/>
            <a:ext cx="5349240" cy="3017520"/>
          </a:xfrm>
          <a:prstGeom prst="rect">
            <a:avLst/>
          </a:prstGeom>
          <a:solidFill>
            <a:srgbClr val="1E2761"/>
          </a:solidFill>
          <a:ln/>
        </p:spPr>
        <p:txBody>
          <a:bodyPr/>
          <a:lstStyle/>
          <a:p>
            <a:endParaRPr lang="es-PY"/>
          </a:p>
        </p:txBody>
      </p:sp>
      <p:sp>
        <p:nvSpPr>
          <p:cNvPr id="10" name="Text 8"/>
          <p:cNvSpPr/>
          <p:nvPr/>
        </p:nvSpPr>
        <p:spPr>
          <a:xfrm>
            <a:off x="6400800" y="1938528"/>
            <a:ext cx="489204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Lo que viene hoy</a:t>
            </a:r>
            <a:endParaRPr lang="en-US" sz="1450" dirty="0"/>
          </a:p>
        </p:txBody>
      </p:sp>
      <p:sp>
        <p:nvSpPr>
          <p:cNvPr id="11" name="Text 9"/>
          <p:cNvSpPr/>
          <p:nvPr/>
        </p:nvSpPr>
        <p:spPr>
          <a:xfrm>
            <a:off x="6400800" y="2377440"/>
            <a:ext cx="4892040" cy="2377440"/>
          </a:xfrm>
          <a:prstGeom prst="rect">
            <a:avLst/>
          </a:prstGeom>
          <a:noFill/>
          <a:ln/>
        </p:spPr>
        <p:txBody>
          <a:bodyPr wrap="square" rtlCol="0" anchor="t"/>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Mecanismos que el sistema operativo o el lenguaje ofrecen ya construidos:</a:t>
            </a:r>
            <a:endParaRPr lang="en-US" sz="1250" dirty="0"/>
          </a:p>
          <a:p>
            <a:pPr marL="0" indent="0">
              <a:lnSpc>
                <a:spcPts val="1600"/>
              </a:lnSpc>
              <a:buNone/>
            </a:pPr>
            <a:endParaRPr lang="en-US" sz="1250" dirty="0"/>
          </a:p>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 Semáforos</a:t>
            </a:r>
            <a:endParaRPr lang="en-US" sz="1250" dirty="0"/>
          </a:p>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 Monitores</a:t>
            </a:r>
            <a:endParaRPr lang="en-US" sz="1250" dirty="0"/>
          </a:p>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 Paso de mensajes</a:t>
            </a:r>
            <a:endParaRPr lang="en-US" sz="1250" dirty="0"/>
          </a:p>
          <a:p>
            <a:pPr marL="0" indent="0">
              <a:lnSpc>
                <a:spcPts val="1600"/>
              </a:lnSpc>
              <a:buNone/>
            </a:pPr>
            <a:endParaRPr lang="en-US" sz="1250" dirty="0"/>
          </a:p>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y el problema que aparece al usarlos mal: el interbloqueo.</a:t>
            </a:r>
            <a:endParaRPr lang="en-US" sz="1250" dirty="0"/>
          </a:p>
        </p:txBody>
      </p:sp>
      <p:sp>
        <p:nvSpPr>
          <p:cNvPr id="12" name="Text 10"/>
          <p:cNvSpPr/>
          <p:nvPr/>
        </p:nvSpPr>
        <p:spPr>
          <a:xfrm>
            <a:off x="640080" y="5212080"/>
            <a:ext cx="10881360" cy="548640"/>
          </a:xfrm>
          <a:prstGeom prst="rect">
            <a:avLst/>
          </a:prstGeom>
          <a:noFill/>
          <a:ln/>
        </p:spPr>
        <p:txBody>
          <a:bodyPr wrap="square" rtlCol="0" anchor="ctr"/>
          <a:lstStyle/>
          <a:p>
            <a:pPr marL="0" indent="0">
              <a:buNone/>
            </a:pPr>
            <a:r>
              <a:rPr lang="en-US" sz="1350" i="1" dirty="0">
                <a:solidFill>
                  <a:srgbClr val="1E2761"/>
                </a:solidFill>
                <a:latin typeface="Calibri" pitchFamily="34" charset="0"/>
                <a:ea typeface="Calibri" pitchFamily="34" charset="-122"/>
                <a:cs typeface="Calibri" pitchFamily="34" charset="-120"/>
              </a:rPr>
              <a:t>Idea de fondo: dejar de "pelearse" con el hardware en cada programa, y usar herramientas más seguras.</a:t>
            </a:r>
            <a:endParaRPr lang="en-US" sz="1350" dirty="0"/>
          </a:p>
        </p:txBody>
      </p:sp>
      <p:sp>
        <p:nvSpPr>
          <p:cNvPr id="13" name="Text 11"/>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MECANISMO 1</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Semáforos: la idea de Dijkstra (1965)</a:t>
            </a:r>
            <a:endParaRPr lang="en-US" sz="2800" dirty="0"/>
          </a:p>
        </p:txBody>
      </p:sp>
      <p:sp>
        <p:nvSpPr>
          <p:cNvPr id="6" name="Shape 4"/>
          <p:cNvSpPr/>
          <p:nvPr/>
        </p:nvSpPr>
        <p:spPr>
          <a:xfrm>
            <a:off x="640080" y="1783080"/>
            <a:ext cx="10881360" cy="1554480"/>
          </a:xfrm>
          <a:prstGeom prst="rect">
            <a:avLst/>
          </a:prstGeom>
          <a:solidFill>
            <a:srgbClr val="232E6E"/>
          </a:solidFill>
          <a:ln/>
        </p:spPr>
        <p:txBody>
          <a:bodyPr/>
          <a:lstStyle/>
          <a:p>
            <a:endParaRPr lang="es-PY"/>
          </a:p>
        </p:txBody>
      </p:sp>
      <p:sp>
        <p:nvSpPr>
          <p:cNvPr id="7" name="Text 5"/>
          <p:cNvSpPr/>
          <p:nvPr/>
        </p:nvSpPr>
        <p:spPr>
          <a:xfrm>
            <a:off x="914400" y="1965960"/>
            <a:ext cx="10332720" cy="1234440"/>
          </a:xfrm>
          <a:prstGeom prst="rect">
            <a:avLst/>
          </a:prstGeom>
          <a:noFill/>
          <a:ln/>
        </p:spPr>
        <p:txBody>
          <a:bodyPr wrap="square" rtlCol="0" anchor="ctr"/>
          <a:lstStyle/>
          <a:p>
            <a:pPr marL="0" indent="0">
              <a:lnSpc>
                <a:spcPts val="2000"/>
              </a:lnSpc>
              <a:buNone/>
            </a:pPr>
            <a:r>
              <a:rPr lang="en-US" sz="1450" dirty="0">
                <a:solidFill>
                  <a:srgbClr val="FFFFFF"/>
                </a:solidFill>
                <a:latin typeface="Calibri" pitchFamily="34" charset="0"/>
                <a:ea typeface="Calibri" pitchFamily="34" charset="-122"/>
                <a:cs typeface="Calibri" pitchFamily="34" charset="-120"/>
              </a:rPr>
              <a:t>Dos o más procesos pueden cooperar mediante señales simples, y un proceso puede ser obligado a detenerse en cualquier punto hasta recibir una señal específica. Esas señales se hacen con variables llamadas semáforos.</a:t>
            </a:r>
            <a:endParaRPr lang="en-US" sz="1450" dirty="0"/>
          </a:p>
        </p:txBody>
      </p:sp>
      <p:sp>
        <p:nvSpPr>
          <p:cNvPr id="8" name="Shape 6"/>
          <p:cNvSpPr/>
          <p:nvPr/>
        </p:nvSpPr>
        <p:spPr>
          <a:xfrm>
            <a:off x="640080" y="3611880"/>
            <a:ext cx="5349240" cy="2194560"/>
          </a:xfrm>
          <a:prstGeom prst="rect">
            <a:avLst/>
          </a:prstGeom>
          <a:solidFill>
            <a:srgbClr val="F2F4FB"/>
          </a:solidFill>
          <a:ln/>
        </p:spPr>
        <p:txBody>
          <a:bodyPr/>
          <a:lstStyle/>
          <a:p>
            <a:endParaRPr lang="es-PY"/>
          </a:p>
        </p:txBody>
      </p:sp>
      <p:sp>
        <p:nvSpPr>
          <p:cNvPr id="9" name="Text 7"/>
          <p:cNvSpPr/>
          <p:nvPr/>
        </p:nvSpPr>
        <p:spPr>
          <a:xfrm>
            <a:off x="868680" y="372160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signal(S)</a:t>
            </a:r>
            <a:endParaRPr lang="en-US" sz="1450" dirty="0"/>
          </a:p>
        </p:txBody>
      </p:sp>
      <p:sp>
        <p:nvSpPr>
          <p:cNvPr id="10" name="Text 8"/>
          <p:cNvSpPr/>
          <p:nvPr/>
        </p:nvSpPr>
        <p:spPr>
          <a:xfrm>
            <a:off x="868680" y="4160520"/>
            <a:ext cx="4892040" cy="1554480"/>
          </a:xfrm>
          <a:prstGeom prst="rect">
            <a:avLst/>
          </a:prstGeom>
          <a:noFill/>
          <a:ln/>
        </p:spPr>
        <p:txBody>
          <a:bodyPr wrap="square" rtlCol="0" anchor="t"/>
          <a:lstStyle/>
          <a:p>
            <a:pPr marL="0" indent="0">
              <a:lnSpc>
                <a:spcPts val="1600"/>
              </a:lnSpc>
              <a:buNone/>
            </a:pPr>
            <a:r>
              <a:rPr lang="en-US" sz="1400" dirty="0">
                <a:solidFill>
                  <a:srgbClr val="1B1F3B"/>
                </a:solidFill>
                <a:latin typeface="Calibri" pitchFamily="34" charset="0"/>
                <a:ea typeface="Calibri" pitchFamily="34" charset="-122"/>
                <a:cs typeface="Calibri" pitchFamily="34" charset="-120"/>
              </a:rPr>
              <a:t>Envía una señal por el semáforo S.</a:t>
            </a:r>
            <a:endParaRPr lang="en-US" sz="1400" dirty="0"/>
          </a:p>
        </p:txBody>
      </p:sp>
      <p:sp>
        <p:nvSpPr>
          <p:cNvPr id="11" name="Shape 9"/>
          <p:cNvSpPr/>
          <p:nvPr/>
        </p:nvSpPr>
        <p:spPr>
          <a:xfrm>
            <a:off x="6172200" y="3611880"/>
            <a:ext cx="5349240" cy="2194560"/>
          </a:xfrm>
          <a:prstGeom prst="rect">
            <a:avLst/>
          </a:prstGeom>
          <a:solidFill>
            <a:srgbClr val="F2F4FB"/>
          </a:solidFill>
          <a:ln/>
        </p:spPr>
        <p:txBody>
          <a:bodyPr/>
          <a:lstStyle/>
          <a:p>
            <a:endParaRPr lang="es-PY"/>
          </a:p>
        </p:txBody>
      </p:sp>
      <p:sp>
        <p:nvSpPr>
          <p:cNvPr id="12" name="Text 10"/>
          <p:cNvSpPr/>
          <p:nvPr/>
        </p:nvSpPr>
        <p:spPr>
          <a:xfrm>
            <a:off x="6400800" y="372160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wait(S)</a:t>
            </a:r>
            <a:endParaRPr lang="en-US" sz="1450" dirty="0"/>
          </a:p>
        </p:txBody>
      </p:sp>
      <p:sp>
        <p:nvSpPr>
          <p:cNvPr id="13" name="Text 11"/>
          <p:cNvSpPr/>
          <p:nvPr/>
        </p:nvSpPr>
        <p:spPr>
          <a:xfrm>
            <a:off x="6400800" y="4160520"/>
            <a:ext cx="4892040" cy="1554480"/>
          </a:xfrm>
          <a:prstGeom prst="rect">
            <a:avLst/>
          </a:prstGeom>
          <a:noFill/>
          <a:ln/>
        </p:spPr>
        <p:txBody>
          <a:bodyPr wrap="square" rtlCol="0" anchor="t"/>
          <a:lstStyle/>
          <a:p>
            <a:pPr marL="0" indent="0">
              <a:lnSpc>
                <a:spcPts val="1600"/>
              </a:lnSpc>
              <a:buNone/>
            </a:pPr>
            <a:r>
              <a:rPr lang="en-US" sz="1300" dirty="0">
                <a:solidFill>
                  <a:srgbClr val="1B1F3B"/>
                </a:solidFill>
                <a:latin typeface="Calibri" pitchFamily="34" charset="0"/>
                <a:ea typeface="Calibri" pitchFamily="34" charset="-122"/>
                <a:cs typeface="Calibri" pitchFamily="34" charset="-120"/>
              </a:rPr>
              <a:t>Recibe una señal del semáforo S. Si la señal no se transmitió, el proceso queda suspendido hasta que llegue.</a:t>
            </a:r>
            <a:endParaRPr lang="en-US" sz="1300" dirty="0"/>
          </a:p>
        </p:txBody>
      </p:sp>
      <p:sp>
        <p:nvSpPr>
          <p:cNvPr id="14" name="Text 1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CÓMO FUNCIONA POR DENTRO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Las 3 operaciones y los tipos de semáforo</a:t>
            </a:r>
            <a:endParaRPr lang="en-US" sz="2800" dirty="0"/>
          </a:p>
        </p:txBody>
      </p:sp>
      <p:sp>
        <p:nvSpPr>
          <p:cNvPr id="6" name="Shape 4"/>
          <p:cNvSpPr/>
          <p:nvPr/>
        </p:nvSpPr>
        <p:spPr>
          <a:xfrm>
            <a:off x="640080" y="1737360"/>
            <a:ext cx="5349240" cy="2743200"/>
          </a:xfrm>
          <a:prstGeom prst="rect">
            <a:avLst/>
          </a:prstGeom>
          <a:solidFill>
            <a:srgbClr val="1B1F2B"/>
          </a:solidFill>
          <a:ln/>
        </p:spPr>
        <p:txBody>
          <a:bodyPr/>
          <a:lstStyle/>
          <a:p>
            <a:endParaRPr lang="es-PY"/>
          </a:p>
        </p:txBody>
      </p:sp>
      <p:sp>
        <p:nvSpPr>
          <p:cNvPr id="7" name="Text 5"/>
          <p:cNvSpPr/>
          <p:nvPr/>
        </p:nvSpPr>
        <p:spPr>
          <a:xfrm>
            <a:off x="868680" y="1847088"/>
            <a:ext cx="4892040" cy="2523744"/>
          </a:xfrm>
          <a:prstGeom prst="rect">
            <a:avLst/>
          </a:prstGeom>
          <a:noFill/>
          <a:ln/>
        </p:spPr>
        <p:txBody>
          <a:bodyPr wrap="square" rtlCol="0" anchor="t"/>
          <a:lstStyle/>
          <a:p>
            <a:pPr marL="0" indent="0">
              <a:lnSpc>
                <a:spcPts val="1400"/>
              </a:lnSpc>
              <a:buNone/>
            </a:pPr>
            <a:r>
              <a:rPr lang="en-US" sz="1100" dirty="0">
                <a:solidFill>
                  <a:srgbClr val="8CE99A"/>
                </a:solidFill>
                <a:latin typeface="Consolas" pitchFamily="34" charset="0"/>
                <a:ea typeface="Consolas" pitchFamily="34" charset="-122"/>
                <a:cs typeface="Consolas" pitchFamily="34" charset="-120"/>
              </a:rPr>
              <a:t>wait(s):</a:t>
            </a:r>
            <a:endParaRPr lang="en-US" sz="1100" dirty="0"/>
          </a:p>
          <a:p>
            <a:pPr marL="0" indent="0">
              <a:lnSpc>
                <a:spcPts val="1400"/>
              </a:lnSpc>
              <a:buNone/>
            </a:pPr>
            <a:r>
              <a:rPr lang="en-US" sz="1100" dirty="0">
                <a:solidFill>
                  <a:srgbClr val="8CE99A"/>
                </a:solidFill>
                <a:latin typeface="Consolas" pitchFamily="34" charset="0"/>
                <a:ea typeface="Consolas" pitchFamily="34" charset="-122"/>
                <a:cs typeface="Consolas" pitchFamily="34" charset="-120"/>
              </a:rPr>
              <a:t>  s.contador := s.contador - 1</a:t>
            </a:r>
            <a:endParaRPr lang="en-US" sz="1100" dirty="0"/>
          </a:p>
          <a:p>
            <a:pPr marL="0" indent="0">
              <a:lnSpc>
                <a:spcPts val="1400"/>
              </a:lnSpc>
              <a:buNone/>
            </a:pPr>
            <a:r>
              <a:rPr lang="en-US" sz="1100" dirty="0">
                <a:solidFill>
                  <a:srgbClr val="8CE99A"/>
                </a:solidFill>
                <a:latin typeface="Consolas" pitchFamily="34" charset="0"/>
                <a:ea typeface="Consolas" pitchFamily="34" charset="-122"/>
                <a:cs typeface="Consolas" pitchFamily="34" charset="-120"/>
              </a:rPr>
              <a:t>  si s.contador &lt; 0 entonces</a:t>
            </a:r>
            <a:endParaRPr lang="en-US" sz="1100" dirty="0"/>
          </a:p>
          <a:p>
            <a:pPr marL="0" indent="0">
              <a:lnSpc>
                <a:spcPts val="1400"/>
              </a:lnSpc>
              <a:buNone/>
            </a:pPr>
            <a:r>
              <a:rPr lang="en-US" sz="1100" dirty="0">
                <a:solidFill>
                  <a:srgbClr val="8CE99A"/>
                </a:solidFill>
                <a:latin typeface="Consolas" pitchFamily="34" charset="0"/>
                <a:ea typeface="Consolas" pitchFamily="34" charset="-122"/>
                <a:cs typeface="Consolas" pitchFamily="34" charset="-120"/>
              </a:rPr>
              <a:t>     poner este proceso en s.cola</a:t>
            </a:r>
            <a:endParaRPr lang="en-US" sz="1100" dirty="0"/>
          </a:p>
          <a:p>
            <a:pPr marL="0" indent="0">
              <a:lnSpc>
                <a:spcPts val="1400"/>
              </a:lnSpc>
              <a:buNone/>
            </a:pPr>
            <a:r>
              <a:rPr lang="en-US" sz="1100" dirty="0">
                <a:solidFill>
                  <a:srgbClr val="8CE99A"/>
                </a:solidFill>
                <a:latin typeface="Consolas" pitchFamily="34" charset="0"/>
                <a:ea typeface="Consolas" pitchFamily="34" charset="-122"/>
                <a:cs typeface="Consolas" pitchFamily="34" charset="-120"/>
              </a:rPr>
              <a:t>     bloquear este proceso</a:t>
            </a:r>
            <a:endParaRPr lang="en-US" sz="1100" dirty="0"/>
          </a:p>
          <a:p>
            <a:pPr marL="0" indent="0">
              <a:lnSpc>
                <a:spcPts val="1400"/>
              </a:lnSpc>
              <a:buNone/>
            </a:pPr>
            <a:endParaRPr lang="en-US" sz="1100" dirty="0"/>
          </a:p>
          <a:p>
            <a:pPr marL="0" indent="0">
              <a:lnSpc>
                <a:spcPts val="1400"/>
              </a:lnSpc>
              <a:buNone/>
            </a:pPr>
            <a:r>
              <a:rPr lang="en-US" sz="1100" dirty="0">
                <a:solidFill>
                  <a:srgbClr val="8CE99A"/>
                </a:solidFill>
                <a:latin typeface="Consolas" pitchFamily="34" charset="0"/>
                <a:ea typeface="Consolas" pitchFamily="34" charset="-122"/>
                <a:cs typeface="Consolas" pitchFamily="34" charset="-120"/>
              </a:rPr>
              <a:t>signal(s):</a:t>
            </a:r>
            <a:endParaRPr lang="en-US" sz="1100" dirty="0"/>
          </a:p>
          <a:p>
            <a:pPr marL="0" indent="0">
              <a:lnSpc>
                <a:spcPts val="1400"/>
              </a:lnSpc>
              <a:buNone/>
            </a:pPr>
            <a:r>
              <a:rPr lang="en-US" sz="1100" dirty="0">
                <a:solidFill>
                  <a:srgbClr val="8CE99A"/>
                </a:solidFill>
                <a:latin typeface="Consolas" pitchFamily="34" charset="0"/>
                <a:ea typeface="Consolas" pitchFamily="34" charset="-122"/>
                <a:cs typeface="Consolas" pitchFamily="34" charset="-120"/>
              </a:rPr>
              <a:t>  s.contador := s.contador + 1</a:t>
            </a:r>
            <a:endParaRPr lang="en-US" sz="1100" dirty="0"/>
          </a:p>
          <a:p>
            <a:pPr marL="0" indent="0">
              <a:lnSpc>
                <a:spcPts val="1400"/>
              </a:lnSpc>
              <a:buNone/>
            </a:pPr>
            <a:r>
              <a:rPr lang="en-US" sz="1100" dirty="0">
                <a:solidFill>
                  <a:srgbClr val="8CE99A"/>
                </a:solidFill>
                <a:latin typeface="Consolas" pitchFamily="34" charset="0"/>
                <a:ea typeface="Consolas" pitchFamily="34" charset="-122"/>
                <a:cs typeface="Consolas" pitchFamily="34" charset="-120"/>
              </a:rPr>
              <a:t>  si s.contador &lt;= 0 entonces</a:t>
            </a:r>
            <a:endParaRPr lang="en-US" sz="1100" dirty="0"/>
          </a:p>
          <a:p>
            <a:pPr marL="0" indent="0">
              <a:lnSpc>
                <a:spcPts val="1400"/>
              </a:lnSpc>
              <a:buNone/>
            </a:pPr>
            <a:r>
              <a:rPr lang="en-US" sz="1100" dirty="0">
                <a:solidFill>
                  <a:srgbClr val="8CE99A"/>
                </a:solidFill>
                <a:latin typeface="Consolas" pitchFamily="34" charset="0"/>
                <a:ea typeface="Consolas" pitchFamily="34" charset="-122"/>
                <a:cs typeface="Consolas" pitchFamily="34" charset="-120"/>
              </a:rPr>
              <a:t>     quitar un proceso P de s.cola</a:t>
            </a:r>
            <a:endParaRPr lang="en-US" sz="1100" dirty="0"/>
          </a:p>
          <a:p>
            <a:pPr marL="0" indent="0">
              <a:lnSpc>
                <a:spcPts val="1400"/>
              </a:lnSpc>
              <a:buNone/>
            </a:pPr>
            <a:r>
              <a:rPr lang="en-US" sz="1100" dirty="0">
                <a:solidFill>
                  <a:srgbClr val="8CE99A"/>
                </a:solidFill>
                <a:latin typeface="Consolas" pitchFamily="34" charset="0"/>
                <a:ea typeface="Consolas" pitchFamily="34" charset="-122"/>
                <a:cs typeface="Consolas" pitchFamily="34" charset="-120"/>
              </a:rPr>
              <a:t>     poner P en la cola de listos</a:t>
            </a:r>
            <a:endParaRPr lang="en-US" sz="1100" dirty="0"/>
          </a:p>
        </p:txBody>
      </p:sp>
      <p:sp>
        <p:nvSpPr>
          <p:cNvPr id="8" name="Shape 6"/>
          <p:cNvSpPr/>
          <p:nvPr/>
        </p:nvSpPr>
        <p:spPr>
          <a:xfrm>
            <a:off x="6172200" y="1737360"/>
            <a:ext cx="5349240" cy="1234440"/>
          </a:xfrm>
          <a:prstGeom prst="rect">
            <a:avLst/>
          </a:prstGeom>
          <a:solidFill>
            <a:srgbClr val="F2F4FB"/>
          </a:solidFill>
          <a:ln/>
        </p:spPr>
        <p:txBody>
          <a:bodyPr/>
          <a:lstStyle/>
          <a:p>
            <a:endParaRPr lang="es-PY"/>
          </a:p>
        </p:txBody>
      </p:sp>
      <p:sp>
        <p:nvSpPr>
          <p:cNvPr id="9" name="Text 7"/>
          <p:cNvSpPr/>
          <p:nvPr/>
        </p:nvSpPr>
        <p:spPr>
          <a:xfrm>
            <a:off x="6400800" y="184708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1. Inicialización</a:t>
            </a:r>
            <a:endParaRPr lang="en-US" sz="1450" dirty="0"/>
          </a:p>
        </p:txBody>
      </p:sp>
      <p:sp>
        <p:nvSpPr>
          <p:cNvPr id="10" name="Text 8"/>
          <p:cNvSpPr/>
          <p:nvPr/>
        </p:nvSpPr>
        <p:spPr>
          <a:xfrm>
            <a:off x="6400800" y="2286000"/>
            <a:ext cx="4892040" cy="594360"/>
          </a:xfrm>
          <a:prstGeom prst="rect">
            <a:avLst/>
          </a:prstGeom>
          <a:noFill/>
          <a:ln/>
        </p:spPr>
        <p:txBody>
          <a:bodyPr wrap="square" rtlCol="0" anchor="t"/>
          <a:lstStyle/>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El semáforo se inicia con un valor entero NO negativo.</a:t>
            </a:r>
            <a:endParaRPr lang="en-US" sz="1250" dirty="0"/>
          </a:p>
        </p:txBody>
      </p:sp>
      <p:sp>
        <p:nvSpPr>
          <p:cNvPr id="11" name="Shape 9"/>
          <p:cNvSpPr/>
          <p:nvPr/>
        </p:nvSpPr>
        <p:spPr>
          <a:xfrm>
            <a:off x="6172200" y="3063240"/>
            <a:ext cx="5349240" cy="1417320"/>
          </a:xfrm>
          <a:prstGeom prst="rect">
            <a:avLst/>
          </a:prstGeom>
          <a:solidFill>
            <a:srgbClr val="F2F4FB"/>
          </a:solidFill>
          <a:ln/>
        </p:spPr>
        <p:txBody>
          <a:bodyPr/>
          <a:lstStyle/>
          <a:p>
            <a:endParaRPr lang="es-PY"/>
          </a:p>
        </p:txBody>
      </p:sp>
      <p:sp>
        <p:nvSpPr>
          <p:cNvPr id="12" name="Text 10"/>
          <p:cNvSpPr/>
          <p:nvPr/>
        </p:nvSpPr>
        <p:spPr>
          <a:xfrm>
            <a:off x="6400800" y="317296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2 y 3. wait / signal</a:t>
            </a:r>
            <a:endParaRPr lang="en-US" sz="1450" dirty="0"/>
          </a:p>
        </p:txBody>
      </p:sp>
      <p:sp>
        <p:nvSpPr>
          <p:cNvPr id="13" name="Text 11"/>
          <p:cNvSpPr/>
          <p:nvPr/>
        </p:nvSpPr>
        <p:spPr>
          <a:xfrm>
            <a:off x="6400800" y="3611880"/>
            <a:ext cx="4892040" cy="777240"/>
          </a:xfrm>
          <a:prstGeom prst="rect">
            <a:avLst/>
          </a:prstGeom>
          <a:noFill/>
          <a:ln/>
        </p:spPr>
        <p:txBody>
          <a:bodyPr wrap="square" rtlCol="0" anchor="t"/>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wait decrementa (y bloquea si queda negativo). signal incrementa (y despierta a un proceso si había alguien esperando).</a:t>
            </a:r>
            <a:endParaRPr lang="en-US" sz="1200" dirty="0"/>
          </a:p>
        </p:txBody>
      </p:sp>
      <p:sp>
        <p:nvSpPr>
          <p:cNvPr id="14" name="Shape 12"/>
          <p:cNvSpPr/>
          <p:nvPr/>
        </p:nvSpPr>
        <p:spPr>
          <a:xfrm>
            <a:off x="640080" y="4709160"/>
            <a:ext cx="5349240" cy="1371600"/>
          </a:xfrm>
          <a:prstGeom prst="rect">
            <a:avLst/>
          </a:prstGeom>
          <a:solidFill>
            <a:srgbClr val="1E2761"/>
          </a:solidFill>
          <a:ln/>
        </p:spPr>
        <p:txBody>
          <a:bodyPr/>
          <a:lstStyle/>
          <a:p>
            <a:endParaRPr lang="es-PY"/>
          </a:p>
        </p:txBody>
      </p:sp>
      <p:sp>
        <p:nvSpPr>
          <p:cNvPr id="15" name="Text 13"/>
          <p:cNvSpPr/>
          <p:nvPr/>
        </p:nvSpPr>
        <p:spPr>
          <a:xfrm>
            <a:off x="868680" y="4818888"/>
            <a:ext cx="489204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Semáforo binario</a:t>
            </a:r>
            <a:endParaRPr lang="en-US" sz="1450" dirty="0"/>
          </a:p>
        </p:txBody>
      </p:sp>
      <p:sp>
        <p:nvSpPr>
          <p:cNvPr id="16" name="Text 14"/>
          <p:cNvSpPr/>
          <p:nvPr/>
        </p:nvSpPr>
        <p:spPr>
          <a:xfrm>
            <a:off x="868680" y="5257800"/>
            <a:ext cx="4892040" cy="731520"/>
          </a:xfrm>
          <a:prstGeom prst="rect">
            <a:avLst/>
          </a:prstGeom>
          <a:noFill/>
          <a:ln/>
        </p:spPr>
        <p:txBody>
          <a:bodyPr wrap="square" rtlCol="0" anchor="t"/>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Solo toma valores 0 y 1. Más sencillo de implementar y con el mismo poder de expresión que el general.</a:t>
            </a:r>
            <a:endParaRPr lang="en-US" sz="1200" dirty="0"/>
          </a:p>
        </p:txBody>
      </p:sp>
      <p:sp>
        <p:nvSpPr>
          <p:cNvPr id="17" name="Shape 15"/>
          <p:cNvSpPr/>
          <p:nvPr/>
        </p:nvSpPr>
        <p:spPr>
          <a:xfrm>
            <a:off x="6172200" y="4709160"/>
            <a:ext cx="5349240" cy="1371600"/>
          </a:xfrm>
          <a:prstGeom prst="rect">
            <a:avLst/>
          </a:prstGeom>
          <a:solidFill>
            <a:srgbClr val="1E2761"/>
          </a:solidFill>
          <a:ln/>
        </p:spPr>
        <p:txBody>
          <a:bodyPr/>
          <a:lstStyle/>
          <a:p>
            <a:endParaRPr lang="es-PY"/>
          </a:p>
        </p:txBody>
      </p:sp>
      <p:sp>
        <p:nvSpPr>
          <p:cNvPr id="18" name="Text 16"/>
          <p:cNvSpPr/>
          <p:nvPr/>
        </p:nvSpPr>
        <p:spPr>
          <a:xfrm>
            <a:off x="6400800" y="4818888"/>
            <a:ext cx="489204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Cola de espera</a:t>
            </a:r>
            <a:endParaRPr lang="en-US" sz="1450" dirty="0"/>
          </a:p>
        </p:txBody>
      </p:sp>
      <p:sp>
        <p:nvSpPr>
          <p:cNvPr id="19" name="Text 17"/>
          <p:cNvSpPr/>
          <p:nvPr/>
        </p:nvSpPr>
        <p:spPr>
          <a:xfrm>
            <a:off x="6400800" y="5257800"/>
            <a:ext cx="4892040" cy="731520"/>
          </a:xfrm>
          <a:prstGeom prst="rect">
            <a:avLst/>
          </a:prstGeom>
          <a:noFill/>
          <a:ln/>
        </p:spPr>
        <p:txBody>
          <a:bodyPr wrap="square" rtlCol="0" anchor="t"/>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Lo más justo es FIFO: se libera al que más tiempo lleva bloqueado. Ningún proceso puede quedar retenido indefinidamente.</a:t>
            </a:r>
            <a:endParaRPr lang="en-US" sz="1200" dirty="0"/>
          </a:p>
        </p:txBody>
      </p:sp>
      <p:sp>
        <p:nvSpPr>
          <p:cNvPr id="20" name="Text 18"/>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APLICACIÓN 1</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Exclusión mutua con un semáforo</a:t>
            </a:r>
            <a:endParaRPr lang="en-US" sz="2800" dirty="0"/>
          </a:p>
        </p:txBody>
      </p:sp>
      <p:sp>
        <p:nvSpPr>
          <p:cNvPr id="6" name="Shape 4"/>
          <p:cNvSpPr/>
          <p:nvPr/>
        </p:nvSpPr>
        <p:spPr>
          <a:xfrm>
            <a:off x="640080" y="1783080"/>
            <a:ext cx="5486400" cy="2377440"/>
          </a:xfrm>
          <a:prstGeom prst="rect">
            <a:avLst/>
          </a:prstGeom>
          <a:solidFill>
            <a:srgbClr val="1B1F2B"/>
          </a:solidFill>
          <a:ln/>
        </p:spPr>
        <p:txBody>
          <a:bodyPr/>
          <a:lstStyle/>
          <a:p>
            <a:endParaRPr lang="es-PY"/>
          </a:p>
        </p:txBody>
      </p:sp>
      <p:sp>
        <p:nvSpPr>
          <p:cNvPr id="7" name="Text 5"/>
          <p:cNvSpPr/>
          <p:nvPr/>
        </p:nvSpPr>
        <p:spPr>
          <a:xfrm>
            <a:off x="868680" y="1892808"/>
            <a:ext cx="5029200" cy="2157984"/>
          </a:xfrm>
          <a:prstGeom prst="rect">
            <a:avLst/>
          </a:prstGeom>
          <a:noFill/>
          <a:ln/>
        </p:spPr>
        <p:txBody>
          <a:bodyPr wrap="square" rtlCol="0" anchor="t"/>
          <a:lstStyle/>
          <a:p>
            <a:pPr marL="0" indent="0">
              <a:lnSpc>
                <a:spcPts val="1600"/>
              </a:lnSpc>
              <a:buNone/>
            </a:pPr>
            <a:r>
              <a:rPr lang="en-US" sz="1300" dirty="0">
                <a:solidFill>
                  <a:srgbClr val="8CE99A"/>
                </a:solidFill>
                <a:latin typeface="Consolas" pitchFamily="34" charset="0"/>
                <a:ea typeface="Consolas" pitchFamily="34" charset="-122"/>
                <a:cs typeface="Consolas" pitchFamily="34" charset="-120"/>
              </a:rPr>
              <a:t>var s: semáforo := 1;</a:t>
            </a:r>
            <a:endParaRPr lang="en-US" sz="1300" dirty="0"/>
          </a:p>
          <a:p>
            <a:pPr marL="0" indent="0">
              <a:lnSpc>
                <a:spcPts val="1600"/>
              </a:lnSpc>
              <a:buNone/>
            </a:pPr>
            <a:endParaRPr lang="en-US" sz="1300" dirty="0"/>
          </a:p>
          <a:p>
            <a:pPr marL="0" indent="0">
              <a:lnSpc>
                <a:spcPts val="1600"/>
              </a:lnSpc>
              <a:buNone/>
            </a:pPr>
            <a:r>
              <a:rPr lang="en-US" sz="1300" dirty="0">
                <a:solidFill>
                  <a:srgbClr val="8CE99A"/>
                </a:solidFill>
                <a:latin typeface="Consolas" pitchFamily="34" charset="0"/>
                <a:ea typeface="Consolas" pitchFamily="34" charset="-122"/>
                <a:cs typeface="Consolas" pitchFamily="34" charset="-120"/>
              </a:rPr>
              <a:t>procedure P(i):</a:t>
            </a:r>
            <a:endParaRPr lang="en-US" sz="1300" dirty="0"/>
          </a:p>
          <a:p>
            <a:pPr marL="0" indent="0">
              <a:lnSpc>
                <a:spcPts val="1600"/>
              </a:lnSpc>
              <a:buNone/>
            </a:pPr>
            <a:r>
              <a:rPr lang="en-US" sz="1300" dirty="0">
                <a:solidFill>
                  <a:srgbClr val="8CE99A"/>
                </a:solidFill>
                <a:latin typeface="Consolas" pitchFamily="34" charset="0"/>
                <a:ea typeface="Consolas" pitchFamily="34" charset="-122"/>
                <a:cs typeface="Consolas" pitchFamily="34" charset="-120"/>
              </a:rPr>
              <a:t>  repetir</a:t>
            </a:r>
            <a:endParaRPr lang="en-US" sz="1300" dirty="0"/>
          </a:p>
          <a:p>
            <a:pPr marL="0" indent="0">
              <a:lnSpc>
                <a:spcPts val="1600"/>
              </a:lnSpc>
              <a:buNone/>
            </a:pPr>
            <a:r>
              <a:rPr lang="en-US" sz="1300" dirty="0">
                <a:solidFill>
                  <a:srgbClr val="8CE99A"/>
                </a:solidFill>
                <a:latin typeface="Consolas" pitchFamily="34" charset="0"/>
                <a:ea typeface="Consolas" pitchFamily="34" charset="-122"/>
                <a:cs typeface="Consolas" pitchFamily="34" charset="-120"/>
              </a:rPr>
              <a:t>    wait(s);</a:t>
            </a:r>
            <a:endParaRPr lang="en-US" sz="1300" dirty="0"/>
          </a:p>
          <a:p>
            <a:pPr marL="0" indent="0">
              <a:lnSpc>
                <a:spcPts val="1600"/>
              </a:lnSpc>
              <a:buNone/>
            </a:pPr>
            <a:r>
              <a:rPr lang="en-US" sz="1300" dirty="0">
                <a:solidFill>
                  <a:srgbClr val="8CE99A"/>
                </a:solidFill>
                <a:latin typeface="Consolas" pitchFamily="34" charset="0"/>
                <a:ea typeface="Consolas" pitchFamily="34" charset="-122"/>
                <a:cs typeface="Consolas" pitchFamily="34" charset="-120"/>
              </a:rPr>
              <a:t>    &lt;sección crítica&gt;;</a:t>
            </a:r>
            <a:endParaRPr lang="en-US" sz="1300" dirty="0"/>
          </a:p>
          <a:p>
            <a:pPr marL="0" indent="0">
              <a:lnSpc>
                <a:spcPts val="1600"/>
              </a:lnSpc>
              <a:buNone/>
            </a:pPr>
            <a:r>
              <a:rPr lang="en-US" sz="1300" dirty="0">
                <a:solidFill>
                  <a:srgbClr val="8CE99A"/>
                </a:solidFill>
                <a:latin typeface="Consolas" pitchFamily="34" charset="0"/>
                <a:ea typeface="Consolas" pitchFamily="34" charset="-122"/>
                <a:cs typeface="Consolas" pitchFamily="34" charset="-120"/>
              </a:rPr>
              <a:t>    signal(s);</a:t>
            </a:r>
            <a:endParaRPr lang="en-US" sz="1300" dirty="0"/>
          </a:p>
          <a:p>
            <a:pPr marL="0" indent="0">
              <a:lnSpc>
                <a:spcPts val="1600"/>
              </a:lnSpc>
              <a:buNone/>
            </a:pPr>
            <a:r>
              <a:rPr lang="en-US" sz="1300" dirty="0">
                <a:solidFill>
                  <a:srgbClr val="8CE99A"/>
                </a:solidFill>
                <a:latin typeface="Consolas" pitchFamily="34" charset="0"/>
                <a:ea typeface="Consolas" pitchFamily="34" charset="-122"/>
                <a:cs typeface="Consolas" pitchFamily="34" charset="-120"/>
              </a:rPr>
              <a:t>    &lt;resto&gt;</a:t>
            </a:r>
            <a:endParaRPr lang="en-US" sz="1300" dirty="0"/>
          </a:p>
          <a:p>
            <a:pPr marL="0" indent="0">
              <a:lnSpc>
                <a:spcPts val="1600"/>
              </a:lnSpc>
              <a:buNone/>
            </a:pPr>
            <a:r>
              <a:rPr lang="en-US" sz="1300" dirty="0">
                <a:solidFill>
                  <a:srgbClr val="8CE99A"/>
                </a:solidFill>
                <a:latin typeface="Consolas" pitchFamily="34" charset="0"/>
                <a:ea typeface="Consolas" pitchFamily="34" charset="-122"/>
                <a:cs typeface="Consolas" pitchFamily="34" charset="-120"/>
              </a:rPr>
              <a:t>  siempre</a:t>
            </a:r>
            <a:endParaRPr lang="en-US" sz="1300" dirty="0"/>
          </a:p>
        </p:txBody>
      </p:sp>
      <p:sp>
        <p:nvSpPr>
          <p:cNvPr id="8" name="Shape 6"/>
          <p:cNvSpPr/>
          <p:nvPr/>
        </p:nvSpPr>
        <p:spPr>
          <a:xfrm>
            <a:off x="6309360" y="1783080"/>
            <a:ext cx="5212080" cy="1143000"/>
          </a:xfrm>
          <a:prstGeom prst="rect">
            <a:avLst/>
          </a:prstGeom>
          <a:solidFill>
            <a:srgbClr val="F2F4FB"/>
          </a:solidFill>
          <a:ln/>
        </p:spPr>
        <p:txBody>
          <a:bodyPr/>
          <a:lstStyle/>
          <a:p>
            <a:endParaRPr lang="es-PY"/>
          </a:p>
        </p:txBody>
      </p:sp>
      <p:sp>
        <p:nvSpPr>
          <p:cNvPr id="9" name="Text 7"/>
          <p:cNvSpPr/>
          <p:nvPr/>
        </p:nvSpPr>
        <p:spPr>
          <a:xfrm>
            <a:off x="6537960" y="1892808"/>
            <a:ext cx="475488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s.contador ≥ 0</a:t>
            </a:r>
            <a:endParaRPr lang="en-US" sz="1450" dirty="0"/>
          </a:p>
        </p:txBody>
      </p:sp>
      <p:sp>
        <p:nvSpPr>
          <p:cNvPr id="10" name="Text 8"/>
          <p:cNvSpPr/>
          <p:nvPr/>
        </p:nvSpPr>
        <p:spPr>
          <a:xfrm>
            <a:off x="6537960" y="2331720"/>
            <a:ext cx="4754880" cy="502920"/>
          </a:xfrm>
          <a:prstGeom prst="rect">
            <a:avLst/>
          </a:prstGeom>
          <a:noFill/>
          <a:ln/>
        </p:spPr>
        <p:txBody>
          <a:bodyPr wrap="square" rtlCol="0" anchor="t"/>
          <a:lstStyle/>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Número de procesos que pueden hacer wait(s) sin bloquearse.</a:t>
            </a:r>
            <a:endParaRPr lang="en-US" sz="1250" dirty="0"/>
          </a:p>
        </p:txBody>
      </p:sp>
      <p:sp>
        <p:nvSpPr>
          <p:cNvPr id="11" name="Shape 9"/>
          <p:cNvSpPr/>
          <p:nvPr/>
        </p:nvSpPr>
        <p:spPr>
          <a:xfrm>
            <a:off x="6309360" y="3017520"/>
            <a:ext cx="5212080" cy="1143000"/>
          </a:xfrm>
          <a:prstGeom prst="rect">
            <a:avLst/>
          </a:prstGeom>
          <a:solidFill>
            <a:srgbClr val="F2F4FB"/>
          </a:solidFill>
          <a:ln/>
        </p:spPr>
        <p:txBody>
          <a:bodyPr/>
          <a:lstStyle/>
          <a:p>
            <a:endParaRPr lang="es-PY"/>
          </a:p>
        </p:txBody>
      </p:sp>
      <p:sp>
        <p:nvSpPr>
          <p:cNvPr id="12" name="Text 10"/>
          <p:cNvSpPr/>
          <p:nvPr/>
        </p:nvSpPr>
        <p:spPr>
          <a:xfrm>
            <a:off x="6537960" y="3127248"/>
            <a:ext cx="475488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s.contador &lt; 0</a:t>
            </a:r>
            <a:endParaRPr lang="en-US" sz="1450" dirty="0"/>
          </a:p>
        </p:txBody>
      </p:sp>
      <p:sp>
        <p:nvSpPr>
          <p:cNvPr id="13" name="Text 11"/>
          <p:cNvSpPr/>
          <p:nvPr/>
        </p:nvSpPr>
        <p:spPr>
          <a:xfrm>
            <a:off x="6537960" y="3566160"/>
            <a:ext cx="4754880" cy="502920"/>
          </a:xfrm>
          <a:prstGeom prst="rect">
            <a:avLst/>
          </a:prstGeom>
          <a:noFill/>
          <a:ln/>
        </p:spPr>
        <p:txBody>
          <a:bodyPr wrap="square" rtlCol="0" anchor="t"/>
          <a:lstStyle/>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Su valor absoluto es el número de procesos bloqueados en s.cola.</a:t>
            </a:r>
            <a:endParaRPr lang="en-US" sz="1250" dirty="0"/>
          </a:p>
        </p:txBody>
      </p:sp>
      <p:sp>
        <p:nvSpPr>
          <p:cNvPr id="14" name="Shape 12"/>
          <p:cNvSpPr/>
          <p:nvPr/>
        </p:nvSpPr>
        <p:spPr>
          <a:xfrm>
            <a:off x="640080" y="4434840"/>
            <a:ext cx="10881360" cy="1371600"/>
          </a:xfrm>
          <a:prstGeom prst="rect">
            <a:avLst/>
          </a:prstGeom>
          <a:solidFill>
            <a:srgbClr val="232E6E"/>
          </a:solidFill>
          <a:ln/>
        </p:spPr>
        <p:txBody>
          <a:bodyPr/>
          <a:lstStyle/>
          <a:p>
            <a:endParaRPr lang="es-PY"/>
          </a:p>
        </p:txBody>
      </p:sp>
      <p:sp>
        <p:nvSpPr>
          <p:cNvPr id="15" name="Text 13"/>
          <p:cNvSpPr/>
          <p:nvPr/>
        </p:nvSpPr>
        <p:spPr>
          <a:xfrm>
            <a:off x="914400" y="4572000"/>
            <a:ext cx="10332720" cy="1097280"/>
          </a:xfrm>
          <a:prstGeom prst="rect">
            <a:avLst/>
          </a:prstGeom>
          <a:noFill/>
          <a:ln/>
        </p:spPr>
        <p:txBody>
          <a:bodyPr wrap="square"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El primer proceso que hace wait entra directo (s pasa de 1 a 0). Los siguientes se bloquean (s = -1, -2, ...). Al salir, signal incrementa s y despierta a uno de los bloqueados. Si s se inicia en N, hasta N procesos pueden estar dentro a la vez.</a:t>
            </a:r>
            <a:endParaRPr lang="en-US" sz="1300" dirty="0"/>
          </a:p>
        </p:txBody>
      </p:sp>
      <p:sp>
        <p:nvSpPr>
          <p:cNvPr id="16" name="Text 14"/>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2377440" cy="365760"/>
          </a:xfrm>
          <a:prstGeom prst="rect">
            <a:avLst/>
          </a:prstGeom>
          <a:solidFill>
            <a:srgbClr val="1E2761"/>
          </a:solidFill>
          <a:ln/>
        </p:spPr>
        <p:txBody>
          <a:bodyPr/>
          <a:lstStyle/>
          <a:p>
            <a:endParaRPr lang="es-PY"/>
          </a:p>
        </p:txBody>
      </p:sp>
      <p:sp>
        <p:nvSpPr>
          <p:cNvPr id="3" name="Text 1"/>
          <p:cNvSpPr/>
          <p:nvPr/>
        </p:nvSpPr>
        <p:spPr>
          <a:xfrm>
            <a:off x="640080" y="457200"/>
            <a:ext cx="237744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EJEMPLO RESUELTO</a:t>
            </a:r>
            <a:endParaRPr lang="en-US" sz="1200" dirty="0"/>
          </a:p>
        </p:txBody>
      </p:sp>
      <p:sp>
        <p:nvSpPr>
          <p:cNvPr id="4" name="Text 2"/>
          <p:cNvSpPr/>
          <p:nvPr/>
        </p:nvSpPr>
        <p:spPr>
          <a:xfrm>
            <a:off x="640080" y="868680"/>
            <a:ext cx="8686800" cy="640080"/>
          </a:xfrm>
          <a:prstGeom prst="rect">
            <a:avLst/>
          </a:prstGeom>
          <a:noFill/>
          <a:ln/>
        </p:spPr>
        <p:txBody>
          <a:bodyPr wrap="square" rtlCol="0" anchor="ctr"/>
          <a:lstStyle/>
          <a:p>
            <a:pPr marL="0" indent="0">
              <a:buNone/>
            </a:pPr>
            <a:r>
              <a:rPr lang="en-US" sz="2600" b="1" dirty="0">
                <a:solidFill>
                  <a:srgbClr val="1B1F3B"/>
                </a:solidFill>
                <a:latin typeface="Cambria" pitchFamily="34" charset="0"/>
                <a:ea typeface="Cambria" pitchFamily="34" charset="-122"/>
                <a:cs typeface="Cambria" pitchFamily="34" charset="-120"/>
              </a:rPr>
              <a:t>Ejemplo resuelto: traza de un semáforo</a:t>
            </a:r>
            <a:endParaRPr lang="en-US" sz="2600" dirty="0"/>
          </a:p>
        </p:txBody>
      </p:sp>
      <p:sp>
        <p:nvSpPr>
          <p:cNvPr id="7" name="Text 5"/>
          <p:cNvSpPr/>
          <p:nvPr/>
        </p:nvSpPr>
        <p:spPr>
          <a:xfrm>
            <a:off x="640080" y="1645920"/>
            <a:ext cx="10881360" cy="45720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 se inicia en 1. Tres procesos (P1, P2, P3) ejecutan wait(s) y luego signal(s). Veamos paso a paso qué le pasa al semáforo:</a:t>
            </a:r>
            <a:endParaRPr lang="en-US" sz="1350" dirty="0"/>
          </a:p>
        </p:txBody>
      </p:sp>
      <p:sp>
        <p:nvSpPr>
          <p:cNvPr id="8" name="Shape 6"/>
          <p:cNvSpPr/>
          <p:nvPr/>
        </p:nvSpPr>
        <p:spPr>
          <a:xfrm>
            <a:off x="640080" y="2194560"/>
            <a:ext cx="4572000" cy="411480"/>
          </a:xfrm>
          <a:prstGeom prst="rect">
            <a:avLst/>
          </a:prstGeom>
          <a:solidFill>
            <a:srgbClr val="1E2761"/>
          </a:solidFill>
          <a:ln/>
        </p:spPr>
        <p:txBody>
          <a:bodyPr/>
          <a:lstStyle/>
          <a:p>
            <a:endParaRPr lang="es-PY"/>
          </a:p>
        </p:txBody>
      </p:sp>
      <p:sp>
        <p:nvSpPr>
          <p:cNvPr id="9" name="Text 7"/>
          <p:cNvSpPr/>
          <p:nvPr/>
        </p:nvSpPr>
        <p:spPr>
          <a:xfrm>
            <a:off x="777240" y="2194560"/>
            <a:ext cx="429768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Evento</a:t>
            </a:r>
            <a:endParaRPr lang="en-US" sz="1200" dirty="0"/>
          </a:p>
        </p:txBody>
      </p:sp>
      <p:sp>
        <p:nvSpPr>
          <p:cNvPr id="10" name="Shape 8"/>
          <p:cNvSpPr/>
          <p:nvPr/>
        </p:nvSpPr>
        <p:spPr>
          <a:xfrm>
            <a:off x="5303520" y="2194560"/>
            <a:ext cx="1828800" cy="411480"/>
          </a:xfrm>
          <a:prstGeom prst="rect">
            <a:avLst/>
          </a:prstGeom>
          <a:solidFill>
            <a:srgbClr val="1E2761"/>
          </a:solidFill>
          <a:ln/>
        </p:spPr>
        <p:txBody>
          <a:bodyPr/>
          <a:lstStyle/>
          <a:p>
            <a:endParaRPr lang="es-PY"/>
          </a:p>
        </p:txBody>
      </p:sp>
      <p:sp>
        <p:nvSpPr>
          <p:cNvPr id="11" name="Text 9"/>
          <p:cNvSpPr/>
          <p:nvPr/>
        </p:nvSpPr>
        <p:spPr>
          <a:xfrm>
            <a:off x="5394960" y="2194560"/>
            <a:ext cx="1645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s.contador</a:t>
            </a:r>
            <a:endParaRPr lang="en-US" sz="1200" dirty="0"/>
          </a:p>
        </p:txBody>
      </p:sp>
      <p:sp>
        <p:nvSpPr>
          <p:cNvPr id="12" name="Shape 10"/>
          <p:cNvSpPr/>
          <p:nvPr/>
        </p:nvSpPr>
        <p:spPr>
          <a:xfrm>
            <a:off x="7223760" y="2194560"/>
            <a:ext cx="4297680" cy="411480"/>
          </a:xfrm>
          <a:prstGeom prst="rect">
            <a:avLst/>
          </a:prstGeom>
          <a:solidFill>
            <a:srgbClr val="1E2761"/>
          </a:solidFill>
          <a:ln/>
        </p:spPr>
        <p:txBody>
          <a:bodyPr/>
          <a:lstStyle/>
          <a:p>
            <a:endParaRPr lang="es-PY"/>
          </a:p>
        </p:txBody>
      </p:sp>
      <p:sp>
        <p:nvSpPr>
          <p:cNvPr id="13" name="Text 11"/>
          <p:cNvSpPr/>
          <p:nvPr/>
        </p:nvSpPr>
        <p:spPr>
          <a:xfrm>
            <a:off x="7315200" y="2194560"/>
            <a:ext cx="411480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Procesos bloqueados en s.cola</a:t>
            </a:r>
            <a:endParaRPr lang="en-US" sz="1200" dirty="0"/>
          </a:p>
        </p:txBody>
      </p:sp>
      <p:sp>
        <p:nvSpPr>
          <p:cNvPr id="14" name="Shape 12"/>
          <p:cNvSpPr/>
          <p:nvPr/>
        </p:nvSpPr>
        <p:spPr>
          <a:xfrm>
            <a:off x="640080" y="2651760"/>
            <a:ext cx="4572000" cy="475488"/>
          </a:xfrm>
          <a:prstGeom prst="rect">
            <a:avLst/>
          </a:prstGeom>
          <a:solidFill>
            <a:srgbClr val="F7F8FC"/>
          </a:solidFill>
          <a:ln w="6350">
            <a:solidFill>
              <a:srgbClr val="E3E6F0"/>
            </a:solidFill>
            <a:prstDash val="solid"/>
          </a:ln>
        </p:spPr>
        <p:txBody>
          <a:bodyPr/>
          <a:lstStyle/>
          <a:p>
            <a:endParaRPr lang="es-PY"/>
          </a:p>
        </p:txBody>
      </p:sp>
      <p:sp>
        <p:nvSpPr>
          <p:cNvPr id="15" name="Text 13"/>
          <p:cNvSpPr/>
          <p:nvPr/>
        </p:nvSpPr>
        <p:spPr>
          <a:xfrm>
            <a:off x="777240" y="2651760"/>
            <a:ext cx="4297680" cy="475488"/>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1. P1 ejecuta wait(s)</a:t>
            </a:r>
            <a:endParaRPr lang="en-US" sz="1250" dirty="0"/>
          </a:p>
        </p:txBody>
      </p:sp>
      <p:sp>
        <p:nvSpPr>
          <p:cNvPr id="16" name="Shape 14"/>
          <p:cNvSpPr/>
          <p:nvPr/>
        </p:nvSpPr>
        <p:spPr>
          <a:xfrm>
            <a:off x="5303520" y="2651760"/>
            <a:ext cx="1828800" cy="475488"/>
          </a:xfrm>
          <a:prstGeom prst="rect">
            <a:avLst/>
          </a:prstGeom>
          <a:solidFill>
            <a:srgbClr val="F7F8FC"/>
          </a:solidFill>
          <a:ln w="6350">
            <a:solidFill>
              <a:srgbClr val="E3E6F0"/>
            </a:solidFill>
            <a:prstDash val="solid"/>
          </a:ln>
        </p:spPr>
        <p:txBody>
          <a:bodyPr/>
          <a:lstStyle/>
          <a:p>
            <a:endParaRPr lang="es-PY"/>
          </a:p>
        </p:txBody>
      </p:sp>
      <p:sp>
        <p:nvSpPr>
          <p:cNvPr id="17" name="Text 15"/>
          <p:cNvSpPr/>
          <p:nvPr/>
        </p:nvSpPr>
        <p:spPr>
          <a:xfrm>
            <a:off x="5303520" y="2651760"/>
            <a:ext cx="1828800" cy="475488"/>
          </a:xfrm>
          <a:prstGeom prst="rect">
            <a:avLst/>
          </a:prstGeom>
          <a:noFill/>
          <a:ln/>
        </p:spPr>
        <p:txBody>
          <a:bodyPr wrap="square" rtlCol="0" anchor="ctr"/>
          <a:lstStyle/>
          <a:p>
            <a:pPr marL="0" indent="0" algn="ctr">
              <a:buNone/>
            </a:pPr>
            <a:r>
              <a:rPr lang="en-US" sz="1400" b="1" dirty="0">
                <a:solidFill>
                  <a:srgbClr val="1F6F5C"/>
                </a:solidFill>
                <a:latin typeface="Consolas" pitchFamily="34" charset="0"/>
                <a:ea typeface="Consolas" pitchFamily="34" charset="-122"/>
                <a:cs typeface="Consolas" pitchFamily="34" charset="-120"/>
              </a:rPr>
              <a:t>0</a:t>
            </a:r>
            <a:endParaRPr lang="en-US" sz="1400" dirty="0"/>
          </a:p>
        </p:txBody>
      </p:sp>
      <p:sp>
        <p:nvSpPr>
          <p:cNvPr id="18" name="Shape 16"/>
          <p:cNvSpPr/>
          <p:nvPr/>
        </p:nvSpPr>
        <p:spPr>
          <a:xfrm>
            <a:off x="7223760" y="2651760"/>
            <a:ext cx="4297680" cy="475488"/>
          </a:xfrm>
          <a:prstGeom prst="rect">
            <a:avLst/>
          </a:prstGeom>
          <a:solidFill>
            <a:srgbClr val="F7F8FC"/>
          </a:solidFill>
          <a:ln w="6350">
            <a:solidFill>
              <a:srgbClr val="E3E6F0"/>
            </a:solidFill>
            <a:prstDash val="solid"/>
          </a:ln>
        </p:spPr>
        <p:txBody>
          <a:bodyPr/>
          <a:lstStyle/>
          <a:p>
            <a:endParaRPr lang="es-PY"/>
          </a:p>
        </p:txBody>
      </p:sp>
      <p:sp>
        <p:nvSpPr>
          <p:cNvPr id="19" name="Text 17"/>
          <p:cNvSpPr/>
          <p:nvPr/>
        </p:nvSpPr>
        <p:spPr>
          <a:xfrm>
            <a:off x="7315200" y="2651760"/>
            <a:ext cx="4114800" cy="475488"/>
          </a:xfrm>
          <a:prstGeom prst="rect">
            <a:avLst/>
          </a:prstGeom>
          <a:noFill/>
          <a:ln/>
        </p:spPr>
        <p:txBody>
          <a:bodyPr wrap="square" rtlCol="0" anchor="ctr"/>
          <a:lstStyle/>
          <a:p>
            <a:pPr marL="0" indent="0">
              <a:buNone/>
            </a:pPr>
            <a:r>
              <a:rPr lang="en-US" sz="1200" dirty="0">
                <a:solidFill>
                  <a:srgbClr val="1B1F3B"/>
                </a:solidFill>
                <a:latin typeface="Calibri" pitchFamily="34" charset="0"/>
                <a:ea typeface="Calibri" pitchFamily="34" charset="-122"/>
                <a:cs typeface="Calibri" pitchFamily="34" charset="-120"/>
              </a:rPr>
              <a:t>Nadie (P1 entra a la sección crítica)</a:t>
            </a:r>
            <a:endParaRPr lang="en-US" sz="1200" dirty="0"/>
          </a:p>
        </p:txBody>
      </p:sp>
      <p:sp>
        <p:nvSpPr>
          <p:cNvPr id="20" name="Shape 18"/>
          <p:cNvSpPr/>
          <p:nvPr/>
        </p:nvSpPr>
        <p:spPr>
          <a:xfrm>
            <a:off x="640080" y="3163824"/>
            <a:ext cx="4572000" cy="475488"/>
          </a:xfrm>
          <a:prstGeom prst="rect">
            <a:avLst/>
          </a:prstGeom>
          <a:solidFill>
            <a:srgbClr val="FFFFFF"/>
          </a:solidFill>
          <a:ln w="6350">
            <a:solidFill>
              <a:srgbClr val="E3E6F0"/>
            </a:solidFill>
            <a:prstDash val="solid"/>
          </a:ln>
        </p:spPr>
        <p:txBody>
          <a:bodyPr/>
          <a:lstStyle/>
          <a:p>
            <a:endParaRPr lang="es-PY"/>
          </a:p>
        </p:txBody>
      </p:sp>
      <p:sp>
        <p:nvSpPr>
          <p:cNvPr id="21" name="Text 19"/>
          <p:cNvSpPr/>
          <p:nvPr/>
        </p:nvSpPr>
        <p:spPr>
          <a:xfrm>
            <a:off x="777240" y="3163824"/>
            <a:ext cx="4297680" cy="475488"/>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2. P2 ejecuta wait(s)</a:t>
            </a:r>
            <a:endParaRPr lang="en-US" sz="1250" dirty="0"/>
          </a:p>
        </p:txBody>
      </p:sp>
      <p:sp>
        <p:nvSpPr>
          <p:cNvPr id="22" name="Shape 20"/>
          <p:cNvSpPr/>
          <p:nvPr/>
        </p:nvSpPr>
        <p:spPr>
          <a:xfrm>
            <a:off x="5303520" y="3163824"/>
            <a:ext cx="1828800" cy="475488"/>
          </a:xfrm>
          <a:prstGeom prst="rect">
            <a:avLst/>
          </a:prstGeom>
          <a:solidFill>
            <a:srgbClr val="FFFFFF"/>
          </a:solidFill>
          <a:ln w="6350">
            <a:solidFill>
              <a:srgbClr val="E3E6F0"/>
            </a:solidFill>
            <a:prstDash val="solid"/>
          </a:ln>
        </p:spPr>
        <p:txBody>
          <a:bodyPr/>
          <a:lstStyle/>
          <a:p>
            <a:endParaRPr lang="es-PY"/>
          </a:p>
        </p:txBody>
      </p:sp>
      <p:sp>
        <p:nvSpPr>
          <p:cNvPr id="23" name="Text 21"/>
          <p:cNvSpPr/>
          <p:nvPr/>
        </p:nvSpPr>
        <p:spPr>
          <a:xfrm>
            <a:off x="5303520" y="3163824"/>
            <a:ext cx="1828800" cy="475488"/>
          </a:xfrm>
          <a:prstGeom prst="rect">
            <a:avLst/>
          </a:prstGeom>
          <a:noFill/>
          <a:ln/>
        </p:spPr>
        <p:txBody>
          <a:bodyPr wrap="square" rtlCol="0" anchor="ctr"/>
          <a:lstStyle/>
          <a:p>
            <a:pPr marL="0" indent="0" algn="ctr">
              <a:buNone/>
            </a:pPr>
            <a:r>
              <a:rPr lang="en-US" sz="1400" b="1" dirty="0">
                <a:solidFill>
                  <a:srgbClr val="1F6F5C"/>
                </a:solidFill>
                <a:latin typeface="Consolas" pitchFamily="34" charset="0"/>
                <a:ea typeface="Consolas" pitchFamily="34" charset="-122"/>
                <a:cs typeface="Consolas" pitchFamily="34" charset="-120"/>
              </a:rPr>
              <a:t>-1</a:t>
            </a:r>
            <a:endParaRPr lang="en-US" sz="1400" dirty="0"/>
          </a:p>
        </p:txBody>
      </p:sp>
      <p:sp>
        <p:nvSpPr>
          <p:cNvPr id="24" name="Shape 22"/>
          <p:cNvSpPr/>
          <p:nvPr/>
        </p:nvSpPr>
        <p:spPr>
          <a:xfrm>
            <a:off x="7223760" y="3163824"/>
            <a:ext cx="4297680" cy="475488"/>
          </a:xfrm>
          <a:prstGeom prst="rect">
            <a:avLst/>
          </a:prstGeom>
          <a:solidFill>
            <a:srgbClr val="FFFFFF"/>
          </a:solidFill>
          <a:ln w="6350">
            <a:solidFill>
              <a:srgbClr val="E3E6F0"/>
            </a:solidFill>
            <a:prstDash val="solid"/>
          </a:ln>
        </p:spPr>
        <p:txBody>
          <a:bodyPr/>
          <a:lstStyle/>
          <a:p>
            <a:endParaRPr lang="es-PY"/>
          </a:p>
        </p:txBody>
      </p:sp>
      <p:sp>
        <p:nvSpPr>
          <p:cNvPr id="25" name="Text 23"/>
          <p:cNvSpPr/>
          <p:nvPr/>
        </p:nvSpPr>
        <p:spPr>
          <a:xfrm>
            <a:off x="7315200" y="3163824"/>
            <a:ext cx="4114800" cy="475488"/>
          </a:xfrm>
          <a:prstGeom prst="rect">
            <a:avLst/>
          </a:prstGeom>
          <a:noFill/>
          <a:ln/>
        </p:spPr>
        <p:txBody>
          <a:bodyPr wrap="square" rtlCol="0" anchor="ctr"/>
          <a:lstStyle/>
          <a:p>
            <a:pPr marL="0" indent="0">
              <a:buNone/>
            </a:pPr>
            <a:r>
              <a:rPr lang="en-US" sz="1200" dirty="0">
                <a:solidFill>
                  <a:srgbClr val="1B1F3B"/>
                </a:solidFill>
                <a:latin typeface="Calibri" pitchFamily="34" charset="0"/>
                <a:ea typeface="Calibri" pitchFamily="34" charset="-122"/>
                <a:cs typeface="Calibri" pitchFamily="34" charset="-120"/>
              </a:rPr>
              <a:t>P2</a:t>
            </a:r>
            <a:endParaRPr lang="en-US" sz="1200" dirty="0"/>
          </a:p>
        </p:txBody>
      </p:sp>
      <p:sp>
        <p:nvSpPr>
          <p:cNvPr id="26" name="Shape 24"/>
          <p:cNvSpPr/>
          <p:nvPr/>
        </p:nvSpPr>
        <p:spPr>
          <a:xfrm>
            <a:off x="640080" y="3675888"/>
            <a:ext cx="4572000" cy="475488"/>
          </a:xfrm>
          <a:prstGeom prst="rect">
            <a:avLst/>
          </a:prstGeom>
          <a:solidFill>
            <a:srgbClr val="F7F8FC"/>
          </a:solidFill>
          <a:ln w="6350">
            <a:solidFill>
              <a:srgbClr val="E3E6F0"/>
            </a:solidFill>
            <a:prstDash val="solid"/>
          </a:ln>
        </p:spPr>
        <p:txBody>
          <a:bodyPr/>
          <a:lstStyle/>
          <a:p>
            <a:endParaRPr lang="es-PY"/>
          </a:p>
        </p:txBody>
      </p:sp>
      <p:sp>
        <p:nvSpPr>
          <p:cNvPr id="27" name="Text 25"/>
          <p:cNvSpPr/>
          <p:nvPr/>
        </p:nvSpPr>
        <p:spPr>
          <a:xfrm>
            <a:off x="777240" y="3675888"/>
            <a:ext cx="4297680" cy="475488"/>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3. P3 ejecuta wait(s)</a:t>
            </a:r>
            <a:endParaRPr lang="en-US" sz="1250" dirty="0"/>
          </a:p>
        </p:txBody>
      </p:sp>
      <p:sp>
        <p:nvSpPr>
          <p:cNvPr id="28" name="Shape 26"/>
          <p:cNvSpPr/>
          <p:nvPr/>
        </p:nvSpPr>
        <p:spPr>
          <a:xfrm>
            <a:off x="5303520" y="3675888"/>
            <a:ext cx="1828800" cy="475488"/>
          </a:xfrm>
          <a:prstGeom prst="rect">
            <a:avLst/>
          </a:prstGeom>
          <a:solidFill>
            <a:srgbClr val="F7F8FC"/>
          </a:solidFill>
          <a:ln w="6350">
            <a:solidFill>
              <a:srgbClr val="E3E6F0"/>
            </a:solidFill>
            <a:prstDash val="solid"/>
          </a:ln>
        </p:spPr>
        <p:txBody>
          <a:bodyPr/>
          <a:lstStyle/>
          <a:p>
            <a:endParaRPr lang="es-PY"/>
          </a:p>
        </p:txBody>
      </p:sp>
      <p:sp>
        <p:nvSpPr>
          <p:cNvPr id="29" name="Text 27"/>
          <p:cNvSpPr/>
          <p:nvPr/>
        </p:nvSpPr>
        <p:spPr>
          <a:xfrm>
            <a:off x="5303520" y="3675888"/>
            <a:ext cx="1828800" cy="475488"/>
          </a:xfrm>
          <a:prstGeom prst="rect">
            <a:avLst/>
          </a:prstGeom>
          <a:noFill/>
          <a:ln/>
        </p:spPr>
        <p:txBody>
          <a:bodyPr wrap="square" rtlCol="0" anchor="ctr"/>
          <a:lstStyle/>
          <a:p>
            <a:pPr marL="0" indent="0" algn="ctr">
              <a:buNone/>
            </a:pPr>
            <a:r>
              <a:rPr lang="en-US" sz="1400" b="1" dirty="0">
                <a:solidFill>
                  <a:srgbClr val="1F6F5C"/>
                </a:solidFill>
                <a:latin typeface="Consolas" pitchFamily="34" charset="0"/>
                <a:ea typeface="Consolas" pitchFamily="34" charset="-122"/>
                <a:cs typeface="Consolas" pitchFamily="34" charset="-120"/>
              </a:rPr>
              <a:t>-2</a:t>
            </a:r>
            <a:endParaRPr lang="en-US" sz="1400" dirty="0"/>
          </a:p>
        </p:txBody>
      </p:sp>
      <p:sp>
        <p:nvSpPr>
          <p:cNvPr id="30" name="Shape 28"/>
          <p:cNvSpPr/>
          <p:nvPr/>
        </p:nvSpPr>
        <p:spPr>
          <a:xfrm>
            <a:off x="7223760" y="3675888"/>
            <a:ext cx="4297680" cy="475488"/>
          </a:xfrm>
          <a:prstGeom prst="rect">
            <a:avLst/>
          </a:prstGeom>
          <a:solidFill>
            <a:srgbClr val="F7F8FC"/>
          </a:solidFill>
          <a:ln w="6350">
            <a:solidFill>
              <a:srgbClr val="E3E6F0"/>
            </a:solidFill>
            <a:prstDash val="solid"/>
          </a:ln>
        </p:spPr>
        <p:txBody>
          <a:bodyPr/>
          <a:lstStyle/>
          <a:p>
            <a:endParaRPr lang="es-PY"/>
          </a:p>
        </p:txBody>
      </p:sp>
      <p:sp>
        <p:nvSpPr>
          <p:cNvPr id="31" name="Text 29"/>
          <p:cNvSpPr/>
          <p:nvPr/>
        </p:nvSpPr>
        <p:spPr>
          <a:xfrm>
            <a:off x="7315200" y="3675888"/>
            <a:ext cx="4114800" cy="475488"/>
          </a:xfrm>
          <a:prstGeom prst="rect">
            <a:avLst/>
          </a:prstGeom>
          <a:noFill/>
          <a:ln/>
        </p:spPr>
        <p:txBody>
          <a:bodyPr wrap="square" rtlCol="0" anchor="ctr"/>
          <a:lstStyle/>
          <a:p>
            <a:pPr marL="0" indent="0">
              <a:buNone/>
            </a:pPr>
            <a:r>
              <a:rPr lang="en-US" sz="1200" dirty="0">
                <a:solidFill>
                  <a:srgbClr val="1B1F3B"/>
                </a:solidFill>
                <a:latin typeface="Calibri" pitchFamily="34" charset="0"/>
                <a:ea typeface="Calibri" pitchFamily="34" charset="-122"/>
                <a:cs typeface="Calibri" pitchFamily="34" charset="-120"/>
              </a:rPr>
              <a:t>P2, P3</a:t>
            </a:r>
            <a:endParaRPr lang="en-US" sz="1200" dirty="0"/>
          </a:p>
        </p:txBody>
      </p:sp>
      <p:sp>
        <p:nvSpPr>
          <p:cNvPr id="32" name="Shape 30"/>
          <p:cNvSpPr/>
          <p:nvPr/>
        </p:nvSpPr>
        <p:spPr>
          <a:xfrm>
            <a:off x="640080" y="4187952"/>
            <a:ext cx="4572000" cy="475488"/>
          </a:xfrm>
          <a:prstGeom prst="rect">
            <a:avLst/>
          </a:prstGeom>
          <a:solidFill>
            <a:srgbClr val="FFFFFF"/>
          </a:solidFill>
          <a:ln w="6350">
            <a:solidFill>
              <a:srgbClr val="E3E6F0"/>
            </a:solidFill>
            <a:prstDash val="solid"/>
          </a:ln>
        </p:spPr>
        <p:txBody>
          <a:bodyPr/>
          <a:lstStyle/>
          <a:p>
            <a:endParaRPr lang="es-PY"/>
          </a:p>
        </p:txBody>
      </p:sp>
      <p:sp>
        <p:nvSpPr>
          <p:cNvPr id="33" name="Text 31"/>
          <p:cNvSpPr/>
          <p:nvPr/>
        </p:nvSpPr>
        <p:spPr>
          <a:xfrm>
            <a:off x="777240" y="4187952"/>
            <a:ext cx="4297680" cy="475488"/>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4. P1 ejecuta signal(s)</a:t>
            </a:r>
            <a:endParaRPr lang="en-US" sz="1250" dirty="0"/>
          </a:p>
        </p:txBody>
      </p:sp>
      <p:sp>
        <p:nvSpPr>
          <p:cNvPr id="34" name="Shape 32"/>
          <p:cNvSpPr/>
          <p:nvPr/>
        </p:nvSpPr>
        <p:spPr>
          <a:xfrm>
            <a:off x="5303520" y="4187952"/>
            <a:ext cx="1828800" cy="475488"/>
          </a:xfrm>
          <a:prstGeom prst="rect">
            <a:avLst/>
          </a:prstGeom>
          <a:solidFill>
            <a:srgbClr val="FFFFFF"/>
          </a:solidFill>
          <a:ln w="6350">
            <a:solidFill>
              <a:srgbClr val="E3E6F0"/>
            </a:solidFill>
            <a:prstDash val="solid"/>
          </a:ln>
        </p:spPr>
        <p:txBody>
          <a:bodyPr/>
          <a:lstStyle/>
          <a:p>
            <a:endParaRPr lang="es-PY"/>
          </a:p>
        </p:txBody>
      </p:sp>
      <p:sp>
        <p:nvSpPr>
          <p:cNvPr id="35" name="Text 33"/>
          <p:cNvSpPr/>
          <p:nvPr/>
        </p:nvSpPr>
        <p:spPr>
          <a:xfrm>
            <a:off x="5303520" y="4187952"/>
            <a:ext cx="1828800" cy="475488"/>
          </a:xfrm>
          <a:prstGeom prst="rect">
            <a:avLst/>
          </a:prstGeom>
          <a:noFill/>
          <a:ln/>
        </p:spPr>
        <p:txBody>
          <a:bodyPr wrap="square" rtlCol="0" anchor="ctr"/>
          <a:lstStyle/>
          <a:p>
            <a:pPr marL="0" indent="0" algn="ctr">
              <a:buNone/>
            </a:pPr>
            <a:r>
              <a:rPr lang="en-US" sz="1400" b="1" dirty="0">
                <a:solidFill>
                  <a:srgbClr val="1F6F5C"/>
                </a:solidFill>
                <a:latin typeface="Consolas" pitchFamily="34" charset="0"/>
                <a:ea typeface="Consolas" pitchFamily="34" charset="-122"/>
                <a:cs typeface="Consolas" pitchFamily="34" charset="-120"/>
              </a:rPr>
              <a:t>-1</a:t>
            </a:r>
            <a:endParaRPr lang="en-US" sz="1400" dirty="0"/>
          </a:p>
        </p:txBody>
      </p:sp>
      <p:sp>
        <p:nvSpPr>
          <p:cNvPr id="36" name="Shape 34"/>
          <p:cNvSpPr/>
          <p:nvPr/>
        </p:nvSpPr>
        <p:spPr>
          <a:xfrm>
            <a:off x="7223760" y="4187952"/>
            <a:ext cx="4297680" cy="475488"/>
          </a:xfrm>
          <a:prstGeom prst="rect">
            <a:avLst/>
          </a:prstGeom>
          <a:solidFill>
            <a:srgbClr val="FFFFFF"/>
          </a:solidFill>
          <a:ln w="6350">
            <a:solidFill>
              <a:srgbClr val="E3E6F0"/>
            </a:solidFill>
            <a:prstDash val="solid"/>
          </a:ln>
        </p:spPr>
        <p:txBody>
          <a:bodyPr/>
          <a:lstStyle/>
          <a:p>
            <a:endParaRPr lang="es-PY"/>
          </a:p>
        </p:txBody>
      </p:sp>
      <p:sp>
        <p:nvSpPr>
          <p:cNvPr id="37" name="Text 35"/>
          <p:cNvSpPr/>
          <p:nvPr/>
        </p:nvSpPr>
        <p:spPr>
          <a:xfrm>
            <a:off x="7315200" y="4187952"/>
            <a:ext cx="4114800" cy="475488"/>
          </a:xfrm>
          <a:prstGeom prst="rect">
            <a:avLst/>
          </a:prstGeom>
          <a:noFill/>
          <a:ln/>
        </p:spPr>
        <p:txBody>
          <a:bodyPr wrap="square" rtlCol="0" anchor="ctr"/>
          <a:lstStyle/>
          <a:p>
            <a:pPr marL="0" indent="0">
              <a:buNone/>
            </a:pPr>
            <a:r>
              <a:rPr lang="en-US" sz="1200" dirty="0">
                <a:solidFill>
                  <a:srgbClr val="1B1F3B"/>
                </a:solidFill>
                <a:latin typeface="Calibri" pitchFamily="34" charset="0"/>
                <a:ea typeface="Calibri" pitchFamily="34" charset="-122"/>
                <a:cs typeface="Calibri" pitchFamily="34" charset="-120"/>
              </a:rPr>
              <a:t>P3 (se despierta P2, el primero de la cola)</a:t>
            </a:r>
            <a:endParaRPr lang="en-US" sz="1200" dirty="0"/>
          </a:p>
        </p:txBody>
      </p:sp>
      <p:sp>
        <p:nvSpPr>
          <p:cNvPr id="38" name="Shape 36"/>
          <p:cNvSpPr/>
          <p:nvPr/>
        </p:nvSpPr>
        <p:spPr>
          <a:xfrm>
            <a:off x="640080" y="4700016"/>
            <a:ext cx="4572000" cy="475488"/>
          </a:xfrm>
          <a:prstGeom prst="rect">
            <a:avLst/>
          </a:prstGeom>
          <a:solidFill>
            <a:srgbClr val="F7F8FC"/>
          </a:solidFill>
          <a:ln w="6350">
            <a:solidFill>
              <a:srgbClr val="E3E6F0"/>
            </a:solidFill>
            <a:prstDash val="solid"/>
          </a:ln>
        </p:spPr>
        <p:txBody>
          <a:bodyPr/>
          <a:lstStyle/>
          <a:p>
            <a:endParaRPr lang="es-PY"/>
          </a:p>
        </p:txBody>
      </p:sp>
      <p:sp>
        <p:nvSpPr>
          <p:cNvPr id="39" name="Text 37"/>
          <p:cNvSpPr/>
          <p:nvPr/>
        </p:nvSpPr>
        <p:spPr>
          <a:xfrm>
            <a:off x="777240" y="4700016"/>
            <a:ext cx="4297680" cy="475488"/>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5. P2 ejecuta signal(s)</a:t>
            </a:r>
            <a:endParaRPr lang="en-US" sz="1250" dirty="0"/>
          </a:p>
        </p:txBody>
      </p:sp>
      <p:sp>
        <p:nvSpPr>
          <p:cNvPr id="40" name="Shape 38"/>
          <p:cNvSpPr/>
          <p:nvPr/>
        </p:nvSpPr>
        <p:spPr>
          <a:xfrm>
            <a:off x="5303520" y="4700016"/>
            <a:ext cx="1828800" cy="475488"/>
          </a:xfrm>
          <a:prstGeom prst="rect">
            <a:avLst/>
          </a:prstGeom>
          <a:solidFill>
            <a:srgbClr val="F7F8FC"/>
          </a:solidFill>
          <a:ln w="6350">
            <a:solidFill>
              <a:srgbClr val="E3E6F0"/>
            </a:solidFill>
            <a:prstDash val="solid"/>
          </a:ln>
        </p:spPr>
        <p:txBody>
          <a:bodyPr/>
          <a:lstStyle/>
          <a:p>
            <a:endParaRPr lang="es-PY"/>
          </a:p>
        </p:txBody>
      </p:sp>
      <p:sp>
        <p:nvSpPr>
          <p:cNvPr id="41" name="Text 39"/>
          <p:cNvSpPr/>
          <p:nvPr/>
        </p:nvSpPr>
        <p:spPr>
          <a:xfrm>
            <a:off x="5303520" y="4700016"/>
            <a:ext cx="1828800" cy="475488"/>
          </a:xfrm>
          <a:prstGeom prst="rect">
            <a:avLst/>
          </a:prstGeom>
          <a:noFill/>
          <a:ln/>
        </p:spPr>
        <p:txBody>
          <a:bodyPr wrap="square" rtlCol="0" anchor="ctr"/>
          <a:lstStyle/>
          <a:p>
            <a:pPr marL="0" indent="0" algn="ctr">
              <a:buNone/>
            </a:pPr>
            <a:r>
              <a:rPr lang="en-US" sz="1400" b="1" dirty="0">
                <a:solidFill>
                  <a:srgbClr val="1F6F5C"/>
                </a:solidFill>
                <a:latin typeface="Consolas" pitchFamily="34" charset="0"/>
                <a:ea typeface="Consolas" pitchFamily="34" charset="-122"/>
                <a:cs typeface="Consolas" pitchFamily="34" charset="-120"/>
              </a:rPr>
              <a:t>0</a:t>
            </a:r>
            <a:endParaRPr lang="en-US" sz="1400" dirty="0"/>
          </a:p>
        </p:txBody>
      </p:sp>
      <p:sp>
        <p:nvSpPr>
          <p:cNvPr id="42" name="Shape 40"/>
          <p:cNvSpPr/>
          <p:nvPr/>
        </p:nvSpPr>
        <p:spPr>
          <a:xfrm>
            <a:off x="7223760" y="4700016"/>
            <a:ext cx="4297680" cy="475488"/>
          </a:xfrm>
          <a:prstGeom prst="rect">
            <a:avLst/>
          </a:prstGeom>
          <a:solidFill>
            <a:srgbClr val="F7F8FC"/>
          </a:solidFill>
          <a:ln w="6350">
            <a:solidFill>
              <a:srgbClr val="E3E6F0"/>
            </a:solidFill>
            <a:prstDash val="solid"/>
          </a:ln>
        </p:spPr>
        <p:txBody>
          <a:bodyPr/>
          <a:lstStyle/>
          <a:p>
            <a:endParaRPr lang="es-PY"/>
          </a:p>
        </p:txBody>
      </p:sp>
      <p:sp>
        <p:nvSpPr>
          <p:cNvPr id="43" name="Text 41"/>
          <p:cNvSpPr/>
          <p:nvPr/>
        </p:nvSpPr>
        <p:spPr>
          <a:xfrm>
            <a:off x="7315200" y="4700016"/>
            <a:ext cx="4114800" cy="475488"/>
          </a:xfrm>
          <a:prstGeom prst="rect">
            <a:avLst/>
          </a:prstGeom>
          <a:noFill/>
          <a:ln/>
        </p:spPr>
        <p:txBody>
          <a:bodyPr wrap="square" rtlCol="0" anchor="ctr"/>
          <a:lstStyle/>
          <a:p>
            <a:pPr marL="0" indent="0">
              <a:buNone/>
            </a:pPr>
            <a:r>
              <a:rPr lang="en-US" sz="1200" dirty="0">
                <a:solidFill>
                  <a:srgbClr val="1B1F3B"/>
                </a:solidFill>
                <a:latin typeface="Calibri" pitchFamily="34" charset="0"/>
                <a:ea typeface="Calibri" pitchFamily="34" charset="-122"/>
                <a:cs typeface="Calibri" pitchFamily="34" charset="-120"/>
              </a:rPr>
              <a:t>Nadie (se despierta P3)</a:t>
            </a:r>
            <a:endParaRPr lang="en-US" sz="1200" dirty="0"/>
          </a:p>
        </p:txBody>
      </p:sp>
      <p:sp>
        <p:nvSpPr>
          <p:cNvPr id="44" name="Shape 42"/>
          <p:cNvSpPr/>
          <p:nvPr/>
        </p:nvSpPr>
        <p:spPr>
          <a:xfrm>
            <a:off x="640080" y="5212080"/>
            <a:ext cx="4572000" cy="475488"/>
          </a:xfrm>
          <a:prstGeom prst="rect">
            <a:avLst/>
          </a:prstGeom>
          <a:solidFill>
            <a:srgbClr val="FFFFFF"/>
          </a:solidFill>
          <a:ln w="6350">
            <a:solidFill>
              <a:srgbClr val="E3E6F0"/>
            </a:solidFill>
            <a:prstDash val="solid"/>
          </a:ln>
        </p:spPr>
        <p:txBody>
          <a:bodyPr/>
          <a:lstStyle/>
          <a:p>
            <a:endParaRPr lang="es-PY"/>
          </a:p>
        </p:txBody>
      </p:sp>
      <p:sp>
        <p:nvSpPr>
          <p:cNvPr id="45" name="Text 43"/>
          <p:cNvSpPr/>
          <p:nvPr/>
        </p:nvSpPr>
        <p:spPr>
          <a:xfrm>
            <a:off x="777240" y="5212080"/>
            <a:ext cx="4297680" cy="475488"/>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6. P3 ejecuta signal(s)</a:t>
            </a:r>
            <a:endParaRPr lang="en-US" sz="1250" dirty="0"/>
          </a:p>
        </p:txBody>
      </p:sp>
      <p:sp>
        <p:nvSpPr>
          <p:cNvPr id="46" name="Shape 44"/>
          <p:cNvSpPr/>
          <p:nvPr/>
        </p:nvSpPr>
        <p:spPr>
          <a:xfrm>
            <a:off x="5303520" y="5212080"/>
            <a:ext cx="1828800" cy="475488"/>
          </a:xfrm>
          <a:prstGeom prst="rect">
            <a:avLst/>
          </a:prstGeom>
          <a:solidFill>
            <a:srgbClr val="FFFFFF"/>
          </a:solidFill>
          <a:ln w="6350">
            <a:solidFill>
              <a:srgbClr val="E3E6F0"/>
            </a:solidFill>
            <a:prstDash val="solid"/>
          </a:ln>
        </p:spPr>
        <p:txBody>
          <a:bodyPr/>
          <a:lstStyle/>
          <a:p>
            <a:endParaRPr lang="es-PY"/>
          </a:p>
        </p:txBody>
      </p:sp>
      <p:sp>
        <p:nvSpPr>
          <p:cNvPr id="47" name="Text 45"/>
          <p:cNvSpPr/>
          <p:nvPr/>
        </p:nvSpPr>
        <p:spPr>
          <a:xfrm>
            <a:off x="5303520" y="5212080"/>
            <a:ext cx="1828800" cy="475488"/>
          </a:xfrm>
          <a:prstGeom prst="rect">
            <a:avLst/>
          </a:prstGeom>
          <a:noFill/>
          <a:ln/>
        </p:spPr>
        <p:txBody>
          <a:bodyPr wrap="square" rtlCol="0" anchor="ctr"/>
          <a:lstStyle/>
          <a:p>
            <a:pPr marL="0" indent="0" algn="ctr">
              <a:buNone/>
            </a:pPr>
            <a:r>
              <a:rPr lang="en-US" sz="1400" b="1" dirty="0">
                <a:solidFill>
                  <a:srgbClr val="1F6F5C"/>
                </a:solidFill>
                <a:latin typeface="Consolas" pitchFamily="34" charset="0"/>
                <a:ea typeface="Consolas" pitchFamily="34" charset="-122"/>
                <a:cs typeface="Consolas" pitchFamily="34" charset="-120"/>
              </a:rPr>
              <a:t>1</a:t>
            </a:r>
            <a:endParaRPr lang="en-US" sz="1400" dirty="0"/>
          </a:p>
        </p:txBody>
      </p:sp>
      <p:sp>
        <p:nvSpPr>
          <p:cNvPr id="48" name="Shape 46"/>
          <p:cNvSpPr/>
          <p:nvPr/>
        </p:nvSpPr>
        <p:spPr>
          <a:xfrm>
            <a:off x="7223760" y="5212080"/>
            <a:ext cx="4297680" cy="475488"/>
          </a:xfrm>
          <a:prstGeom prst="rect">
            <a:avLst/>
          </a:prstGeom>
          <a:solidFill>
            <a:srgbClr val="FFFFFF"/>
          </a:solidFill>
          <a:ln w="6350">
            <a:solidFill>
              <a:srgbClr val="E3E6F0"/>
            </a:solidFill>
            <a:prstDash val="solid"/>
          </a:ln>
        </p:spPr>
        <p:txBody>
          <a:bodyPr/>
          <a:lstStyle/>
          <a:p>
            <a:endParaRPr lang="es-PY"/>
          </a:p>
        </p:txBody>
      </p:sp>
      <p:sp>
        <p:nvSpPr>
          <p:cNvPr id="49" name="Text 47"/>
          <p:cNvSpPr/>
          <p:nvPr/>
        </p:nvSpPr>
        <p:spPr>
          <a:xfrm>
            <a:off x="7315200" y="5212080"/>
            <a:ext cx="4114800" cy="475488"/>
          </a:xfrm>
          <a:prstGeom prst="rect">
            <a:avLst/>
          </a:prstGeom>
          <a:noFill/>
          <a:ln/>
        </p:spPr>
        <p:txBody>
          <a:bodyPr wrap="square" rtlCol="0" anchor="ctr"/>
          <a:lstStyle/>
          <a:p>
            <a:pPr marL="0" indent="0">
              <a:buNone/>
            </a:pPr>
            <a:r>
              <a:rPr lang="en-US" sz="1200" dirty="0">
                <a:solidFill>
                  <a:srgbClr val="1B1F3B"/>
                </a:solidFill>
                <a:latin typeface="Calibri" pitchFamily="34" charset="0"/>
                <a:ea typeface="Calibri" pitchFamily="34" charset="-122"/>
                <a:cs typeface="Calibri" pitchFamily="34" charset="-120"/>
              </a:rPr>
              <a:t>Nadie (vuelve al valor inicial)</a:t>
            </a:r>
            <a:endParaRPr lang="en-US" sz="1200" dirty="0"/>
          </a:p>
        </p:txBody>
      </p:sp>
      <p:sp>
        <p:nvSpPr>
          <p:cNvPr id="50" name="Text 48"/>
          <p:cNvSpPr/>
          <p:nvPr/>
        </p:nvSpPr>
        <p:spPr>
          <a:xfrm>
            <a:off x="640080" y="5806440"/>
            <a:ext cx="10881360" cy="457200"/>
          </a:xfrm>
          <a:prstGeom prst="rect">
            <a:avLst/>
          </a:prstGeom>
          <a:noFill/>
          <a:ln/>
        </p:spPr>
        <p:txBody>
          <a:bodyPr wrap="square" rtlCol="0" anchor="ctr"/>
          <a:lstStyle/>
          <a:p>
            <a:pPr marL="0" indent="0">
              <a:buNone/>
            </a:pPr>
            <a:r>
              <a:rPr lang="en-US" sz="1250" i="1" dirty="0">
                <a:solidFill>
                  <a:srgbClr val="1E2761"/>
                </a:solidFill>
                <a:latin typeface="Calibri" pitchFamily="34" charset="0"/>
                <a:ea typeface="Calibri" pitchFamily="34" charset="-122"/>
                <a:cs typeface="Calibri" pitchFamily="34" charset="-120"/>
              </a:rPr>
              <a:t>Regla para recordar: si el contador es negativo, su valor absoluto es la cantidad de procesos bloqueados.</a:t>
            </a:r>
            <a:endParaRPr lang="en-US" sz="1250" dirty="0"/>
          </a:p>
        </p:txBody>
      </p:sp>
      <p:sp>
        <p:nvSpPr>
          <p:cNvPr id="51" name="Text 49"/>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2377440" cy="365760"/>
          </a:xfrm>
          <a:prstGeom prst="rect">
            <a:avLst/>
          </a:prstGeom>
          <a:solidFill>
            <a:srgbClr val="1E2761"/>
          </a:solidFill>
          <a:ln/>
        </p:spPr>
        <p:txBody>
          <a:bodyPr/>
          <a:lstStyle/>
          <a:p>
            <a:endParaRPr lang="es-PY"/>
          </a:p>
        </p:txBody>
      </p:sp>
      <p:sp>
        <p:nvSpPr>
          <p:cNvPr id="3" name="Text 1"/>
          <p:cNvSpPr/>
          <p:nvPr/>
        </p:nvSpPr>
        <p:spPr>
          <a:xfrm>
            <a:off x="640080" y="457200"/>
            <a:ext cx="237744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EJEMPLO RESUELTO</a:t>
            </a:r>
            <a:endParaRPr lang="en-US" sz="1200" dirty="0"/>
          </a:p>
        </p:txBody>
      </p:sp>
      <p:sp>
        <p:nvSpPr>
          <p:cNvPr id="4" name="Text 2"/>
          <p:cNvSpPr/>
          <p:nvPr/>
        </p:nvSpPr>
        <p:spPr>
          <a:xfrm>
            <a:off x="640080" y="868680"/>
            <a:ext cx="9326880" cy="640080"/>
          </a:xfrm>
          <a:prstGeom prst="rect">
            <a:avLst/>
          </a:prstGeom>
          <a:noFill/>
          <a:ln/>
        </p:spPr>
        <p:txBody>
          <a:bodyPr wrap="square" rtlCol="0" anchor="ctr"/>
          <a:lstStyle/>
          <a:p>
            <a:pPr marL="0" indent="0">
              <a:buNone/>
            </a:pPr>
            <a:r>
              <a:rPr lang="en-US" sz="2400" b="1" dirty="0">
                <a:solidFill>
                  <a:srgbClr val="1B1F3B"/>
                </a:solidFill>
                <a:latin typeface="Cambria" pitchFamily="34" charset="0"/>
                <a:ea typeface="Cambria" pitchFamily="34" charset="-122"/>
                <a:cs typeface="Cambria" pitchFamily="34" charset="-120"/>
              </a:rPr>
              <a:t>Ejemplo resuelto: cómo se pierde una suma</a:t>
            </a:r>
            <a:endParaRPr lang="en-US" sz="2400" dirty="0"/>
          </a:p>
        </p:txBody>
      </p:sp>
      <p:sp>
        <p:nvSpPr>
          <p:cNvPr id="7" name="Text 5"/>
          <p:cNvSpPr/>
          <p:nvPr/>
        </p:nvSpPr>
        <p:spPr>
          <a:xfrm>
            <a:off x="640080" y="1554480"/>
            <a:ext cx="10881360" cy="548640"/>
          </a:xfrm>
          <a:prstGeom prst="rect">
            <a:avLst/>
          </a:prstGeom>
          <a:noFill/>
          <a:ln/>
        </p:spPr>
        <p:txBody>
          <a:bodyPr wrap="square" rtlCol="0" anchor="ctr"/>
          <a:lstStyle/>
          <a:p>
            <a:pPr marL="0" indent="0">
              <a:lnSpc>
                <a:spcPts val="1700"/>
              </a:lnSpc>
              <a:buNone/>
            </a:pPr>
            <a:r>
              <a:rPr lang="en-US" sz="1300" b="1" dirty="0">
                <a:solidFill>
                  <a:srgbClr val="1E2761"/>
                </a:solidFill>
                <a:latin typeface="Calibri" pitchFamily="34" charset="0"/>
                <a:ea typeface="Calibri" pitchFamily="34" charset="-122"/>
                <a:cs typeface="Calibri" pitchFamily="34" charset="-120"/>
              </a:rPr>
              <a:t>P1 y P2 suman 1 a un contador compartido c (empieza en 0). Cada uno hace: LEER c, SUMAR 1, ESCRIBIR c. Veamos qué pasa si se intercalan así:</a:t>
            </a:r>
            <a:endParaRPr lang="en-US" sz="1300" dirty="0"/>
          </a:p>
        </p:txBody>
      </p:sp>
      <p:sp>
        <p:nvSpPr>
          <p:cNvPr id="8" name="Shape 6"/>
          <p:cNvSpPr/>
          <p:nvPr/>
        </p:nvSpPr>
        <p:spPr>
          <a:xfrm>
            <a:off x="640080" y="2194560"/>
            <a:ext cx="3840480" cy="411480"/>
          </a:xfrm>
          <a:prstGeom prst="rect">
            <a:avLst/>
          </a:prstGeom>
          <a:solidFill>
            <a:srgbClr val="1E2761"/>
          </a:solidFill>
          <a:ln/>
        </p:spPr>
        <p:txBody>
          <a:bodyPr/>
          <a:lstStyle/>
          <a:p>
            <a:endParaRPr lang="es-PY"/>
          </a:p>
        </p:txBody>
      </p:sp>
      <p:sp>
        <p:nvSpPr>
          <p:cNvPr id="9" name="Text 7"/>
          <p:cNvSpPr/>
          <p:nvPr/>
        </p:nvSpPr>
        <p:spPr>
          <a:xfrm>
            <a:off x="731520" y="2194560"/>
            <a:ext cx="3657600" cy="41148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Paso / acción</a:t>
            </a:r>
            <a:endParaRPr lang="en-US" sz="1150" dirty="0"/>
          </a:p>
        </p:txBody>
      </p:sp>
      <p:sp>
        <p:nvSpPr>
          <p:cNvPr id="10" name="Shape 8"/>
          <p:cNvSpPr/>
          <p:nvPr/>
        </p:nvSpPr>
        <p:spPr>
          <a:xfrm>
            <a:off x="4572000" y="2194560"/>
            <a:ext cx="1920240" cy="411480"/>
          </a:xfrm>
          <a:prstGeom prst="rect">
            <a:avLst/>
          </a:prstGeom>
          <a:solidFill>
            <a:srgbClr val="1E2761"/>
          </a:solidFill>
          <a:ln/>
        </p:spPr>
        <p:txBody>
          <a:bodyPr/>
          <a:lstStyle/>
          <a:p>
            <a:endParaRPr lang="es-PY"/>
          </a:p>
        </p:txBody>
      </p:sp>
      <p:sp>
        <p:nvSpPr>
          <p:cNvPr id="11" name="Text 9"/>
          <p:cNvSpPr/>
          <p:nvPr/>
        </p:nvSpPr>
        <p:spPr>
          <a:xfrm>
            <a:off x="4663440" y="2194560"/>
            <a:ext cx="1737360" cy="41148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Valor que tiene P1</a:t>
            </a:r>
            <a:endParaRPr lang="en-US" sz="1150" dirty="0"/>
          </a:p>
        </p:txBody>
      </p:sp>
      <p:sp>
        <p:nvSpPr>
          <p:cNvPr id="12" name="Shape 10"/>
          <p:cNvSpPr/>
          <p:nvPr/>
        </p:nvSpPr>
        <p:spPr>
          <a:xfrm>
            <a:off x="6583680" y="2194560"/>
            <a:ext cx="1920240" cy="411480"/>
          </a:xfrm>
          <a:prstGeom prst="rect">
            <a:avLst/>
          </a:prstGeom>
          <a:solidFill>
            <a:srgbClr val="1E2761"/>
          </a:solidFill>
          <a:ln/>
        </p:spPr>
        <p:txBody>
          <a:bodyPr/>
          <a:lstStyle/>
          <a:p>
            <a:endParaRPr lang="es-PY"/>
          </a:p>
        </p:txBody>
      </p:sp>
      <p:sp>
        <p:nvSpPr>
          <p:cNvPr id="13" name="Text 11"/>
          <p:cNvSpPr/>
          <p:nvPr/>
        </p:nvSpPr>
        <p:spPr>
          <a:xfrm>
            <a:off x="6675120" y="2194560"/>
            <a:ext cx="1737360" cy="41148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Valor que tiene P2</a:t>
            </a:r>
            <a:endParaRPr lang="en-US" sz="1150" dirty="0"/>
          </a:p>
        </p:txBody>
      </p:sp>
      <p:sp>
        <p:nvSpPr>
          <p:cNvPr id="14" name="Shape 12"/>
          <p:cNvSpPr/>
          <p:nvPr/>
        </p:nvSpPr>
        <p:spPr>
          <a:xfrm>
            <a:off x="8595360" y="2194560"/>
            <a:ext cx="2926080" cy="411480"/>
          </a:xfrm>
          <a:prstGeom prst="rect">
            <a:avLst/>
          </a:prstGeom>
          <a:solidFill>
            <a:srgbClr val="1E2761"/>
          </a:solidFill>
          <a:ln/>
        </p:spPr>
        <p:txBody>
          <a:bodyPr/>
          <a:lstStyle/>
          <a:p>
            <a:endParaRPr lang="es-PY"/>
          </a:p>
        </p:txBody>
      </p:sp>
      <p:sp>
        <p:nvSpPr>
          <p:cNvPr id="15" name="Text 13"/>
          <p:cNvSpPr/>
          <p:nvPr/>
        </p:nvSpPr>
        <p:spPr>
          <a:xfrm>
            <a:off x="8686800" y="2194560"/>
            <a:ext cx="2743200" cy="41148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c en memoria</a:t>
            </a:r>
            <a:endParaRPr lang="en-US" sz="1150" dirty="0"/>
          </a:p>
        </p:txBody>
      </p:sp>
      <p:sp>
        <p:nvSpPr>
          <p:cNvPr id="16" name="Shape 14"/>
          <p:cNvSpPr/>
          <p:nvPr/>
        </p:nvSpPr>
        <p:spPr>
          <a:xfrm>
            <a:off x="640080" y="2651760"/>
            <a:ext cx="3840480" cy="457200"/>
          </a:xfrm>
          <a:prstGeom prst="rect">
            <a:avLst/>
          </a:prstGeom>
          <a:solidFill>
            <a:srgbClr val="F7F8FC"/>
          </a:solidFill>
          <a:ln w="6350">
            <a:solidFill>
              <a:srgbClr val="E3E6F0"/>
            </a:solidFill>
            <a:prstDash val="solid"/>
          </a:ln>
        </p:spPr>
        <p:txBody>
          <a:bodyPr/>
          <a:lstStyle/>
          <a:p>
            <a:endParaRPr lang="es-PY"/>
          </a:p>
        </p:txBody>
      </p:sp>
      <p:sp>
        <p:nvSpPr>
          <p:cNvPr id="17" name="Text 15"/>
          <p:cNvSpPr/>
          <p:nvPr/>
        </p:nvSpPr>
        <p:spPr>
          <a:xfrm>
            <a:off x="731520" y="2651760"/>
            <a:ext cx="3657600" cy="457200"/>
          </a:xfrm>
          <a:prstGeom prst="rect">
            <a:avLst/>
          </a:prstGeom>
          <a:noFill/>
          <a:ln/>
        </p:spPr>
        <p:txBody>
          <a:bodyPr wrap="square" rtlCol="0" anchor="ctr"/>
          <a:lstStyle/>
          <a:p>
            <a:pPr marL="0" indent="0" algn="l">
              <a:buNone/>
            </a:pPr>
            <a:r>
              <a:rPr lang="en-US" sz="1250" dirty="0">
                <a:solidFill>
                  <a:srgbClr val="1B1F3B"/>
                </a:solidFill>
                <a:latin typeface="Calibri" pitchFamily="34" charset="0"/>
                <a:ea typeface="Calibri" pitchFamily="34" charset="-122"/>
                <a:cs typeface="Calibri" pitchFamily="34" charset="-120"/>
              </a:rPr>
              <a:t>1. P1 LEE c</a:t>
            </a:r>
            <a:endParaRPr lang="en-US" sz="1250" dirty="0"/>
          </a:p>
        </p:txBody>
      </p:sp>
      <p:sp>
        <p:nvSpPr>
          <p:cNvPr id="18" name="Shape 16"/>
          <p:cNvSpPr/>
          <p:nvPr/>
        </p:nvSpPr>
        <p:spPr>
          <a:xfrm>
            <a:off x="4572000" y="2651760"/>
            <a:ext cx="1920240" cy="457200"/>
          </a:xfrm>
          <a:prstGeom prst="rect">
            <a:avLst/>
          </a:prstGeom>
          <a:solidFill>
            <a:srgbClr val="F7F8FC"/>
          </a:solidFill>
          <a:ln w="6350">
            <a:solidFill>
              <a:srgbClr val="E3E6F0"/>
            </a:solidFill>
            <a:prstDash val="solid"/>
          </a:ln>
        </p:spPr>
        <p:txBody>
          <a:bodyPr/>
          <a:lstStyle/>
          <a:p>
            <a:endParaRPr lang="es-PY"/>
          </a:p>
        </p:txBody>
      </p:sp>
      <p:sp>
        <p:nvSpPr>
          <p:cNvPr id="19" name="Text 17"/>
          <p:cNvSpPr/>
          <p:nvPr/>
        </p:nvSpPr>
        <p:spPr>
          <a:xfrm>
            <a:off x="4663440" y="2651760"/>
            <a:ext cx="173736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0</a:t>
            </a:r>
            <a:endParaRPr lang="en-US" sz="1200" dirty="0"/>
          </a:p>
        </p:txBody>
      </p:sp>
      <p:sp>
        <p:nvSpPr>
          <p:cNvPr id="20" name="Shape 18"/>
          <p:cNvSpPr/>
          <p:nvPr/>
        </p:nvSpPr>
        <p:spPr>
          <a:xfrm>
            <a:off x="6583680" y="2651760"/>
            <a:ext cx="1920240" cy="457200"/>
          </a:xfrm>
          <a:prstGeom prst="rect">
            <a:avLst/>
          </a:prstGeom>
          <a:solidFill>
            <a:srgbClr val="F7F8FC"/>
          </a:solidFill>
          <a:ln w="6350">
            <a:solidFill>
              <a:srgbClr val="E3E6F0"/>
            </a:solidFill>
            <a:prstDash val="solid"/>
          </a:ln>
        </p:spPr>
        <p:txBody>
          <a:bodyPr/>
          <a:lstStyle/>
          <a:p>
            <a:endParaRPr lang="es-PY"/>
          </a:p>
        </p:txBody>
      </p:sp>
      <p:sp>
        <p:nvSpPr>
          <p:cNvPr id="21" name="Text 19"/>
          <p:cNvSpPr/>
          <p:nvPr/>
        </p:nvSpPr>
        <p:spPr>
          <a:xfrm>
            <a:off x="6675120" y="2651760"/>
            <a:ext cx="173736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a:t>
            </a:r>
            <a:endParaRPr lang="en-US" sz="1200" dirty="0"/>
          </a:p>
        </p:txBody>
      </p:sp>
      <p:sp>
        <p:nvSpPr>
          <p:cNvPr id="22" name="Shape 20"/>
          <p:cNvSpPr/>
          <p:nvPr/>
        </p:nvSpPr>
        <p:spPr>
          <a:xfrm>
            <a:off x="8595360" y="2651760"/>
            <a:ext cx="2926080" cy="457200"/>
          </a:xfrm>
          <a:prstGeom prst="rect">
            <a:avLst/>
          </a:prstGeom>
          <a:solidFill>
            <a:srgbClr val="F7F8FC"/>
          </a:solidFill>
          <a:ln w="6350">
            <a:solidFill>
              <a:srgbClr val="E3E6F0"/>
            </a:solidFill>
            <a:prstDash val="solid"/>
          </a:ln>
        </p:spPr>
        <p:txBody>
          <a:bodyPr/>
          <a:lstStyle/>
          <a:p>
            <a:endParaRPr lang="es-PY"/>
          </a:p>
        </p:txBody>
      </p:sp>
      <p:sp>
        <p:nvSpPr>
          <p:cNvPr id="23" name="Text 21"/>
          <p:cNvSpPr/>
          <p:nvPr/>
        </p:nvSpPr>
        <p:spPr>
          <a:xfrm>
            <a:off x="8686800" y="2651760"/>
            <a:ext cx="274320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0</a:t>
            </a:r>
            <a:endParaRPr lang="en-US" sz="1200" dirty="0"/>
          </a:p>
        </p:txBody>
      </p:sp>
      <p:sp>
        <p:nvSpPr>
          <p:cNvPr id="24" name="Shape 22"/>
          <p:cNvSpPr/>
          <p:nvPr/>
        </p:nvSpPr>
        <p:spPr>
          <a:xfrm>
            <a:off x="640080" y="3154680"/>
            <a:ext cx="3840480" cy="457200"/>
          </a:xfrm>
          <a:prstGeom prst="rect">
            <a:avLst/>
          </a:prstGeom>
          <a:solidFill>
            <a:srgbClr val="FFFFFF"/>
          </a:solidFill>
          <a:ln w="6350">
            <a:solidFill>
              <a:srgbClr val="E3E6F0"/>
            </a:solidFill>
            <a:prstDash val="solid"/>
          </a:ln>
        </p:spPr>
        <p:txBody>
          <a:bodyPr/>
          <a:lstStyle/>
          <a:p>
            <a:endParaRPr lang="es-PY"/>
          </a:p>
        </p:txBody>
      </p:sp>
      <p:sp>
        <p:nvSpPr>
          <p:cNvPr id="25" name="Text 23"/>
          <p:cNvSpPr/>
          <p:nvPr/>
        </p:nvSpPr>
        <p:spPr>
          <a:xfrm>
            <a:off x="731520" y="3154680"/>
            <a:ext cx="3657600" cy="457200"/>
          </a:xfrm>
          <a:prstGeom prst="rect">
            <a:avLst/>
          </a:prstGeom>
          <a:noFill/>
          <a:ln/>
        </p:spPr>
        <p:txBody>
          <a:bodyPr wrap="square" rtlCol="0" anchor="ctr"/>
          <a:lstStyle/>
          <a:p>
            <a:pPr marL="0" indent="0" algn="l">
              <a:buNone/>
            </a:pPr>
            <a:r>
              <a:rPr lang="en-US" sz="1250" dirty="0">
                <a:solidFill>
                  <a:srgbClr val="1B1F3B"/>
                </a:solidFill>
                <a:latin typeface="Calibri" pitchFamily="34" charset="0"/>
                <a:ea typeface="Calibri" pitchFamily="34" charset="-122"/>
                <a:cs typeface="Calibri" pitchFamily="34" charset="-120"/>
              </a:rPr>
              <a:t>2. P2 LEE c</a:t>
            </a:r>
            <a:endParaRPr lang="en-US" sz="1250" dirty="0"/>
          </a:p>
        </p:txBody>
      </p:sp>
      <p:sp>
        <p:nvSpPr>
          <p:cNvPr id="26" name="Shape 24"/>
          <p:cNvSpPr/>
          <p:nvPr/>
        </p:nvSpPr>
        <p:spPr>
          <a:xfrm>
            <a:off x="4572000" y="3154680"/>
            <a:ext cx="1920240" cy="457200"/>
          </a:xfrm>
          <a:prstGeom prst="rect">
            <a:avLst/>
          </a:prstGeom>
          <a:solidFill>
            <a:srgbClr val="FFFFFF"/>
          </a:solidFill>
          <a:ln w="6350">
            <a:solidFill>
              <a:srgbClr val="E3E6F0"/>
            </a:solidFill>
            <a:prstDash val="solid"/>
          </a:ln>
        </p:spPr>
        <p:txBody>
          <a:bodyPr/>
          <a:lstStyle/>
          <a:p>
            <a:endParaRPr lang="es-PY"/>
          </a:p>
        </p:txBody>
      </p:sp>
      <p:sp>
        <p:nvSpPr>
          <p:cNvPr id="27" name="Text 25"/>
          <p:cNvSpPr/>
          <p:nvPr/>
        </p:nvSpPr>
        <p:spPr>
          <a:xfrm>
            <a:off x="4663440" y="3154680"/>
            <a:ext cx="173736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0</a:t>
            </a:r>
            <a:endParaRPr lang="en-US" sz="1200" dirty="0"/>
          </a:p>
        </p:txBody>
      </p:sp>
      <p:sp>
        <p:nvSpPr>
          <p:cNvPr id="28" name="Shape 26"/>
          <p:cNvSpPr/>
          <p:nvPr/>
        </p:nvSpPr>
        <p:spPr>
          <a:xfrm>
            <a:off x="6583680" y="3154680"/>
            <a:ext cx="1920240" cy="457200"/>
          </a:xfrm>
          <a:prstGeom prst="rect">
            <a:avLst/>
          </a:prstGeom>
          <a:solidFill>
            <a:srgbClr val="FFFFFF"/>
          </a:solidFill>
          <a:ln w="6350">
            <a:solidFill>
              <a:srgbClr val="E3E6F0"/>
            </a:solidFill>
            <a:prstDash val="solid"/>
          </a:ln>
        </p:spPr>
        <p:txBody>
          <a:bodyPr/>
          <a:lstStyle/>
          <a:p>
            <a:endParaRPr lang="es-PY"/>
          </a:p>
        </p:txBody>
      </p:sp>
      <p:sp>
        <p:nvSpPr>
          <p:cNvPr id="29" name="Text 27"/>
          <p:cNvSpPr/>
          <p:nvPr/>
        </p:nvSpPr>
        <p:spPr>
          <a:xfrm>
            <a:off x="6675120" y="3154680"/>
            <a:ext cx="173736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0</a:t>
            </a:r>
            <a:endParaRPr lang="en-US" sz="1200" dirty="0"/>
          </a:p>
        </p:txBody>
      </p:sp>
      <p:sp>
        <p:nvSpPr>
          <p:cNvPr id="30" name="Shape 28"/>
          <p:cNvSpPr/>
          <p:nvPr/>
        </p:nvSpPr>
        <p:spPr>
          <a:xfrm>
            <a:off x="8595360" y="3154680"/>
            <a:ext cx="2926080" cy="457200"/>
          </a:xfrm>
          <a:prstGeom prst="rect">
            <a:avLst/>
          </a:prstGeom>
          <a:solidFill>
            <a:srgbClr val="FFFFFF"/>
          </a:solidFill>
          <a:ln w="6350">
            <a:solidFill>
              <a:srgbClr val="E3E6F0"/>
            </a:solidFill>
            <a:prstDash val="solid"/>
          </a:ln>
        </p:spPr>
        <p:txBody>
          <a:bodyPr/>
          <a:lstStyle/>
          <a:p>
            <a:endParaRPr lang="es-PY"/>
          </a:p>
        </p:txBody>
      </p:sp>
      <p:sp>
        <p:nvSpPr>
          <p:cNvPr id="31" name="Text 29"/>
          <p:cNvSpPr/>
          <p:nvPr/>
        </p:nvSpPr>
        <p:spPr>
          <a:xfrm>
            <a:off x="8686800" y="3154680"/>
            <a:ext cx="274320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0   (¡lee el mismo valor viejo!)</a:t>
            </a:r>
            <a:endParaRPr lang="en-US" sz="1200" dirty="0"/>
          </a:p>
        </p:txBody>
      </p:sp>
      <p:sp>
        <p:nvSpPr>
          <p:cNvPr id="32" name="Shape 30"/>
          <p:cNvSpPr/>
          <p:nvPr/>
        </p:nvSpPr>
        <p:spPr>
          <a:xfrm>
            <a:off x="640080" y="3657600"/>
            <a:ext cx="3840480" cy="457200"/>
          </a:xfrm>
          <a:prstGeom prst="rect">
            <a:avLst/>
          </a:prstGeom>
          <a:solidFill>
            <a:srgbClr val="F7F8FC"/>
          </a:solidFill>
          <a:ln w="6350">
            <a:solidFill>
              <a:srgbClr val="E3E6F0"/>
            </a:solidFill>
            <a:prstDash val="solid"/>
          </a:ln>
        </p:spPr>
        <p:txBody>
          <a:bodyPr/>
          <a:lstStyle/>
          <a:p>
            <a:endParaRPr lang="es-PY"/>
          </a:p>
        </p:txBody>
      </p:sp>
      <p:sp>
        <p:nvSpPr>
          <p:cNvPr id="33" name="Text 31"/>
          <p:cNvSpPr/>
          <p:nvPr/>
        </p:nvSpPr>
        <p:spPr>
          <a:xfrm>
            <a:off x="731520" y="3657600"/>
            <a:ext cx="3657600" cy="457200"/>
          </a:xfrm>
          <a:prstGeom prst="rect">
            <a:avLst/>
          </a:prstGeom>
          <a:noFill/>
          <a:ln/>
        </p:spPr>
        <p:txBody>
          <a:bodyPr wrap="square" rtlCol="0" anchor="ctr"/>
          <a:lstStyle/>
          <a:p>
            <a:pPr marL="0" indent="0" algn="l">
              <a:buNone/>
            </a:pPr>
            <a:r>
              <a:rPr lang="en-US" sz="1250" dirty="0">
                <a:solidFill>
                  <a:srgbClr val="1B1F3B"/>
                </a:solidFill>
                <a:latin typeface="Calibri" pitchFamily="34" charset="0"/>
                <a:ea typeface="Calibri" pitchFamily="34" charset="-122"/>
                <a:cs typeface="Calibri" pitchFamily="34" charset="-120"/>
              </a:rPr>
              <a:t>3. P1 suma 1 y ESCRIBE c</a:t>
            </a:r>
            <a:endParaRPr lang="en-US" sz="1250" dirty="0"/>
          </a:p>
        </p:txBody>
      </p:sp>
      <p:sp>
        <p:nvSpPr>
          <p:cNvPr id="34" name="Shape 32"/>
          <p:cNvSpPr/>
          <p:nvPr/>
        </p:nvSpPr>
        <p:spPr>
          <a:xfrm>
            <a:off x="4572000" y="3657600"/>
            <a:ext cx="1920240" cy="457200"/>
          </a:xfrm>
          <a:prstGeom prst="rect">
            <a:avLst/>
          </a:prstGeom>
          <a:solidFill>
            <a:srgbClr val="F7F8FC"/>
          </a:solidFill>
          <a:ln w="6350">
            <a:solidFill>
              <a:srgbClr val="E3E6F0"/>
            </a:solidFill>
            <a:prstDash val="solid"/>
          </a:ln>
        </p:spPr>
        <p:txBody>
          <a:bodyPr/>
          <a:lstStyle/>
          <a:p>
            <a:endParaRPr lang="es-PY"/>
          </a:p>
        </p:txBody>
      </p:sp>
      <p:sp>
        <p:nvSpPr>
          <p:cNvPr id="35" name="Text 33"/>
          <p:cNvSpPr/>
          <p:nvPr/>
        </p:nvSpPr>
        <p:spPr>
          <a:xfrm>
            <a:off x="4663440" y="3657600"/>
            <a:ext cx="173736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1</a:t>
            </a:r>
            <a:endParaRPr lang="en-US" sz="1200" dirty="0"/>
          </a:p>
        </p:txBody>
      </p:sp>
      <p:sp>
        <p:nvSpPr>
          <p:cNvPr id="36" name="Shape 34"/>
          <p:cNvSpPr/>
          <p:nvPr/>
        </p:nvSpPr>
        <p:spPr>
          <a:xfrm>
            <a:off x="6583680" y="3657600"/>
            <a:ext cx="1920240" cy="457200"/>
          </a:xfrm>
          <a:prstGeom prst="rect">
            <a:avLst/>
          </a:prstGeom>
          <a:solidFill>
            <a:srgbClr val="F7F8FC"/>
          </a:solidFill>
          <a:ln w="6350">
            <a:solidFill>
              <a:srgbClr val="E3E6F0"/>
            </a:solidFill>
            <a:prstDash val="solid"/>
          </a:ln>
        </p:spPr>
        <p:txBody>
          <a:bodyPr/>
          <a:lstStyle/>
          <a:p>
            <a:endParaRPr lang="es-PY"/>
          </a:p>
        </p:txBody>
      </p:sp>
      <p:sp>
        <p:nvSpPr>
          <p:cNvPr id="37" name="Text 35"/>
          <p:cNvSpPr/>
          <p:nvPr/>
        </p:nvSpPr>
        <p:spPr>
          <a:xfrm>
            <a:off x="6675120" y="3657600"/>
            <a:ext cx="173736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0</a:t>
            </a:r>
            <a:endParaRPr lang="en-US" sz="1200" dirty="0"/>
          </a:p>
        </p:txBody>
      </p:sp>
      <p:sp>
        <p:nvSpPr>
          <p:cNvPr id="38" name="Shape 36"/>
          <p:cNvSpPr/>
          <p:nvPr/>
        </p:nvSpPr>
        <p:spPr>
          <a:xfrm>
            <a:off x="8595360" y="3657600"/>
            <a:ext cx="2926080" cy="457200"/>
          </a:xfrm>
          <a:prstGeom prst="rect">
            <a:avLst/>
          </a:prstGeom>
          <a:solidFill>
            <a:srgbClr val="F7F8FC"/>
          </a:solidFill>
          <a:ln w="6350">
            <a:solidFill>
              <a:srgbClr val="E3E6F0"/>
            </a:solidFill>
            <a:prstDash val="solid"/>
          </a:ln>
        </p:spPr>
        <p:txBody>
          <a:bodyPr/>
          <a:lstStyle/>
          <a:p>
            <a:endParaRPr lang="es-PY"/>
          </a:p>
        </p:txBody>
      </p:sp>
      <p:sp>
        <p:nvSpPr>
          <p:cNvPr id="39" name="Text 37"/>
          <p:cNvSpPr/>
          <p:nvPr/>
        </p:nvSpPr>
        <p:spPr>
          <a:xfrm>
            <a:off x="8686800" y="3657600"/>
            <a:ext cx="274320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1</a:t>
            </a:r>
            <a:endParaRPr lang="en-US" sz="1200" dirty="0"/>
          </a:p>
        </p:txBody>
      </p:sp>
      <p:sp>
        <p:nvSpPr>
          <p:cNvPr id="40" name="Shape 38"/>
          <p:cNvSpPr/>
          <p:nvPr/>
        </p:nvSpPr>
        <p:spPr>
          <a:xfrm>
            <a:off x="640080" y="4160520"/>
            <a:ext cx="3840480" cy="457200"/>
          </a:xfrm>
          <a:prstGeom prst="rect">
            <a:avLst/>
          </a:prstGeom>
          <a:solidFill>
            <a:srgbClr val="FFFFFF"/>
          </a:solidFill>
          <a:ln w="6350">
            <a:solidFill>
              <a:srgbClr val="E3E6F0"/>
            </a:solidFill>
            <a:prstDash val="solid"/>
          </a:ln>
        </p:spPr>
        <p:txBody>
          <a:bodyPr/>
          <a:lstStyle/>
          <a:p>
            <a:endParaRPr lang="es-PY"/>
          </a:p>
        </p:txBody>
      </p:sp>
      <p:sp>
        <p:nvSpPr>
          <p:cNvPr id="41" name="Text 39"/>
          <p:cNvSpPr/>
          <p:nvPr/>
        </p:nvSpPr>
        <p:spPr>
          <a:xfrm>
            <a:off x="731520" y="4160520"/>
            <a:ext cx="3657600" cy="457200"/>
          </a:xfrm>
          <a:prstGeom prst="rect">
            <a:avLst/>
          </a:prstGeom>
          <a:noFill/>
          <a:ln/>
        </p:spPr>
        <p:txBody>
          <a:bodyPr wrap="square" rtlCol="0" anchor="ctr"/>
          <a:lstStyle/>
          <a:p>
            <a:pPr marL="0" indent="0" algn="l">
              <a:buNone/>
            </a:pPr>
            <a:r>
              <a:rPr lang="en-US" sz="1250" dirty="0">
                <a:solidFill>
                  <a:srgbClr val="1B1F3B"/>
                </a:solidFill>
                <a:latin typeface="Calibri" pitchFamily="34" charset="0"/>
                <a:ea typeface="Calibri" pitchFamily="34" charset="-122"/>
                <a:cs typeface="Calibri" pitchFamily="34" charset="-120"/>
              </a:rPr>
              <a:t>4. P2 suma 1 y ESCRIBE c</a:t>
            </a:r>
            <a:endParaRPr lang="en-US" sz="1250" dirty="0"/>
          </a:p>
        </p:txBody>
      </p:sp>
      <p:sp>
        <p:nvSpPr>
          <p:cNvPr id="42" name="Shape 40"/>
          <p:cNvSpPr/>
          <p:nvPr/>
        </p:nvSpPr>
        <p:spPr>
          <a:xfrm>
            <a:off x="4572000" y="4160520"/>
            <a:ext cx="1920240" cy="457200"/>
          </a:xfrm>
          <a:prstGeom prst="rect">
            <a:avLst/>
          </a:prstGeom>
          <a:solidFill>
            <a:srgbClr val="FFFFFF"/>
          </a:solidFill>
          <a:ln w="6350">
            <a:solidFill>
              <a:srgbClr val="E3E6F0"/>
            </a:solidFill>
            <a:prstDash val="solid"/>
          </a:ln>
        </p:spPr>
        <p:txBody>
          <a:bodyPr/>
          <a:lstStyle/>
          <a:p>
            <a:endParaRPr lang="es-PY"/>
          </a:p>
        </p:txBody>
      </p:sp>
      <p:sp>
        <p:nvSpPr>
          <p:cNvPr id="43" name="Text 41"/>
          <p:cNvSpPr/>
          <p:nvPr/>
        </p:nvSpPr>
        <p:spPr>
          <a:xfrm>
            <a:off x="4663440" y="4160520"/>
            <a:ext cx="173736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1</a:t>
            </a:r>
            <a:endParaRPr lang="en-US" sz="1200" dirty="0"/>
          </a:p>
        </p:txBody>
      </p:sp>
      <p:sp>
        <p:nvSpPr>
          <p:cNvPr id="44" name="Shape 42"/>
          <p:cNvSpPr/>
          <p:nvPr/>
        </p:nvSpPr>
        <p:spPr>
          <a:xfrm>
            <a:off x="6583680" y="4160520"/>
            <a:ext cx="1920240" cy="457200"/>
          </a:xfrm>
          <a:prstGeom prst="rect">
            <a:avLst/>
          </a:prstGeom>
          <a:solidFill>
            <a:srgbClr val="FFFFFF"/>
          </a:solidFill>
          <a:ln w="6350">
            <a:solidFill>
              <a:srgbClr val="E3E6F0"/>
            </a:solidFill>
            <a:prstDash val="solid"/>
          </a:ln>
        </p:spPr>
        <p:txBody>
          <a:bodyPr/>
          <a:lstStyle/>
          <a:p>
            <a:endParaRPr lang="es-PY"/>
          </a:p>
        </p:txBody>
      </p:sp>
      <p:sp>
        <p:nvSpPr>
          <p:cNvPr id="45" name="Text 43"/>
          <p:cNvSpPr/>
          <p:nvPr/>
        </p:nvSpPr>
        <p:spPr>
          <a:xfrm>
            <a:off x="6675120" y="4160520"/>
            <a:ext cx="173736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1</a:t>
            </a:r>
            <a:endParaRPr lang="en-US" sz="1200" dirty="0"/>
          </a:p>
        </p:txBody>
      </p:sp>
      <p:sp>
        <p:nvSpPr>
          <p:cNvPr id="46" name="Shape 44"/>
          <p:cNvSpPr/>
          <p:nvPr/>
        </p:nvSpPr>
        <p:spPr>
          <a:xfrm>
            <a:off x="8595360" y="4160520"/>
            <a:ext cx="2926080" cy="457200"/>
          </a:xfrm>
          <a:prstGeom prst="rect">
            <a:avLst/>
          </a:prstGeom>
          <a:solidFill>
            <a:srgbClr val="FFFFFF"/>
          </a:solidFill>
          <a:ln w="6350">
            <a:solidFill>
              <a:srgbClr val="E3E6F0"/>
            </a:solidFill>
            <a:prstDash val="solid"/>
          </a:ln>
        </p:spPr>
        <p:txBody>
          <a:bodyPr/>
          <a:lstStyle/>
          <a:p>
            <a:endParaRPr lang="es-PY"/>
          </a:p>
        </p:txBody>
      </p:sp>
      <p:sp>
        <p:nvSpPr>
          <p:cNvPr id="47" name="Text 45"/>
          <p:cNvSpPr/>
          <p:nvPr/>
        </p:nvSpPr>
        <p:spPr>
          <a:xfrm>
            <a:off x="8686800" y="4160520"/>
            <a:ext cx="2743200" cy="457200"/>
          </a:xfrm>
          <a:prstGeom prst="rect">
            <a:avLst/>
          </a:prstGeom>
          <a:noFill/>
          <a:ln/>
        </p:spPr>
        <p:txBody>
          <a:bodyPr wrap="square" rtlCol="0" anchor="ctr"/>
          <a:lstStyle/>
          <a:p>
            <a:pPr marL="0" indent="0" algn="ctr">
              <a:buNone/>
            </a:pPr>
            <a:r>
              <a:rPr lang="en-US" sz="1200" b="1" dirty="0">
                <a:solidFill>
                  <a:srgbClr val="1F6F5C"/>
                </a:solidFill>
                <a:latin typeface="Consolas" pitchFamily="34" charset="0"/>
                <a:ea typeface="Consolas" pitchFamily="34" charset="-122"/>
                <a:cs typeface="Consolas" pitchFamily="34" charset="-120"/>
              </a:rPr>
              <a:t>1   (P2 pisa el resultado de P1)</a:t>
            </a:r>
            <a:endParaRPr lang="en-US" sz="1200" dirty="0"/>
          </a:p>
        </p:txBody>
      </p:sp>
      <p:sp>
        <p:nvSpPr>
          <p:cNvPr id="48" name="Shape 46"/>
          <p:cNvSpPr/>
          <p:nvPr/>
        </p:nvSpPr>
        <p:spPr>
          <a:xfrm>
            <a:off x="640080" y="4800600"/>
            <a:ext cx="3520440" cy="1371600"/>
          </a:xfrm>
          <a:prstGeom prst="rect">
            <a:avLst/>
          </a:prstGeom>
          <a:solidFill>
            <a:srgbClr val="F2F4FB"/>
          </a:solidFill>
          <a:ln/>
        </p:spPr>
        <p:txBody>
          <a:bodyPr/>
          <a:lstStyle/>
          <a:p>
            <a:endParaRPr lang="es-PY"/>
          </a:p>
        </p:txBody>
      </p:sp>
      <p:sp>
        <p:nvSpPr>
          <p:cNvPr id="49" name="Text 47"/>
          <p:cNvSpPr/>
          <p:nvPr/>
        </p:nvSpPr>
        <p:spPr>
          <a:xfrm>
            <a:off x="868680" y="4910328"/>
            <a:ext cx="30632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a) Debería valer</a:t>
            </a:r>
            <a:endParaRPr lang="en-US" sz="1450" dirty="0"/>
          </a:p>
        </p:txBody>
      </p:sp>
      <p:sp>
        <p:nvSpPr>
          <p:cNvPr id="50" name="Text 48"/>
          <p:cNvSpPr/>
          <p:nvPr/>
        </p:nvSpPr>
        <p:spPr>
          <a:xfrm>
            <a:off x="868680" y="5349240"/>
            <a:ext cx="3063240" cy="731520"/>
          </a:xfrm>
          <a:prstGeom prst="rect">
            <a:avLst/>
          </a:prstGeom>
          <a:noFill/>
          <a:ln/>
        </p:spPr>
        <p:txBody>
          <a:bodyPr wrap="square" rtlCol="0" anchor="t"/>
          <a:lstStyle/>
          <a:p>
            <a:pPr marL="0" indent="0">
              <a:lnSpc>
                <a:spcPts val="1600"/>
              </a:lnSpc>
              <a:buNone/>
            </a:pPr>
            <a:r>
              <a:rPr lang="en-US" sz="1300" dirty="0">
                <a:solidFill>
                  <a:srgbClr val="1B1F3B"/>
                </a:solidFill>
                <a:latin typeface="Calibri" pitchFamily="34" charset="0"/>
                <a:ea typeface="Calibri" pitchFamily="34" charset="-122"/>
                <a:cs typeface="Calibri" pitchFamily="34" charset="-120"/>
              </a:rPr>
              <a:t>2: hubo dos sumas de 1.</a:t>
            </a:r>
            <a:endParaRPr lang="en-US" sz="1300" dirty="0"/>
          </a:p>
        </p:txBody>
      </p:sp>
      <p:sp>
        <p:nvSpPr>
          <p:cNvPr id="51" name="Shape 49"/>
          <p:cNvSpPr/>
          <p:nvPr/>
        </p:nvSpPr>
        <p:spPr>
          <a:xfrm>
            <a:off x="4343400" y="4800600"/>
            <a:ext cx="3520440" cy="1371600"/>
          </a:xfrm>
          <a:prstGeom prst="rect">
            <a:avLst/>
          </a:prstGeom>
          <a:solidFill>
            <a:srgbClr val="F2F4FB"/>
          </a:solidFill>
          <a:ln/>
        </p:spPr>
        <p:txBody>
          <a:bodyPr/>
          <a:lstStyle/>
          <a:p>
            <a:endParaRPr lang="es-PY"/>
          </a:p>
        </p:txBody>
      </p:sp>
      <p:sp>
        <p:nvSpPr>
          <p:cNvPr id="52" name="Text 50"/>
          <p:cNvSpPr/>
          <p:nvPr/>
        </p:nvSpPr>
        <p:spPr>
          <a:xfrm>
            <a:off x="4572000" y="4910328"/>
            <a:ext cx="30632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b) Realmente vale</a:t>
            </a:r>
            <a:endParaRPr lang="en-US" sz="1450" dirty="0"/>
          </a:p>
        </p:txBody>
      </p:sp>
      <p:sp>
        <p:nvSpPr>
          <p:cNvPr id="53" name="Text 51"/>
          <p:cNvSpPr/>
          <p:nvPr/>
        </p:nvSpPr>
        <p:spPr>
          <a:xfrm>
            <a:off x="4572000" y="5349240"/>
            <a:ext cx="3063240" cy="731520"/>
          </a:xfrm>
          <a:prstGeom prst="rect">
            <a:avLst/>
          </a:prstGeom>
          <a:noFill/>
          <a:ln/>
        </p:spPr>
        <p:txBody>
          <a:bodyPr wrap="square" rtlCol="0" anchor="t"/>
          <a:lstStyle/>
          <a:p>
            <a:pPr marL="0" indent="0">
              <a:lnSpc>
                <a:spcPts val="1600"/>
              </a:lnSpc>
              <a:buNone/>
            </a:pPr>
            <a:r>
              <a:rPr lang="en-US" sz="1300" dirty="0">
                <a:solidFill>
                  <a:srgbClr val="1B1F3B"/>
                </a:solidFill>
                <a:latin typeface="Calibri" pitchFamily="34" charset="0"/>
                <a:ea typeface="Calibri" pitchFamily="34" charset="-122"/>
                <a:cs typeface="Calibri" pitchFamily="34" charset="-120"/>
              </a:rPr>
              <a:t>1: se perdió una suma.</a:t>
            </a:r>
            <a:endParaRPr lang="en-US" sz="1300" dirty="0"/>
          </a:p>
        </p:txBody>
      </p:sp>
      <p:sp>
        <p:nvSpPr>
          <p:cNvPr id="54" name="Shape 52"/>
          <p:cNvSpPr/>
          <p:nvPr/>
        </p:nvSpPr>
        <p:spPr>
          <a:xfrm>
            <a:off x="8046720" y="4800600"/>
            <a:ext cx="3474720" cy="1371600"/>
          </a:xfrm>
          <a:prstGeom prst="rect">
            <a:avLst/>
          </a:prstGeom>
          <a:solidFill>
            <a:srgbClr val="1E2761"/>
          </a:solidFill>
          <a:ln/>
        </p:spPr>
        <p:txBody>
          <a:bodyPr/>
          <a:lstStyle/>
          <a:p>
            <a:endParaRPr lang="es-PY"/>
          </a:p>
        </p:txBody>
      </p:sp>
      <p:sp>
        <p:nvSpPr>
          <p:cNvPr id="55" name="Text 53"/>
          <p:cNvSpPr/>
          <p:nvPr/>
        </p:nvSpPr>
        <p:spPr>
          <a:xfrm>
            <a:off x="8275320" y="4910328"/>
            <a:ext cx="301752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c) Con un semáforo</a:t>
            </a:r>
            <a:endParaRPr lang="en-US" sz="1450" dirty="0"/>
          </a:p>
        </p:txBody>
      </p:sp>
      <p:sp>
        <p:nvSpPr>
          <p:cNvPr id="56" name="Text 54"/>
          <p:cNvSpPr/>
          <p:nvPr/>
        </p:nvSpPr>
        <p:spPr>
          <a:xfrm>
            <a:off x="8275320" y="5349240"/>
            <a:ext cx="3017520" cy="731520"/>
          </a:xfrm>
          <a:prstGeom prst="rect">
            <a:avLst/>
          </a:prstGeom>
          <a:noFill/>
          <a:ln/>
        </p:spPr>
        <p:txBody>
          <a:bodyPr wrap="square" rtlCol="0" anchor="t"/>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LEER+SUMAR+ESCRIBIR entre wait(s) y signal(s), con s = 1.</a:t>
            </a:r>
            <a:endParaRPr lang="en-US" sz="1200" dirty="0"/>
          </a:p>
        </p:txBody>
      </p:sp>
      <p:sp>
        <p:nvSpPr>
          <p:cNvPr id="57" name="Text 55"/>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EL PROBLEMA CLÁSICO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Productor / consumidor con semáforos</a:t>
            </a:r>
            <a:endParaRPr lang="en-US" sz="2800" dirty="0"/>
          </a:p>
        </p:txBody>
      </p:sp>
      <p:sp>
        <p:nvSpPr>
          <p:cNvPr id="6" name="Text 4"/>
          <p:cNvSpPr/>
          <p:nvPr/>
        </p:nvSpPr>
        <p:spPr>
          <a:xfrm>
            <a:off x="640080" y="1645920"/>
            <a:ext cx="10881360" cy="685800"/>
          </a:xfrm>
          <a:prstGeom prst="rect">
            <a:avLst/>
          </a:prstGeom>
          <a:noFill/>
          <a:ln/>
        </p:spPr>
        <p:txBody>
          <a:bodyPr wrap="square" rtlCol="0" anchor="ctr"/>
          <a:lstStyle/>
          <a:p>
            <a:pPr marL="0" indent="0">
              <a:lnSpc>
                <a:spcPts val="1700"/>
              </a:lnSpc>
              <a:buNone/>
            </a:pPr>
            <a:r>
              <a:rPr lang="en-US" sz="1300" dirty="0">
                <a:solidFill>
                  <a:srgbClr val="5B6584"/>
                </a:solidFill>
                <a:latin typeface="Calibri" pitchFamily="34" charset="0"/>
                <a:ea typeface="Calibri" pitchFamily="34" charset="-122"/>
                <a:cs typeface="Calibri" pitchFamily="34" charset="-120"/>
              </a:rPr>
              <a:t>Uno o más productores generan datos y los dejan en un buffer; un consumidor los extrae de a uno. Nunca pueden tocar el buffer a la vez, y el consumidor no puede leer un buffer vacío.</a:t>
            </a:r>
            <a:endParaRPr lang="en-US" sz="1300" dirty="0"/>
          </a:p>
        </p:txBody>
      </p:sp>
      <p:sp>
        <p:nvSpPr>
          <p:cNvPr id="7" name="Shape 5"/>
          <p:cNvSpPr/>
          <p:nvPr/>
        </p:nvSpPr>
        <p:spPr>
          <a:xfrm>
            <a:off x="640080" y="2423160"/>
            <a:ext cx="5486400" cy="2743200"/>
          </a:xfrm>
          <a:prstGeom prst="rect">
            <a:avLst/>
          </a:prstGeom>
          <a:solidFill>
            <a:srgbClr val="1B1F2B"/>
          </a:solidFill>
          <a:ln/>
        </p:spPr>
        <p:txBody>
          <a:bodyPr/>
          <a:lstStyle/>
          <a:p>
            <a:endParaRPr lang="es-PY"/>
          </a:p>
        </p:txBody>
      </p:sp>
      <p:sp>
        <p:nvSpPr>
          <p:cNvPr id="8" name="Text 6"/>
          <p:cNvSpPr/>
          <p:nvPr/>
        </p:nvSpPr>
        <p:spPr>
          <a:xfrm>
            <a:off x="868680" y="2532888"/>
            <a:ext cx="5029200" cy="2523744"/>
          </a:xfrm>
          <a:prstGeom prst="rect">
            <a:avLst/>
          </a:prstGeom>
          <a:noFill/>
          <a:ln/>
        </p:spPr>
        <p:txBody>
          <a:bodyPr wrap="square" rtlCol="0" anchor="t"/>
          <a:lstStyle/>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n: semáforo := 0   (elementos en buffer)</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s: semáforo := 1   (exclusión mutua)</a:t>
            </a:r>
            <a:endParaRPr lang="en-US" sz="1150" dirty="0"/>
          </a:p>
          <a:p>
            <a:pPr marL="0" indent="0">
              <a:lnSpc>
                <a:spcPts val="1450"/>
              </a:lnSpc>
              <a:buNone/>
            </a:pP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productor:                consumidor:</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producir;                 wait(n);</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wait(s);                  wait(s);</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añadir al buffer;         tomar del buffer;</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signal(s);                signal(s);</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signal(n)                 consumir</a:t>
            </a:r>
            <a:endParaRPr lang="en-US" sz="1150" dirty="0"/>
          </a:p>
        </p:txBody>
      </p:sp>
      <p:sp>
        <p:nvSpPr>
          <p:cNvPr id="9" name="Shape 7"/>
          <p:cNvSpPr/>
          <p:nvPr/>
        </p:nvSpPr>
        <p:spPr>
          <a:xfrm>
            <a:off x="6309360" y="2423160"/>
            <a:ext cx="5212080" cy="1325880"/>
          </a:xfrm>
          <a:prstGeom prst="rect">
            <a:avLst/>
          </a:prstGeom>
          <a:solidFill>
            <a:srgbClr val="F2F4FB"/>
          </a:solidFill>
          <a:ln/>
        </p:spPr>
        <p:txBody>
          <a:bodyPr/>
          <a:lstStyle/>
          <a:p>
            <a:endParaRPr lang="es-PY"/>
          </a:p>
        </p:txBody>
      </p:sp>
      <p:sp>
        <p:nvSpPr>
          <p:cNvPr id="10" name="Text 8"/>
          <p:cNvSpPr/>
          <p:nvPr/>
        </p:nvSpPr>
        <p:spPr>
          <a:xfrm>
            <a:off x="6537960" y="2532888"/>
            <a:ext cx="475488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Dos semáforos, dos funciones</a:t>
            </a:r>
            <a:endParaRPr lang="en-US" sz="1450" dirty="0"/>
          </a:p>
        </p:txBody>
      </p:sp>
      <p:sp>
        <p:nvSpPr>
          <p:cNvPr id="11" name="Text 9"/>
          <p:cNvSpPr/>
          <p:nvPr/>
        </p:nvSpPr>
        <p:spPr>
          <a:xfrm>
            <a:off x="6537960" y="2971800"/>
            <a:ext cx="4754880" cy="685800"/>
          </a:xfrm>
          <a:prstGeom prst="rect">
            <a:avLst/>
          </a:prstGeom>
          <a:noFill/>
          <a:ln/>
        </p:spPr>
        <p:txBody>
          <a:bodyPr wrap="square" rtlCol="0" anchor="t"/>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s protege el buffer (exclusión mutua). n cuenta los elementos disponibles (sincronización: el consumidor espera si n = 0).</a:t>
            </a:r>
            <a:endParaRPr lang="en-US" sz="1200" dirty="0"/>
          </a:p>
        </p:txBody>
      </p:sp>
      <p:sp>
        <p:nvSpPr>
          <p:cNvPr id="12" name="Shape 10"/>
          <p:cNvSpPr/>
          <p:nvPr/>
        </p:nvSpPr>
        <p:spPr>
          <a:xfrm>
            <a:off x="6309360" y="3840480"/>
            <a:ext cx="5212080" cy="1325880"/>
          </a:xfrm>
          <a:prstGeom prst="rect">
            <a:avLst/>
          </a:prstGeom>
          <a:solidFill>
            <a:srgbClr val="1E2761"/>
          </a:solidFill>
          <a:ln/>
        </p:spPr>
        <p:txBody>
          <a:bodyPr/>
          <a:lstStyle/>
          <a:p>
            <a:endParaRPr lang="es-PY"/>
          </a:p>
        </p:txBody>
      </p:sp>
      <p:sp>
        <p:nvSpPr>
          <p:cNvPr id="13" name="Text 11"/>
          <p:cNvSpPr/>
          <p:nvPr/>
        </p:nvSpPr>
        <p:spPr>
          <a:xfrm>
            <a:off x="6537960" y="3950208"/>
            <a:ext cx="475488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Dato del material</a:t>
            </a:r>
            <a:endParaRPr lang="en-US" sz="1450" dirty="0"/>
          </a:p>
        </p:txBody>
      </p:sp>
      <p:sp>
        <p:nvSpPr>
          <p:cNvPr id="14" name="Text 12"/>
          <p:cNvSpPr/>
          <p:nvPr/>
        </p:nvSpPr>
        <p:spPr>
          <a:xfrm>
            <a:off x="6537960" y="4389120"/>
            <a:ext cx="4754880" cy="685800"/>
          </a:xfrm>
          <a:prstGeom prst="rect">
            <a:avLst/>
          </a:prstGeom>
          <a:noFill/>
          <a:ln/>
        </p:spPr>
        <p:txBody>
          <a:bodyPr wrap="square" rtlCol="0" anchor="t"/>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Intercambiar el orden de signal(s) y signal(n) en el productor NO afecta el programa: el consumidor debe esperar ambos semáforos antes de seguir.</a:t>
            </a:r>
            <a:endParaRPr lang="en-US" sz="1200" dirty="0"/>
          </a:p>
        </p:txBody>
      </p:sp>
      <p:sp>
        <p:nvSpPr>
          <p:cNvPr id="15" name="Text 13"/>
          <p:cNvSpPr/>
          <p:nvPr/>
        </p:nvSpPr>
        <p:spPr>
          <a:xfrm>
            <a:off x="640080" y="5394960"/>
            <a:ext cx="1088136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Para discutir: ¿qué pasaría si el CONSUMIDOR invirtiera el orden de wait(n) y wait(s)?</a:t>
            </a:r>
            <a:endParaRPr lang="en-US" sz="1350" dirty="0"/>
          </a:p>
        </p:txBody>
      </p:sp>
      <p:sp>
        <p:nvSpPr>
          <p:cNvPr id="16" name="Text 14"/>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10</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MECANISMO 2</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Monitores: sincronización más ordenada</a:t>
            </a:r>
            <a:endParaRPr lang="en-US" sz="2800" dirty="0"/>
          </a:p>
        </p:txBody>
      </p:sp>
      <p:sp>
        <p:nvSpPr>
          <p:cNvPr id="6" name="Text 4"/>
          <p:cNvSpPr/>
          <p:nvPr/>
        </p:nvSpPr>
        <p:spPr>
          <a:xfrm>
            <a:off x="640080" y="1691640"/>
            <a:ext cx="10881360" cy="685800"/>
          </a:xfrm>
          <a:prstGeom prst="rect">
            <a:avLst/>
          </a:prstGeom>
          <a:noFill/>
          <a:ln/>
        </p:spPr>
        <p:txBody>
          <a:bodyPr wrap="square" rtlCol="0" anchor="ctr"/>
          <a:lstStyle/>
          <a:p>
            <a:pPr marL="0" indent="0">
              <a:lnSpc>
                <a:spcPts val="1900"/>
              </a:lnSpc>
              <a:buNone/>
            </a:pPr>
            <a:r>
              <a:rPr lang="en-US" sz="1400" dirty="0">
                <a:solidFill>
                  <a:srgbClr val="CADCFC"/>
                </a:solidFill>
                <a:latin typeface="Calibri" pitchFamily="34" charset="0"/>
                <a:ea typeface="Calibri" pitchFamily="34" charset="-122"/>
                <a:cs typeface="Calibri" pitchFamily="34" charset="-120"/>
              </a:rPr>
              <a:t>Con semáforos, los wait y signal están desparramados por todo el programa: es fácil equivocarse. Un monitor los encierra en un módulo.</a:t>
            </a:r>
            <a:endParaRPr lang="en-US" sz="1400" dirty="0"/>
          </a:p>
        </p:txBody>
      </p:sp>
      <p:sp>
        <p:nvSpPr>
          <p:cNvPr id="7" name="Shape 5"/>
          <p:cNvSpPr/>
          <p:nvPr/>
        </p:nvSpPr>
        <p:spPr>
          <a:xfrm>
            <a:off x="640080" y="2514600"/>
            <a:ext cx="3520440" cy="2286000"/>
          </a:xfrm>
          <a:prstGeom prst="rect">
            <a:avLst/>
          </a:prstGeom>
          <a:solidFill>
            <a:srgbClr val="232E6E"/>
          </a:solidFill>
          <a:ln/>
        </p:spPr>
        <p:txBody>
          <a:bodyPr/>
          <a:lstStyle/>
          <a:p>
            <a:endParaRPr lang="es-PY"/>
          </a:p>
        </p:txBody>
      </p:sp>
      <p:sp>
        <p:nvSpPr>
          <p:cNvPr id="8" name="Text 6"/>
          <p:cNvSpPr/>
          <p:nvPr/>
        </p:nvSpPr>
        <p:spPr>
          <a:xfrm>
            <a:off x="868680" y="2624328"/>
            <a:ext cx="306324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1. Datos locales</a:t>
            </a:r>
            <a:endParaRPr lang="en-US" sz="1450" dirty="0"/>
          </a:p>
        </p:txBody>
      </p:sp>
      <p:sp>
        <p:nvSpPr>
          <p:cNvPr id="9" name="Text 7"/>
          <p:cNvSpPr/>
          <p:nvPr/>
        </p:nvSpPr>
        <p:spPr>
          <a:xfrm>
            <a:off x="868680" y="3063240"/>
            <a:ext cx="3063240" cy="1645920"/>
          </a:xfrm>
          <a:prstGeom prst="rect">
            <a:avLst/>
          </a:prstGeom>
          <a:noFill/>
          <a:ln/>
        </p:spPr>
        <p:txBody>
          <a:bodyPr wrap="square" rtlCol="0" anchor="t"/>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Las variables del monitor solo son accesibles desde sus propios procedimientos.</a:t>
            </a:r>
            <a:endParaRPr lang="en-US" sz="1200" dirty="0"/>
          </a:p>
        </p:txBody>
      </p:sp>
      <p:sp>
        <p:nvSpPr>
          <p:cNvPr id="10" name="Shape 8"/>
          <p:cNvSpPr/>
          <p:nvPr/>
        </p:nvSpPr>
        <p:spPr>
          <a:xfrm>
            <a:off x="4343400" y="2514600"/>
            <a:ext cx="3520440" cy="2286000"/>
          </a:xfrm>
          <a:prstGeom prst="rect">
            <a:avLst/>
          </a:prstGeom>
          <a:solidFill>
            <a:srgbClr val="232E6E"/>
          </a:solidFill>
          <a:ln/>
        </p:spPr>
        <p:txBody>
          <a:bodyPr/>
          <a:lstStyle/>
          <a:p>
            <a:endParaRPr lang="es-PY"/>
          </a:p>
        </p:txBody>
      </p:sp>
      <p:sp>
        <p:nvSpPr>
          <p:cNvPr id="11" name="Text 9"/>
          <p:cNvSpPr/>
          <p:nvPr/>
        </p:nvSpPr>
        <p:spPr>
          <a:xfrm>
            <a:off x="4572000" y="2624328"/>
            <a:ext cx="306324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2. Un punto de entrada</a:t>
            </a:r>
            <a:endParaRPr lang="en-US" sz="1450" dirty="0"/>
          </a:p>
        </p:txBody>
      </p:sp>
      <p:sp>
        <p:nvSpPr>
          <p:cNvPr id="12" name="Text 10"/>
          <p:cNvSpPr/>
          <p:nvPr/>
        </p:nvSpPr>
        <p:spPr>
          <a:xfrm>
            <a:off x="4572000" y="3063240"/>
            <a:ext cx="3063240" cy="1645920"/>
          </a:xfrm>
          <a:prstGeom prst="rect">
            <a:avLst/>
          </a:prstGeom>
          <a:noFill/>
          <a:ln/>
        </p:spPr>
        <p:txBody>
          <a:bodyPr wrap="square" rtlCol="0" anchor="t"/>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El proceso entra llamando a un procedimiento del monitor.</a:t>
            </a:r>
            <a:endParaRPr lang="en-US" sz="1200" dirty="0"/>
          </a:p>
        </p:txBody>
      </p:sp>
      <p:sp>
        <p:nvSpPr>
          <p:cNvPr id="13" name="Shape 11"/>
          <p:cNvSpPr/>
          <p:nvPr/>
        </p:nvSpPr>
        <p:spPr>
          <a:xfrm>
            <a:off x="8046720" y="2514600"/>
            <a:ext cx="3474720" cy="2286000"/>
          </a:xfrm>
          <a:prstGeom prst="rect">
            <a:avLst/>
          </a:prstGeom>
          <a:solidFill>
            <a:srgbClr val="232E6E"/>
          </a:solidFill>
          <a:ln/>
        </p:spPr>
        <p:txBody>
          <a:bodyPr/>
          <a:lstStyle/>
          <a:p>
            <a:endParaRPr lang="es-PY"/>
          </a:p>
        </p:txBody>
      </p:sp>
      <p:sp>
        <p:nvSpPr>
          <p:cNvPr id="14" name="Text 12"/>
          <p:cNvSpPr/>
          <p:nvPr/>
        </p:nvSpPr>
        <p:spPr>
          <a:xfrm>
            <a:off x="8275320" y="2624328"/>
            <a:ext cx="301752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3. Uno a la vez</a:t>
            </a:r>
            <a:endParaRPr lang="en-US" sz="1450" dirty="0"/>
          </a:p>
        </p:txBody>
      </p:sp>
      <p:sp>
        <p:nvSpPr>
          <p:cNvPr id="15" name="Text 13"/>
          <p:cNvSpPr/>
          <p:nvPr/>
        </p:nvSpPr>
        <p:spPr>
          <a:xfrm>
            <a:off x="8275320" y="3063240"/>
            <a:ext cx="3017520" cy="1645920"/>
          </a:xfrm>
          <a:prstGeom prst="rect">
            <a:avLst/>
          </a:prstGeom>
          <a:noFill/>
          <a:ln/>
        </p:spPr>
        <p:txBody>
          <a:bodyPr wrap="square" rtlCol="0" anchor="t"/>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Solo un proceso puede estar ejecutando dentro del monitor. Los demás esperan afuera.</a:t>
            </a:r>
            <a:endParaRPr lang="en-US" sz="1200" dirty="0"/>
          </a:p>
        </p:txBody>
      </p:sp>
      <p:sp>
        <p:nvSpPr>
          <p:cNvPr id="16" name="Shape 14"/>
          <p:cNvSpPr/>
          <p:nvPr/>
        </p:nvSpPr>
        <p:spPr>
          <a:xfrm>
            <a:off x="640080" y="4937760"/>
            <a:ext cx="5349240" cy="1097280"/>
          </a:xfrm>
          <a:prstGeom prst="rect">
            <a:avLst/>
          </a:prstGeom>
          <a:solidFill>
            <a:srgbClr val="F2F4FB"/>
          </a:solidFill>
          <a:ln/>
        </p:spPr>
        <p:txBody>
          <a:bodyPr/>
          <a:lstStyle/>
          <a:p>
            <a:endParaRPr lang="es-PY"/>
          </a:p>
        </p:txBody>
      </p:sp>
      <p:sp>
        <p:nvSpPr>
          <p:cNvPr id="17" name="Text 15"/>
          <p:cNvSpPr/>
          <p:nvPr/>
        </p:nvSpPr>
        <p:spPr>
          <a:xfrm>
            <a:off x="868680" y="504748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cwait(c)</a:t>
            </a:r>
            <a:endParaRPr lang="en-US" sz="1450" dirty="0"/>
          </a:p>
        </p:txBody>
      </p:sp>
      <p:sp>
        <p:nvSpPr>
          <p:cNvPr id="18" name="Text 16"/>
          <p:cNvSpPr/>
          <p:nvPr/>
        </p:nvSpPr>
        <p:spPr>
          <a:xfrm>
            <a:off x="868680" y="5486400"/>
            <a:ext cx="4892040" cy="457200"/>
          </a:xfrm>
          <a:prstGeom prst="rect">
            <a:avLst/>
          </a:prstGeom>
          <a:noFill/>
          <a:ln/>
        </p:spPr>
        <p:txBody>
          <a:bodyPr wrap="square" rtlCol="0" anchor="t"/>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Suspende al proceso bajo la condición c y libera el monitor.</a:t>
            </a:r>
            <a:endParaRPr lang="en-US" sz="1200" dirty="0"/>
          </a:p>
        </p:txBody>
      </p:sp>
      <p:sp>
        <p:nvSpPr>
          <p:cNvPr id="19" name="Shape 17"/>
          <p:cNvSpPr/>
          <p:nvPr/>
        </p:nvSpPr>
        <p:spPr>
          <a:xfrm>
            <a:off x="6172200" y="4937760"/>
            <a:ext cx="5349240" cy="1097280"/>
          </a:xfrm>
          <a:prstGeom prst="rect">
            <a:avLst/>
          </a:prstGeom>
          <a:solidFill>
            <a:srgbClr val="F2F4FB"/>
          </a:solidFill>
          <a:ln/>
        </p:spPr>
        <p:txBody>
          <a:bodyPr/>
          <a:lstStyle/>
          <a:p>
            <a:endParaRPr lang="es-PY"/>
          </a:p>
        </p:txBody>
      </p:sp>
      <p:sp>
        <p:nvSpPr>
          <p:cNvPr id="20" name="Text 18"/>
          <p:cNvSpPr/>
          <p:nvPr/>
        </p:nvSpPr>
        <p:spPr>
          <a:xfrm>
            <a:off x="6400800" y="504748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csignal(c)</a:t>
            </a:r>
            <a:endParaRPr lang="en-US" sz="1450" dirty="0"/>
          </a:p>
        </p:txBody>
      </p:sp>
      <p:sp>
        <p:nvSpPr>
          <p:cNvPr id="21" name="Text 19"/>
          <p:cNvSpPr/>
          <p:nvPr/>
        </p:nvSpPr>
        <p:spPr>
          <a:xfrm>
            <a:off x="6400800" y="5486400"/>
            <a:ext cx="4892040" cy="457200"/>
          </a:xfrm>
          <a:prstGeom prst="rect">
            <a:avLst/>
          </a:prstGeom>
          <a:noFill/>
          <a:ln/>
        </p:spPr>
        <p:txBody>
          <a:bodyPr wrap="square" rtlCol="0" anchor="t"/>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Reanuda a un proceso suspendido en c. Si nadie espera, la señal se pierde.</a:t>
            </a:r>
            <a:endParaRPr lang="en-US" sz="1200" dirty="0"/>
          </a:p>
        </p:txBody>
      </p:sp>
      <p:sp>
        <p:nvSpPr>
          <p:cNvPr id="22" name="Text 20"/>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MECANISMO 3</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Paso de mensajes: comunicación + sincronización</a:t>
            </a:r>
            <a:endParaRPr lang="en-US" sz="2800" dirty="0"/>
          </a:p>
        </p:txBody>
      </p:sp>
      <p:sp>
        <p:nvSpPr>
          <p:cNvPr id="6" name="Text 4"/>
          <p:cNvSpPr/>
          <p:nvPr/>
        </p:nvSpPr>
        <p:spPr>
          <a:xfrm>
            <a:off x="640080" y="1645920"/>
            <a:ext cx="10881360" cy="777240"/>
          </a:xfrm>
          <a:prstGeom prst="rect">
            <a:avLst/>
          </a:prstGeom>
          <a:noFill/>
          <a:ln/>
        </p:spPr>
        <p:txBody>
          <a:bodyPr wrap="square" rtlCol="0" anchor="ctr"/>
          <a:lstStyle/>
          <a:p>
            <a:pPr marL="0" indent="0">
              <a:lnSpc>
                <a:spcPts val="1700"/>
              </a:lnSpc>
              <a:buNone/>
            </a:pPr>
            <a:r>
              <a:rPr lang="en-US" sz="1300" dirty="0">
                <a:solidFill>
                  <a:srgbClr val="5B6584"/>
                </a:solidFill>
                <a:latin typeface="Calibri" pitchFamily="34" charset="0"/>
                <a:ea typeface="Calibri" pitchFamily="34" charset="-122"/>
                <a:cs typeface="Calibri" pitchFamily="34" charset="-120"/>
              </a:rPr>
              <a:t>Cuando los procesos interactúan necesitan sincronizarse (exclusión mutua) y comunicarse (intercambiar información). El paso de mensajes cubre ambas cosas, y sirve en sistemas distribuidos, multiprocesadores y monoprocesadores.</a:t>
            </a:r>
            <a:endParaRPr lang="en-US" sz="1300" dirty="0"/>
          </a:p>
        </p:txBody>
      </p:sp>
      <p:sp>
        <p:nvSpPr>
          <p:cNvPr id="7" name="Shape 5"/>
          <p:cNvSpPr/>
          <p:nvPr/>
        </p:nvSpPr>
        <p:spPr>
          <a:xfrm>
            <a:off x="640080" y="2560320"/>
            <a:ext cx="4572000" cy="1097280"/>
          </a:xfrm>
          <a:prstGeom prst="rect">
            <a:avLst/>
          </a:prstGeom>
          <a:solidFill>
            <a:srgbClr val="1B1F2B"/>
          </a:solidFill>
          <a:ln/>
        </p:spPr>
        <p:txBody>
          <a:bodyPr/>
          <a:lstStyle/>
          <a:p>
            <a:endParaRPr lang="es-PY"/>
          </a:p>
        </p:txBody>
      </p:sp>
      <p:sp>
        <p:nvSpPr>
          <p:cNvPr id="8" name="Text 6"/>
          <p:cNvSpPr/>
          <p:nvPr/>
        </p:nvSpPr>
        <p:spPr>
          <a:xfrm>
            <a:off x="868680" y="2670048"/>
            <a:ext cx="4114800" cy="877824"/>
          </a:xfrm>
          <a:prstGeom prst="rect">
            <a:avLst/>
          </a:prstGeom>
          <a:noFill/>
          <a:ln/>
        </p:spPr>
        <p:txBody>
          <a:bodyPr wrap="square" rtlCol="0" anchor="t"/>
          <a:lstStyle/>
          <a:p>
            <a:pPr marL="0" indent="0">
              <a:lnSpc>
                <a:spcPts val="1800"/>
              </a:lnSpc>
              <a:buNone/>
            </a:pPr>
            <a:r>
              <a:rPr lang="en-US" sz="1500" dirty="0">
                <a:solidFill>
                  <a:srgbClr val="8CE99A"/>
                </a:solidFill>
                <a:latin typeface="Consolas" pitchFamily="34" charset="0"/>
                <a:ea typeface="Consolas" pitchFamily="34" charset="-122"/>
                <a:cs typeface="Consolas" pitchFamily="34" charset="-120"/>
              </a:rPr>
              <a:t>send(destino, mensaje)</a:t>
            </a:r>
            <a:endParaRPr lang="en-US" sz="1500" dirty="0"/>
          </a:p>
          <a:p>
            <a:pPr marL="0" indent="0">
              <a:lnSpc>
                <a:spcPts val="1800"/>
              </a:lnSpc>
              <a:buNone/>
            </a:pPr>
            <a:r>
              <a:rPr lang="en-US" sz="1500" dirty="0">
                <a:solidFill>
                  <a:srgbClr val="8CE99A"/>
                </a:solidFill>
                <a:latin typeface="Consolas" pitchFamily="34" charset="0"/>
                <a:ea typeface="Consolas" pitchFamily="34" charset="-122"/>
                <a:cs typeface="Consolas" pitchFamily="34" charset="-120"/>
              </a:rPr>
              <a:t>receive(origen, mensaje)</a:t>
            </a:r>
            <a:endParaRPr lang="en-US" sz="1500" dirty="0"/>
          </a:p>
        </p:txBody>
      </p:sp>
      <p:sp>
        <p:nvSpPr>
          <p:cNvPr id="9" name="Text 7"/>
          <p:cNvSpPr/>
          <p:nvPr/>
        </p:nvSpPr>
        <p:spPr>
          <a:xfrm>
            <a:off x="5486400" y="2514600"/>
            <a:ext cx="6035040" cy="36576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Combinaciones de sincronización:</a:t>
            </a:r>
            <a:endParaRPr lang="en-US" sz="1400" dirty="0"/>
          </a:p>
        </p:txBody>
      </p:sp>
      <p:sp>
        <p:nvSpPr>
          <p:cNvPr id="10" name="Shape 8"/>
          <p:cNvSpPr/>
          <p:nvPr/>
        </p:nvSpPr>
        <p:spPr>
          <a:xfrm>
            <a:off x="640080" y="3840480"/>
            <a:ext cx="3520440" cy="2103120"/>
          </a:xfrm>
          <a:prstGeom prst="rect">
            <a:avLst/>
          </a:prstGeom>
          <a:solidFill>
            <a:srgbClr val="F2F4FB"/>
          </a:solidFill>
          <a:ln/>
        </p:spPr>
        <p:txBody>
          <a:bodyPr/>
          <a:lstStyle/>
          <a:p>
            <a:endParaRPr lang="es-PY"/>
          </a:p>
        </p:txBody>
      </p:sp>
      <p:sp>
        <p:nvSpPr>
          <p:cNvPr id="11" name="Text 9"/>
          <p:cNvSpPr/>
          <p:nvPr/>
        </p:nvSpPr>
        <p:spPr>
          <a:xfrm>
            <a:off x="868680" y="3950208"/>
            <a:ext cx="306324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Envío bloqueante + recepción bloqueante</a:t>
            </a:r>
            <a:endParaRPr lang="en-US" sz="1250" dirty="0"/>
          </a:p>
        </p:txBody>
      </p:sp>
      <p:sp>
        <p:nvSpPr>
          <p:cNvPr id="12" name="Text 10"/>
          <p:cNvSpPr/>
          <p:nvPr/>
        </p:nvSpPr>
        <p:spPr>
          <a:xfrm>
            <a:off x="868680" y="4389120"/>
            <a:ext cx="3063240" cy="1463040"/>
          </a:xfrm>
          <a:prstGeom prst="rect">
            <a:avLst/>
          </a:prstGeom>
          <a:noFill/>
          <a:ln/>
        </p:spPr>
        <p:txBody>
          <a:bodyPr wrap="square" rtlCol="0" anchor="t"/>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Ambos esperan hasta que llega el mensaje. Sincronización fuerte.</a:t>
            </a:r>
            <a:endParaRPr lang="en-US" sz="1200" dirty="0"/>
          </a:p>
        </p:txBody>
      </p:sp>
      <p:sp>
        <p:nvSpPr>
          <p:cNvPr id="13" name="Shape 11"/>
          <p:cNvSpPr/>
          <p:nvPr/>
        </p:nvSpPr>
        <p:spPr>
          <a:xfrm>
            <a:off x="4343400" y="3840480"/>
            <a:ext cx="3520440" cy="2103120"/>
          </a:xfrm>
          <a:prstGeom prst="rect">
            <a:avLst/>
          </a:prstGeom>
          <a:solidFill>
            <a:srgbClr val="F2F4FB"/>
          </a:solidFill>
          <a:ln/>
        </p:spPr>
        <p:txBody>
          <a:bodyPr/>
          <a:lstStyle/>
          <a:p>
            <a:endParaRPr lang="es-PY"/>
          </a:p>
        </p:txBody>
      </p:sp>
      <p:sp>
        <p:nvSpPr>
          <p:cNvPr id="14" name="Text 12"/>
          <p:cNvSpPr/>
          <p:nvPr/>
        </p:nvSpPr>
        <p:spPr>
          <a:xfrm>
            <a:off x="4572000" y="3950208"/>
            <a:ext cx="306324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Envío no bloqueante + recepción bloqueante</a:t>
            </a:r>
            <a:endParaRPr lang="en-US" sz="1250" dirty="0"/>
          </a:p>
        </p:txBody>
      </p:sp>
      <p:sp>
        <p:nvSpPr>
          <p:cNvPr id="15" name="Text 13"/>
          <p:cNvSpPr/>
          <p:nvPr/>
        </p:nvSpPr>
        <p:spPr>
          <a:xfrm>
            <a:off x="4572000" y="4389120"/>
            <a:ext cx="3063240" cy="1463040"/>
          </a:xfrm>
          <a:prstGeom prst="rect">
            <a:avLst/>
          </a:prstGeom>
          <a:noFill/>
          <a:ln/>
        </p:spPr>
        <p:txBody>
          <a:bodyPr wrap="square" rtlCol="0" anchor="t"/>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El emisor sigue; el receptor espera el mensaje.</a:t>
            </a:r>
            <a:endParaRPr lang="en-US" sz="1200" dirty="0"/>
          </a:p>
        </p:txBody>
      </p:sp>
      <p:sp>
        <p:nvSpPr>
          <p:cNvPr id="16" name="Shape 14"/>
          <p:cNvSpPr/>
          <p:nvPr/>
        </p:nvSpPr>
        <p:spPr>
          <a:xfrm>
            <a:off x="8046720" y="3840480"/>
            <a:ext cx="3474720" cy="2103120"/>
          </a:xfrm>
          <a:prstGeom prst="rect">
            <a:avLst/>
          </a:prstGeom>
          <a:solidFill>
            <a:srgbClr val="F2F4FB"/>
          </a:solidFill>
          <a:ln/>
        </p:spPr>
        <p:txBody>
          <a:bodyPr/>
          <a:lstStyle/>
          <a:p>
            <a:endParaRPr lang="es-PY"/>
          </a:p>
        </p:txBody>
      </p:sp>
      <p:sp>
        <p:nvSpPr>
          <p:cNvPr id="17" name="Text 15"/>
          <p:cNvSpPr/>
          <p:nvPr/>
        </p:nvSpPr>
        <p:spPr>
          <a:xfrm>
            <a:off x="8275320" y="3950208"/>
            <a:ext cx="301752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Ambos no bloqueantes</a:t>
            </a:r>
            <a:endParaRPr lang="en-US" sz="1250" dirty="0"/>
          </a:p>
        </p:txBody>
      </p:sp>
      <p:sp>
        <p:nvSpPr>
          <p:cNvPr id="18" name="Text 16"/>
          <p:cNvSpPr/>
          <p:nvPr/>
        </p:nvSpPr>
        <p:spPr>
          <a:xfrm>
            <a:off x="8275320" y="4389120"/>
            <a:ext cx="3017520" cy="1463040"/>
          </a:xfrm>
          <a:prstGeom prst="rect">
            <a:avLst/>
          </a:prstGeom>
          <a:noFill/>
          <a:ln/>
        </p:spPr>
        <p:txBody>
          <a:bodyPr wrap="square" rtlCol="0" anchor="t"/>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Nadie espera. Es lo más natural, pero un error puede inundar el sistema de mensajes repetidos.</a:t>
            </a:r>
            <a:endParaRPr lang="en-US" sz="1200" dirty="0"/>
          </a:p>
        </p:txBody>
      </p:sp>
      <p:sp>
        <p:nvSpPr>
          <p:cNvPr id="19" name="Text 17"/>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MECANISMO 3 · DISEÑO</a:t>
            </a:r>
            <a:endParaRPr lang="en-US" sz="1300" dirty="0"/>
          </a:p>
        </p:txBody>
      </p:sp>
      <p:sp>
        <p:nvSpPr>
          <p:cNvPr id="3" name="Text 1"/>
          <p:cNvSpPr/>
          <p:nvPr/>
        </p:nvSpPr>
        <p:spPr>
          <a:xfrm>
            <a:off x="640080" y="868680"/>
            <a:ext cx="1069848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Direccionamiento, formato y exclusión mutua</a:t>
            </a:r>
            <a:endParaRPr lang="en-US" sz="2800" dirty="0"/>
          </a:p>
        </p:txBody>
      </p:sp>
      <p:sp>
        <p:nvSpPr>
          <p:cNvPr id="6" name="Shape 4"/>
          <p:cNvSpPr/>
          <p:nvPr/>
        </p:nvSpPr>
        <p:spPr>
          <a:xfrm>
            <a:off x="640080" y="1737360"/>
            <a:ext cx="5349240" cy="1920240"/>
          </a:xfrm>
          <a:prstGeom prst="rect">
            <a:avLst/>
          </a:prstGeom>
          <a:solidFill>
            <a:srgbClr val="232E6E"/>
          </a:solidFill>
          <a:ln/>
        </p:spPr>
        <p:txBody>
          <a:bodyPr/>
          <a:lstStyle/>
          <a:p>
            <a:endParaRPr lang="es-PY"/>
          </a:p>
        </p:txBody>
      </p:sp>
      <p:sp>
        <p:nvSpPr>
          <p:cNvPr id="7" name="Text 5"/>
          <p:cNvSpPr/>
          <p:nvPr/>
        </p:nvSpPr>
        <p:spPr>
          <a:xfrm>
            <a:off x="868680" y="1847088"/>
            <a:ext cx="489204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Direccionamiento directo</a:t>
            </a:r>
            <a:endParaRPr lang="en-US" sz="1450" dirty="0"/>
          </a:p>
        </p:txBody>
      </p:sp>
      <p:sp>
        <p:nvSpPr>
          <p:cNvPr id="8" name="Text 6"/>
          <p:cNvSpPr/>
          <p:nvPr/>
        </p:nvSpPr>
        <p:spPr>
          <a:xfrm>
            <a:off x="868680" y="2286000"/>
            <a:ext cx="4892040" cy="1280160"/>
          </a:xfrm>
          <a:prstGeom prst="rect">
            <a:avLst/>
          </a:prstGeom>
          <a:noFill/>
          <a:ln/>
        </p:spPr>
        <p:txBody>
          <a:bodyPr wrap="square" rtlCol="0" anchor="t"/>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send indica claramente el proceso destino. En receive se puede nombrar al emisor o aceptar de cualquiera.</a:t>
            </a:r>
            <a:endParaRPr lang="en-US" sz="1200" dirty="0"/>
          </a:p>
        </p:txBody>
      </p:sp>
      <p:sp>
        <p:nvSpPr>
          <p:cNvPr id="9" name="Shape 7"/>
          <p:cNvSpPr/>
          <p:nvPr/>
        </p:nvSpPr>
        <p:spPr>
          <a:xfrm>
            <a:off x="6172200" y="1737360"/>
            <a:ext cx="5349240" cy="1920240"/>
          </a:xfrm>
          <a:prstGeom prst="rect">
            <a:avLst/>
          </a:prstGeom>
          <a:solidFill>
            <a:srgbClr val="232E6E"/>
          </a:solidFill>
          <a:ln/>
        </p:spPr>
        <p:txBody>
          <a:bodyPr/>
          <a:lstStyle/>
          <a:p>
            <a:endParaRPr lang="es-PY"/>
          </a:p>
        </p:txBody>
      </p:sp>
      <p:sp>
        <p:nvSpPr>
          <p:cNvPr id="10" name="Text 8"/>
          <p:cNvSpPr/>
          <p:nvPr/>
        </p:nvSpPr>
        <p:spPr>
          <a:xfrm>
            <a:off x="6400800" y="1847088"/>
            <a:ext cx="489204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Direccionamiento indirecto</a:t>
            </a:r>
            <a:endParaRPr lang="en-US" sz="1450" dirty="0"/>
          </a:p>
        </p:txBody>
      </p:sp>
      <p:sp>
        <p:nvSpPr>
          <p:cNvPr id="11" name="Text 9"/>
          <p:cNvSpPr/>
          <p:nvPr/>
        </p:nvSpPr>
        <p:spPr>
          <a:xfrm>
            <a:off x="6400800" y="2286000"/>
            <a:ext cx="4892040" cy="1280160"/>
          </a:xfrm>
          <a:prstGeom prst="rect">
            <a:avLst/>
          </a:prstGeom>
          <a:noFill/>
          <a:ln/>
        </p:spPr>
        <p:txBody>
          <a:bodyPr wrap="square" rtlCol="0" anchor="t"/>
          <a:lstStyle/>
          <a:p>
            <a:pPr marL="0" indent="0">
              <a:lnSpc>
                <a:spcPts val="1600"/>
              </a:lnSpc>
              <a:buNone/>
            </a:pPr>
            <a:r>
              <a:rPr lang="en-US" sz="1150" dirty="0">
                <a:solidFill>
                  <a:srgbClr val="FFFFFF"/>
                </a:solidFill>
                <a:latin typeface="Calibri" pitchFamily="34" charset="0"/>
                <a:ea typeface="Calibri" pitchFamily="34" charset="-122"/>
                <a:cs typeface="Calibri" pitchFamily="34" charset="-120"/>
              </a:rPr>
              <a:t>Los mensajes van a un buzón (cola compartida, también llamado puerto). Desacopla emisor y receptor. Relaciones: 1 a 1, 1 a varios, varios a 1 (cliente/servidor).</a:t>
            </a:r>
            <a:endParaRPr lang="en-US" sz="1150" dirty="0"/>
          </a:p>
        </p:txBody>
      </p:sp>
      <p:sp>
        <p:nvSpPr>
          <p:cNvPr id="12" name="Shape 10"/>
          <p:cNvSpPr/>
          <p:nvPr/>
        </p:nvSpPr>
        <p:spPr>
          <a:xfrm>
            <a:off x="640080" y="3840480"/>
            <a:ext cx="5349240" cy="2103120"/>
          </a:xfrm>
          <a:prstGeom prst="rect">
            <a:avLst/>
          </a:prstGeom>
          <a:solidFill>
            <a:srgbClr val="F2F4FB"/>
          </a:solidFill>
          <a:ln/>
        </p:spPr>
        <p:txBody>
          <a:bodyPr/>
          <a:lstStyle/>
          <a:p>
            <a:endParaRPr lang="es-PY"/>
          </a:p>
        </p:txBody>
      </p:sp>
      <p:sp>
        <p:nvSpPr>
          <p:cNvPr id="13" name="Text 11"/>
          <p:cNvSpPr/>
          <p:nvPr/>
        </p:nvSpPr>
        <p:spPr>
          <a:xfrm>
            <a:off x="868680" y="395020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Formato de un mensaje</a:t>
            </a:r>
            <a:endParaRPr lang="en-US" sz="1450" dirty="0"/>
          </a:p>
        </p:txBody>
      </p:sp>
      <p:sp>
        <p:nvSpPr>
          <p:cNvPr id="14" name="Text 12"/>
          <p:cNvSpPr/>
          <p:nvPr/>
        </p:nvSpPr>
        <p:spPr>
          <a:xfrm>
            <a:off x="868680" y="4389120"/>
            <a:ext cx="4892040" cy="1463040"/>
          </a:xfrm>
          <a:prstGeom prst="rect">
            <a:avLst/>
          </a:prstGeom>
          <a:noFill/>
          <a:ln/>
        </p:spPr>
        <p:txBody>
          <a:bodyPr wrap="square" rtlCol="0" anchor="t"/>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Cabecera: origen, destino, longitud y tipo. Cuerpo: el contenido. Disciplina de cola: FIFO, o por prioridad del tipo o del emisor.</a:t>
            </a:r>
            <a:endParaRPr lang="en-US" sz="1200" dirty="0"/>
          </a:p>
        </p:txBody>
      </p:sp>
      <p:sp>
        <p:nvSpPr>
          <p:cNvPr id="15" name="Shape 13"/>
          <p:cNvSpPr/>
          <p:nvPr/>
        </p:nvSpPr>
        <p:spPr>
          <a:xfrm>
            <a:off x="6172200" y="3840480"/>
            <a:ext cx="5349240" cy="2103120"/>
          </a:xfrm>
          <a:prstGeom prst="rect">
            <a:avLst/>
          </a:prstGeom>
          <a:solidFill>
            <a:srgbClr val="1B1F2B"/>
          </a:solidFill>
          <a:ln/>
        </p:spPr>
        <p:txBody>
          <a:bodyPr/>
          <a:lstStyle/>
          <a:p>
            <a:endParaRPr lang="es-PY"/>
          </a:p>
        </p:txBody>
      </p:sp>
      <p:sp>
        <p:nvSpPr>
          <p:cNvPr id="16" name="Text 14"/>
          <p:cNvSpPr/>
          <p:nvPr/>
        </p:nvSpPr>
        <p:spPr>
          <a:xfrm>
            <a:off x="6400800" y="3950208"/>
            <a:ext cx="4892040" cy="1883664"/>
          </a:xfrm>
          <a:prstGeom prst="rect">
            <a:avLst/>
          </a:prstGeom>
          <a:noFill/>
          <a:ln/>
        </p:spPr>
        <p:txBody>
          <a:bodyPr wrap="square" rtlCol="0" anchor="t"/>
          <a:lstStyle/>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buzón exmut (con 1 mensaje nulo)</a:t>
            </a:r>
            <a:endParaRPr lang="en-US" sz="1150" dirty="0"/>
          </a:p>
          <a:p>
            <a:pPr marL="0" indent="0">
              <a:lnSpc>
                <a:spcPts val="1450"/>
              </a:lnSpc>
              <a:buNone/>
            </a:pP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P(i): repetir</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receive(exmut, msj);</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&lt;sección crítica&gt;;</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send(exmut, msj);</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&lt;resto&gt;</a:t>
            </a:r>
            <a:endParaRPr lang="en-US" sz="1150" dirty="0"/>
          </a:p>
        </p:txBody>
      </p:sp>
      <p:sp>
        <p:nvSpPr>
          <p:cNvPr id="17" name="Text 15"/>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2377440" cy="365760"/>
          </a:xfrm>
          <a:prstGeom prst="rect">
            <a:avLst/>
          </a:prstGeom>
          <a:solidFill>
            <a:srgbClr val="1E2761"/>
          </a:solidFill>
          <a:ln/>
        </p:spPr>
        <p:txBody>
          <a:bodyPr/>
          <a:lstStyle/>
          <a:p>
            <a:endParaRPr lang="es-PY"/>
          </a:p>
        </p:txBody>
      </p:sp>
      <p:sp>
        <p:nvSpPr>
          <p:cNvPr id="3" name="Text 1"/>
          <p:cNvSpPr/>
          <p:nvPr/>
        </p:nvSpPr>
        <p:spPr>
          <a:xfrm>
            <a:off x="640080" y="457200"/>
            <a:ext cx="237744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EJEMPLO RESUELTO</a:t>
            </a:r>
            <a:endParaRPr lang="en-US" sz="1200" dirty="0"/>
          </a:p>
        </p:txBody>
      </p:sp>
      <p:sp>
        <p:nvSpPr>
          <p:cNvPr id="4" name="Text 2"/>
          <p:cNvSpPr/>
          <p:nvPr/>
        </p:nvSpPr>
        <p:spPr>
          <a:xfrm>
            <a:off x="640080" y="868680"/>
            <a:ext cx="9326880" cy="640080"/>
          </a:xfrm>
          <a:prstGeom prst="rect">
            <a:avLst/>
          </a:prstGeom>
          <a:noFill/>
          <a:ln/>
        </p:spPr>
        <p:txBody>
          <a:bodyPr wrap="square" rtlCol="0" anchor="ctr"/>
          <a:lstStyle/>
          <a:p>
            <a:pPr marL="0" indent="0">
              <a:buNone/>
            </a:pPr>
            <a:r>
              <a:rPr lang="en-US" sz="2400" b="1" dirty="0">
                <a:solidFill>
                  <a:srgbClr val="1B1F3B"/>
                </a:solidFill>
                <a:latin typeface="Cambria" pitchFamily="34" charset="0"/>
                <a:ea typeface="Cambria" pitchFamily="34" charset="-122"/>
                <a:cs typeface="Cambria" pitchFamily="34" charset="-120"/>
              </a:rPr>
              <a:t>Afirmaciones clave: semáforos, monitores y mensajes</a:t>
            </a:r>
            <a:endParaRPr lang="en-US" sz="2400" dirty="0"/>
          </a:p>
        </p:txBody>
      </p:sp>
      <p:sp>
        <p:nvSpPr>
          <p:cNvPr id="5" name="Shape 3"/>
          <p:cNvSpPr/>
          <p:nvPr/>
        </p:nvSpPr>
        <p:spPr>
          <a:xfrm>
            <a:off x="9994392" y="457200"/>
            <a:ext cx="1554480" cy="365760"/>
          </a:xfrm>
          <a:prstGeom prst="rect">
            <a:avLst/>
          </a:prstGeom>
          <a:solidFill>
            <a:srgbClr val="F2F4FB"/>
          </a:solidFill>
          <a:ln/>
        </p:spPr>
        <p:txBody>
          <a:bodyPr/>
          <a:lstStyle/>
          <a:p>
            <a:endParaRPr lang="es-PY"/>
          </a:p>
        </p:txBody>
      </p:sp>
      <p:sp>
        <p:nvSpPr>
          <p:cNvPr id="7" name="Text 5"/>
          <p:cNvSpPr/>
          <p:nvPr/>
        </p:nvSpPr>
        <p:spPr>
          <a:xfrm>
            <a:off x="640080" y="1554480"/>
            <a:ext cx="10881360"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Seis ideas que conviene tener muy claras, con su justificación:</a:t>
            </a:r>
            <a:endParaRPr lang="en-US" sz="1350" dirty="0"/>
          </a:p>
        </p:txBody>
      </p:sp>
      <p:sp>
        <p:nvSpPr>
          <p:cNvPr id="8" name="Shape 6"/>
          <p:cNvSpPr/>
          <p:nvPr/>
        </p:nvSpPr>
        <p:spPr>
          <a:xfrm>
            <a:off x="640080" y="2011680"/>
            <a:ext cx="10881360" cy="603504"/>
          </a:xfrm>
          <a:prstGeom prst="rect">
            <a:avLst/>
          </a:prstGeom>
          <a:solidFill>
            <a:srgbClr val="F7F8FC"/>
          </a:solidFill>
          <a:ln/>
        </p:spPr>
        <p:txBody>
          <a:bodyPr/>
          <a:lstStyle/>
          <a:p>
            <a:endParaRPr lang="es-PY"/>
          </a:p>
        </p:txBody>
      </p:sp>
      <p:sp>
        <p:nvSpPr>
          <p:cNvPr id="9" name="Text 7"/>
          <p:cNvSpPr/>
          <p:nvPr/>
        </p:nvSpPr>
        <p:spPr>
          <a:xfrm>
            <a:off x="777240" y="2011680"/>
            <a:ext cx="548640" cy="603504"/>
          </a:xfrm>
          <a:prstGeom prst="rect">
            <a:avLst/>
          </a:prstGeom>
          <a:noFill/>
          <a:ln/>
        </p:spPr>
        <p:txBody>
          <a:bodyPr wrap="square" rtlCol="0" anchor="ctr"/>
          <a:lstStyle/>
          <a:p>
            <a:pPr marL="0" indent="0" algn="ctr">
              <a:buNone/>
            </a:pPr>
            <a:r>
              <a:rPr lang="en-US" sz="1800" b="1" dirty="0">
                <a:solidFill>
                  <a:srgbClr val="1F6F5C"/>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417320" y="2011680"/>
            <a:ext cx="9966960" cy="603504"/>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Con contador negativo, su valor absoluto indica cuántos procesos están bloqueados.</a:t>
            </a:r>
            <a:endParaRPr lang="en-US" sz="1250" dirty="0"/>
          </a:p>
        </p:txBody>
      </p:sp>
      <p:sp>
        <p:nvSpPr>
          <p:cNvPr id="11" name="Shape 9"/>
          <p:cNvSpPr/>
          <p:nvPr/>
        </p:nvSpPr>
        <p:spPr>
          <a:xfrm>
            <a:off x="640080" y="2670048"/>
            <a:ext cx="10881360" cy="603504"/>
          </a:xfrm>
          <a:prstGeom prst="rect">
            <a:avLst/>
          </a:prstGeom>
          <a:solidFill>
            <a:srgbClr val="F7F8FC"/>
          </a:solidFill>
          <a:ln/>
        </p:spPr>
        <p:txBody>
          <a:bodyPr/>
          <a:lstStyle/>
          <a:p>
            <a:endParaRPr lang="es-PY"/>
          </a:p>
        </p:txBody>
      </p:sp>
      <p:sp>
        <p:nvSpPr>
          <p:cNvPr id="12" name="Text 10"/>
          <p:cNvSpPr/>
          <p:nvPr/>
        </p:nvSpPr>
        <p:spPr>
          <a:xfrm>
            <a:off x="777240" y="2670048"/>
            <a:ext cx="548640" cy="603504"/>
          </a:xfrm>
          <a:prstGeom prst="rect">
            <a:avLst/>
          </a:prstGeom>
          <a:noFill/>
          <a:ln/>
        </p:spPr>
        <p:txBody>
          <a:bodyPr wrap="square" rtlCol="0" anchor="ctr"/>
          <a:lstStyle/>
          <a:p>
            <a:pPr marL="0" indent="0" algn="ctr">
              <a:buNone/>
            </a:pPr>
            <a:r>
              <a:rPr lang="en-US" sz="1800" b="1" dirty="0">
                <a:solidFill>
                  <a:srgbClr val="B3402A"/>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1417320" y="2670048"/>
            <a:ext cx="9966960" cy="603504"/>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En un monitor pueden ejecutar dos procesos a la vez: FALSO, solo uno por vez, sin importar qué procedimiento llamen.</a:t>
            </a:r>
            <a:endParaRPr lang="en-US" sz="1250" dirty="0"/>
          </a:p>
        </p:txBody>
      </p:sp>
      <p:sp>
        <p:nvSpPr>
          <p:cNvPr id="14" name="Shape 12"/>
          <p:cNvSpPr/>
          <p:nvPr/>
        </p:nvSpPr>
        <p:spPr>
          <a:xfrm>
            <a:off x="640080" y="3328416"/>
            <a:ext cx="10881360" cy="603504"/>
          </a:xfrm>
          <a:prstGeom prst="rect">
            <a:avLst/>
          </a:prstGeom>
          <a:solidFill>
            <a:srgbClr val="F7F8FC"/>
          </a:solidFill>
          <a:ln/>
        </p:spPr>
        <p:txBody>
          <a:bodyPr/>
          <a:lstStyle/>
          <a:p>
            <a:endParaRPr lang="es-PY"/>
          </a:p>
        </p:txBody>
      </p:sp>
      <p:sp>
        <p:nvSpPr>
          <p:cNvPr id="15" name="Text 13"/>
          <p:cNvSpPr/>
          <p:nvPr/>
        </p:nvSpPr>
        <p:spPr>
          <a:xfrm>
            <a:off x="777240" y="3328416"/>
            <a:ext cx="548640" cy="603504"/>
          </a:xfrm>
          <a:prstGeom prst="rect">
            <a:avLst/>
          </a:prstGeom>
          <a:noFill/>
          <a:ln/>
        </p:spPr>
        <p:txBody>
          <a:bodyPr wrap="square" rtlCol="0" anchor="ctr"/>
          <a:lstStyle/>
          <a:p>
            <a:pPr marL="0" indent="0" algn="ctr">
              <a:buNone/>
            </a:pPr>
            <a:r>
              <a:rPr lang="en-US" sz="1800" b="1" dirty="0">
                <a:solidFill>
                  <a:srgbClr val="1F6F5C"/>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1417320" y="3328416"/>
            <a:ext cx="9966960" cy="603504"/>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Si se hace csignal y nadie espera en esa condición, la señal se pierde (a diferencia del signal de un semáforo, que 'recuerda').</a:t>
            </a:r>
            <a:endParaRPr lang="en-US" sz="1250" dirty="0"/>
          </a:p>
        </p:txBody>
      </p:sp>
      <p:sp>
        <p:nvSpPr>
          <p:cNvPr id="17" name="Shape 15"/>
          <p:cNvSpPr/>
          <p:nvPr/>
        </p:nvSpPr>
        <p:spPr>
          <a:xfrm>
            <a:off x="640080" y="3986784"/>
            <a:ext cx="10881360" cy="603504"/>
          </a:xfrm>
          <a:prstGeom prst="rect">
            <a:avLst/>
          </a:prstGeom>
          <a:solidFill>
            <a:srgbClr val="F7F8FC"/>
          </a:solidFill>
          <a:ln/>
        </p:spPr>
        <p:txBody>
          <a:bodyPr/>
          <a:lstStyle/>
          <a:p>
            <a:endParaRPr lang="es-PY"/>
          </a:p>
        </p:txBody>
      </p:sp>
      <p:sp>
        <p:nvSpPr>
          <p:cNvPr id="18" name="Text 16"/>
          <p:cNvSpPr/>
          <p:nvPr/>
        </p:nvSpPr>
        <p:spPr>
          <a:xfrm>
            <a:off x="777240" y="3986784"/>
            <a:ext cx="548640" cy="603504"/>
          </a:xfrm>
          <a:prstGeom prst="rect">
            <a:avLst/>
          </a:prstGeom>
          <a:noFill/>
          <a:ln/>
        </p:spPr>
        <p:txBody>
          <a:bodyPr wrap="square" rtlCol="0" anchor="ctr"/>
          <a:lstStyle/>
          <a:p>
            <a:pPr marL="0" indent="0" algn="ctr">
              <a:buNone/>
            </a:pPr>
            <a:r>
              <a:rPr lang="en-US" sz="1800" b="1" dirty="0">
                <a:solidFill>
                  <a:srgbClr val="B3402A"/>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1417320" y="3986784"/>
            <a:ext cx="9966960" cy="603504"/>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Con receive bloqueante el receptor sigue ejecutando: FALSO, se bloquea hasta que llegue un mensaje.</a:t>
            </a:r>
            <a:endParaRPr lang="en-US" sz="1250" dirty="0"/>
          </a:p>
        </p:txBody>
      </p:sp>
      <p:sp>
        <p:nvSpPr>
          <p:cNvPr id="20" name="Shape 18"/>
          <p:cNvSpPr/>
          <p:nvPr/>
        </p:nvSpPr>
        <p:spPr>
          <a:xfrm>
            <a:off x="640080" y="4645152"/>
            <a:ext cx="10881360" cy="603504"/>
          </a:xfrm>
          <a:prstGeom prst="rect">
            <a:avLst/>
          </a:prstGeom>
          <a:solidFill>
            <a:srgbClr val="F7F8FC"/>
          </a:solidFill>
          <a:ln/>
        </p:spPr>
        <p:txBody>
          <a:bodyPr/>
          <a:lstStyle/>
          <a:p>
            <a:endParaRPr lang="es-PY"/>
          </a:p>
        </p:txBody>
      </p:sp>
      <p:sp>
        <p:nvSpPr>
          <p:cNvPr id="21" name="Text 19"/>
          <p:cNvSpPr/>
          <p:nvPr/>
        </p:nvSpPr>
        <p:spPr>
          <a:xfrm>
            <a:off x="777240" y="4645152"/>
            <a:ext cx="548640" cy="603504"/>
          </a:xfrm>
          <a:prstGeom prst="rect">
            <a:avLst/>
          </a:prstGeom>
          <a:noFill/>
          <a:ln/>
        </p:spPr>
        <p:txBody>
          <a:bodyPr wrap="square" rtlCol="0" anchor="ctr"/>
          <a:lstStyle/>
          <a:p>
            <a:pPr marL="0" indent="0" algn="ctr">
              <a:buNone/>
            </a:pPr>
            <a:r>
              <a:rPr lang="en-US" sz="1800" b="1" dirty="0">
                <a:solidFill>
                  <a:srgbClr val="1F6F5C"/>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1417320" y="4645152"/>
            <a:ext cx="9966960" cy="603504"/>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El direccionamiento indirecto usa buzones y desacopla al emisor del receptor.</a:t>
            </a:r>
            <a:endParaRPr lang="en-US" sz="1250" dirty="0"/>
          </a:p>
        </p:txBody>
      </p:sp>
      <p:sp>
        <p:nvSpPr>
          <p:cNvPr id="23" name="Shape 21"/>
          <p:cNvSpPr/>
          <p:nvPr/>
        </p:nvSpPr>
        <p:spPr>
          <a:xfrm>
            <a:off x="640080" y="5303520"/>
            <a:ext cx="10881360" cy="603504"/>
          </a:xfrm>
          <a:prstGeom prst="rect">
            <a:avLst/>
          </a:prstGeom>
          <a:solidFill>
            <a:srgbClr val="F7F8FC"/>
          </a:solidFill>
          <a:ln/>
        </p:spPr>
        <p:txBody>
          <a:bodyPr/>
          <a:lstStyle/>
          <a:p>
            <a:endParaRPr lang="es-PY"/>
          </a:p>
        </p:txBody>
      </p:sp>
      <p:sp>
        <p:nvSpPr>
          <p:cNvPr id="24" name="Text 22"/>
          <p:cNvSpPr/>
          <p:nvPr/>
        </p:nvSpPr>
        <p:spPr>
          <a:xfrm>
            <a:off x="777240" y="5303520"/>
            <a:ext cx="548640" cy="603504"/>
          </a:xfrm>
          <a:prstGeom prst="rect">
            <a:avLst/>
          </a:prstGeom>
          <a:noFill/>
          <a:ln/>
        </p:spPr>
        <p:txBody>
          <a:bodyPr wrap="square" rtlCol="0" anchor="ctr"/>
          <a:lstStyle/>
          <a:p>
            <a:pPr marL="0" indent="0" algn="ctr">
              <a:buNone/>
            </a:pPr>
            <a:r>
              <a:rPr lang="en-US" sz="1800" b="1" dirty="0">
                <a:solidFill>
                  <a:srgbClr val="1F6F5C"/>
                </a:solidFill>
                <a:latin typeface="Calibri" pitchFamily="34" charset="0"/>
                <a:ea typeface="Calibri" pitchFamily="34" charset="-122"/>
                <a:cs typeface="Calibri" pitchFamily="34" charset="-120"/>
              </a:rPr>
              <a:t>✓</a:t>
            </a:r>
            <a:endParaRPr lang="en-US" sz="1800" dirty="0"/>
          </a:p>
        </p:txBody>
      </p:sp>
      <p:sp>
        <p:nvSpPr>
          <p:cNvPr id="25" name="Text 23"/>
          <p:cNvSpPr/>
          <p:nvPr/>
        </p:nvSpPr>
        <p:spPr>
          <a:xfrm>
            <a:off x="1417320" y="5303520"/>
            <a:ext cx="9966960" cy="603504"/>
          </a:xfrm>
          <a:prstGeom prst="rect">
            <a:avLst/>
          </a:prstGeom>
          <a:noFill/>
          <a:ln/>
        </p:spPr>
        <p:txBody>
          <a:bodyPr wrap="square" rtlCol="0" anchor="ctr"/>
          <a:lstStyle/>
          <a:p>
            <a:pPr marL="0" indent="0">
              <a:buNone/>
            </a:pPr>
            <a:r>
              <a:rPr lang="en-US" sz="1250" dirty="0">
                <a:solidFill>
                  <a:srgbClr val="1B1F3B"/>
                </a:solidFill>
                <a:latin typeface="Calibri" pitchFamily="34" charset="0"/>
                <a:ea typeface="Calibri" pitchFamily="34" charset="-122"/>
                <a:cs typeface="Calibri" pitchFamily="34" charset="-120"/>
              </a:rPr>
              <a:t>Un semáforo binario solo toma los valores 0 y 1, y tiene el mismo poder de expresión que el general.</a:t>
            </a:r>
            <a:endParaRPr lang="en-US" sz="1250" dirty="0"/>
          </a:p>
        </p:txBody>
      </p:sp>
      <p:sp>
        <p:nvSpPr>
          <p:cNvPr id="26" name="Text 24"/>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EL GRAN PROBLEMA</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Interbloqueo (deadlock)</a:t>
            </a:r>
            <a:endParaRPr lang="en-US" sz="2800" dirty="0"/>
          </a:p>
        </p:txBody>
      </p:sp>
      <p:sp>
        <p:nvSpPr>
          <p:cNvPr id="6" name="Shape 4"/>
          <p:cNvSpPr/>
          <p:nvPr/>
        </p:nvSpPr>
        <p:spPr>
          <a:xfrm>
            <a:off x="640080" y="1737360"/>
            <a:ext cx="10881360" cy="1188720"/>
          </a:xfrm>
          <a:prstGeom prst="rect">
            <a:avLst/>
          </a:prstGeom>
          <a:solidFill>
            <a:srgbClr val="232E6E"/>
          </a:solidFill>
          <a:ln/>
        </p:spPr>
        <p:txBody>
          <a:bodyPr/>
          <a:lstStyle/>
          <a:p>
            <a:endParaRPr lang="es-PY"/>
          </a:p>
        </p:txBody>
      </p:sp>
      <p:sp>
        <p:nvSpPr>
          <p:cNvPr id="7" name="Text 5"/>
          <p:cNvSpPr/>
          <p:nvPr/>
        </p:nvSpPr>
        <p:spPr>
          <a:xfrm>
            <a:off x="914400" y="1874520"/>
            <a:ext cx="10332720" cy="914400"/>
          </a:xfrm>
          <a:prstGeom prst="rect">
            <a:avLst/>
          </a:prstGeom>
          <a:noFill/>
          <a:ln/>
        </p:spPr>
        <p:txBody>
          <a:bodyPr wrap="square" rtlCol="0" anchor="ctr"/>
          <a:lstStyle/>
          <a:p>
            <a:pPr marL="0" indent="0">
              <a:lnSpc>
                <a:spcPts val="1900"/>
              </a:lnSpc>
              <a:buNone/>
            </a:pPr>
            <a:r>
              <a:rPr lang="en-US" sz="1450" dirty="0">
                <a:solidFill>
                  <a:srgbClr val="FFFFFF"/>
                </a:solidFill>
                <a:latin typeface="Calibri" pitchFamily="34" charset="0"/>
                <a:ea typeface="Calibri" pitchFamily="34" charset="-122"/>
                <a:cs typeface="Calibri" pitchFamily="34" charset="-120"/>
              </a:rPr>
              <a:t>Bloqueo permanente de un grupo de procesos que compiten por los recursos del sistema. </a:t>
            </a:r>
            <a:endParaRPr lang="en-US" sz="1450" dirty="0"/>
          </a:p>
        </p:txBody>
      </p:sp>
      <p:sp>
        <p:nvSpPr>
          <p:cNvPr id="8" name="Shape 6"/>
          <p:cNvSpPr/>
          <p:nvPr/>
        </p:nvSpPr>
        <p:spPr>
          <a:xfrm>
            <a:off x="640080" y="3154680"/>
            <a:ext cx="5349240" cy="2743200"/>
          </a:xfrm>
          <a:prstGeom prst="rect">
            <a:avLst/>
          </a:prstGeom>
          <a:solidFill>
            <a:srgbClr val="F2F4FB"/>
          </a:solidFill>
          <a:ln/>
        </p:spPr>
        <p:txBody>
          <a:bodyPr/>
          <a:lstStyle/>
          <a:p>
            <a:endParaRPr lang="es-PY"/>
          </a:p>
        </p:txBody>
      </p:sp>
      <p:sp>
        <p:nvSpPr>
          <p:cNvPr id="9" name="Text 7"/>
          <p:cNvSpPr/>
          <p:nvPr/>
        </p:nvSpPr>
        <p:spPr>
          <a:xfrm>
            <a:off x="868680" y="326440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Recursos reutilizables</a:t>
            </a:r>
            <a:endParaRPr lang="en-US" sz="1450" dirty="0"/>
          </a:p>
        </p:txBody>
      </p:sp>
      <p:sp>
        <p:nvSpPr>
          <p:cNvPr id="10" name="Text 8"/>
          <p:cNvSpPr/>
          <p:nvPr/>
        </p:nvSpPr>
        <p:spPr>
          <a:xfrm>
            <a:off x="868680" y="3703320"/>
            <a:ext cx="4892040" cy="2103120"/>
          </a:xfrm>
          <a:prstGeom prst="rect">
            <a:avLst/>
          </a:prstGeom>
          <a:noFill/>
          <a:ln/>
        </p:spPr>
        <p:txBody>
          <a:bodyPr wrap="square" rtlCol="0" anchor="t"/>
          <a:lstStyle/>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Se pueden usar con seguridad y no se agotan con el uso.</a:t>
            </a:r>
            <a:endParaRPr lang="en-US" sz="1250" dirty="0"/>
          </a:p>
          <a:p>
            <a:pPr marL="0" indent="0">
              <a:lnSpc>
                <a:spcPts val="1600"/>
              </a:lnSpc>
              <a:buNone/>
            </a:pPr>
            <a:endParaRPr lang="en-US" sz="1250" dirty="0"/>
          </a:p>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Ejemplos: procesadores, memoria principal y secundaria, archivos, bases de datos, semáforos, canales de E/S.</a:t>
            </a:r>
            <a:endParaRPr lang="en-US" sz="1250" dirty="0"/>
          </a:p>
        </p:txBody>
      </p:sp>
      <p:sp>
        <p:nvSpPr>
          <p:cNvPr id="11" name="Shape 9"/>
          <p:cNvSpPr/>
          <p:nvPr/>
        </p:nvSpPr>
        <p:spPr>
          <a:xfrm>
            <a:off x="6172200" y="3154680"/>
            <a:ext cx="5349240" cy="2743200"/>
          </a:xfrm>
          <a:prstGeom prst="rect">
            <a:avLst/>
          </a:prstGeom>
          <a:solidFill>
            <a:srgbClr val="F2F4FB"/>
          </a:solidFill>
          <a:ln/>
        </p:spPr>
        <p:txBody>
          <a:bodyPr/>
          <a:lstStyle/>
          <a:p>
            <a:endParaRPr lang="es-PY"/>
          </a:p>
        </p:txBody>
      </p:sp>
      <p:sp>
        <p:nvSpPr>
          <p:cNvPr id="12" name="Text 10"/>
          <p:cNvSpPr/>
          <p:nvPr/>
        </p:nvSpPr>
        <p:spPr>
          <a:xfrm>
            <a:off x="6400800" y="326440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Recursos consumibles</a:t>
            </a:r>
            <a:endParaRPr lang="en-US" sz="1450" dirty="0"/>
          </a:p>
        </p:txBody>
      </p:sp>
      <p:sp>
        <p:nvSpPr>
          <p:cNvPr id="13" name="Text 11"/>
          <p:cNvSpPr/>
          <p:nvPr/>
        </p:nvSpPr>
        <p:spPr>
          <a:xfrm>
            <a:off x="6400800" y="3703320"/>
            <a:ext cx="4892040" cy="2103120"/>
          </a:xfrm>
          <a:prstGeom prst="rect">
            <a:avLst/>
          </a:prstGeom>
          <a:noFill/>
          <a:ln/>
        </p:spPr>
        <p:txBody>
          <a:bodyPr wrap="square" rtlCol="0" anchor="t"/>
          <a:lstStyle/>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Se crean y se destruyen. Al adquirirlos, dejan de existir.</a:t>
            </a:r>
            <a:endParaRPr lang="en-US" sz="1250" dirty="0"/>
          </a:p>
          <a:p>
            <a:pPr marL="0" indent="0">
              <a:lnSpc>
                <a:spcPts val="1600"/>
              </a:lnSpc>
              <a:buNone/>
            </a:pPr>
            <a:endParaRPr lang="en-US" sz="1250" dirty="0"/>
          </a:p>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Ejemplos: interrupciones, mensajes, señales, información en buffers.</a:t>
            </a:r>
            <a:endParaRPr lang="en-US" sz="1250" dirty="0"/>
          </a:p>
        </p:txBody>
      </p:sp>
      <p:sp>
        <p:nvSpPr>
          <p:cNvPr id="14" name="Text 1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PARA QUE HAYA INTERBLOQUEO</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Las 4 condiciones</a:t>
            </a:r>
            <a:endParaRPr lang="en-US" sz="2800" dirty="0"/>
          </a:p>
        </p:txBody>
      </p:sp>
      <p:sp>
        <p:nvSpPr>
          <p:cNvPr id="6" name="Shape 4"/>
          <p:cNvSpPr/>
          <p:nvPr/>
        </p:nvSpPr>
        <p:spPr>
          <a:xfrm>
            <a:off x="640080" y="1737360"/>
            <a:ext cx="5349240" cy="1920240"/>
          </a:xfrm>
          <a:prstGeom prst="rect">
            <a:avLst/>
          </a:prstGeom>
          <a:solidFill>
            <a:srgbClr val="F2F4FB"/>
          </a:solidFill>
          <a:ln/>
        </p:spPr>
        <p:txBody>
          <a:bodyPr/>
          <a:lstStyle/>
          <a:p>
            <a:endParaRPr lang="es-PY"/>
          </a:p>
        </p:txBody>
      </p:sp>
      <p:sp>
        <p:nvSpPr>
          <p:cNvPr id="7" name="Text 5"/>
          <p:cNvSpPr/>
          <p:nvPr/>
        </p:nvSpPr>
        <p:spPr>
          <a:xfrm>
            <a:off x="868680" y="184708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1. Exclusión mutua</a:t>
            </a:r>
            <a:endParaRPr lang="en-US" sz="1450" dirty="0"/>
          </a:p>
        </p:txBody>
      </p:sp>
      <p:sp>
        <p:nvSpPr>
          <p:cNvPr id="8" name="Text 6"/>
          <p:cNvSpPr/>
          <p:nvPr/>
        </p:nvSpPr>
        <p:spPr>
          <a:xfrm>
            <a:off x="868680" y="2286000"/>
            <a:ext cx="4892040" cy="1280160"/>
          </a:xfrm>
          <a:prstGeom prst="rect">
            <a:avLst/>
          </a:prstGeom>
          <a:noFill/>
          <a:ln/>
        </p:spPr>
        <p:txBody>
          <a:bodyPr wrap="square" rtlCol="0" anchor="t"/>
          <a:lstStyle/>
          <a:p>
            <a:pPr marL="0" indent="0">
              <a:lnSpc>
                <a:spcPts val="1600"/>
              </a:lnSpc>
              <a:buNone/>
            </a:pPr>
            <a:r>
              <a:rPr lang="en-US" sz="1300" dirty="0">
                <a:solidFill>
                  <a:srgbClr val="1B1F3B"/>
                </a:solidFill>
                <a:latin typeface="Calibri" pitchFamily="34" charset="0"/>
                <a:ea typeface="Calibri" pitchFamily="34" charset="-122"/>
                <a:cs typeface="Calibri" pitchFamily="34" charset="-120"/>
              </a:rPr>
              <a:t>Solo un proceso puede usar un recurso a la vez.</a:t>
            </a:r>
            <a:endParaRPr lang="en-US" sz="1300" dirty="0"/>
          </a:p>
        </p:txBody>
      </p:sp>
      <p:sp>
        <p:nvSpPr>
          <p:cNvPr id="9" name="Shape 7"/>
          <p:cNvSpPr/>
          <p:nvPr/>
        </p:nvSpPr>
        <p:spPr>
          <a:xfrm>
            <a:off x="6172200" y="1737360"/>
            <a:ext cx="5349240" cy="1920240"/>
          </a:xfrm>
          <a:prstGeom prst="rect">
            <a:avLst/>
          </a:prstGeom>
          <a:solidFill>
            <a:srgbClr val="F2F4FB"/>
          </a:solidFill>
          <a:ln/>
        </p:spPr>
        <p:txBody>
          <a:bodyPr/>
          <a:lstStyle/>
          <a:p>
            <a:endParaRPr lang="es-PY"/>
          </a:p>
        </p:txBody>
      </p:sp>
      <p:sp>
        <p:nvSpPr>
          <p:cNvPr id="10" name="Text 8"/>
          <p:cNvSpPr/>
          <p:nvPr/>
        </p:nvSpPr>
        <p:spPr>
          <a:xfrm>
            <a:off x="6400800" y="184708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2. Retención y espera</a:t>
            </a:r>
            <a:endParaRPr lang="en-US" sz="1450" dirty="0"/>
          </a:p>
        </p:txBody>
      </p:sp>
      <p:sp>
        <p:nvSpPr>
          <p:cNvPr id="11" name="Text 9"/>
          <p:cNvSpPr/>
          <p:nvPr/>
        </p:nvSpPr>
        <p:spPr>
          <a:xfrm>
            <a:off x="6400800" y="2286000"/>
            <a:ext cx="4892040" cy="1280160"/>
          </a:xfrm>
          <a:prstGeom prst="rect">
            <a:avLst/>
          </a:prstGeom>
          <a:noFill/>
          <a:ln/>
        </p:spPr>
        <p:txBody>
          <a:bodyPr wrap="square" rtlCol="0" anchor="t"/>
          <a:lstStyle/>
          <a:p>
            <a:pPr marL="0" indent="0">
              <a:lnSpc>
                <a:spcPts val="1600"/>
              </a:lnSpc>
              <a:buNone/>
            </a:pPr>
            <a:r>
              <a:rPr lang="en-US" sz="1300" dirty="0">
                <a:solidFill>
                  <a:srgbClr val="1B1F3B"/>
                </a:solidFill>
                <a:latin typeface="Calibri" pitchFamily="34" charset="0"/>
                <a:ea typeface="Calibri" pitchFamily="34" charset="-122"/>
                <a:cs typeface="Calibri" pitchFamily="34" charset="-120"/>
              </a:rPr>
              <a:t>Un proceso retiene recursos asignados mientras espera que le den otros.</a:t>
            </a:r>
            <a:endParaRPr lang="en-US" sz="1300" dirty="0"/>
          </a:p>
        </p:txBody>
      </p:sp>
      <p:sp>
        <p:nvSpPr>
          <p:cNvPr id="12" name="Shape 10"/>
          <p:cNvSpPr/>
          <p:nvPr/>
        </p:nvSpPr>
        <p:spPr>
          <a:xfrm>
            <a:off x="640080" y="3840480"/>
            <a:ext cx="5349240" cy="1920240"/>
          </a:xfrm>
          <a:prstGeom prst="rect">
            <a:avLst/>
          </a:prstGeom>
          <a:solidFill>
            <a:srgbClr val="F2F4FB"/>
          </a:solidFill>
          <a:ln/>
        </p:spPr>
        <p:txBody>
          <a:bodyPr/>
          <a:lstStyle/>
          <a:p>
            <a:endParaRPr lang="es-PY"/>
          </a:p>
        </p:txBody>
      </p:sp>
      <p:sp>
        <p:nvSpPr>
          <p:cNvPr id="13" name="Text 11"/>
          <p:cNvSpPr/>
          <p:nvPr/>
        </p:nvSpPr>
        <p:spPr>
          <a:xfrm>
            <a:off x="868680" y="395020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3. No apropiación</a:t>
            </a:r>
            <a:endParaRPr lang="en-US" sz="1450" dirty="0"/>
          </a:p>
        </p:txBody>
      </p:sp>
      <p:sp>
        <p:nvSpPr>
          <p:cNvPr id="14" name="Text 12"/>
          <p:cNvSpPr/>
          <p:nvPr/>
        </p:nvSpPr>
        <p:spPr>
          <a:xfrm>
            <a:off x="868680" y="4389120"/>
            <a:ext cx="4892040" cy="1280160"/>
          </a:xfrm>
          <a:prstGeom prst="rect">
            <a:avLst/>
          </a:prstGeom>
          <a:noFill/>
          <a:ln/>
        </p:spPr>
        <p:txBody>
          <a:bodyPr wrap="square" rtlCol="0" anchor="t"/>
          <a:lstStyle/>
          <a:p>
            <a:pPr marL="0" indent="0">
              <a:lnSpc>
                <a:spcPts val="1600"/>
              </a:lnSpc>
              <a:buNone/>
            </a:pPr>
            <a:r>
              <a:rPr lang="en-US" sz="1300" dirty="0">
                <a:solidFill>
                  <a:srgbClr val="1B1F3B"/>
                </a:solidFill>
                <a:latin typeface="Calibri" pitchFamily="34" charset="0"/>
                <a:ea typeface="Calibri" pitchFamily="34" charset="-122"/>
                <a:cs typeface="Calibri" pitchFamily="34" charset="-120"/>
              </a:rPr>
              <a:t>Ningún proceso puede ser obligado a soltar un recurso que retiene.</a:t>
            </a:r>
            <a:endParaRPr lang="en-US" sz="1300" dirty="0"/>
          </a:p>
        </p:txBody>
      </p:sp>
      <p:sp>
        <p:nvSpPr>
          <p:cNvPr id="15" name="Shape 13"/>
          <p:cNvSpPr/>
          <p:nvPr/>
        </p:nvSpPr>
        <p:spPr>
          <a:xfrm>
            <a:off x="6172200" y="3840480"/>
            <a:ext cx="5349240" cy="1920240"/>
          </a:xfrm>
          <a:prstGeom prst="rect">
            <a:avLst/>
          </a:prstGeom>
          <a:solidFill>
            <a:srgbClr val="1E2761"/>
          </a:solidFill>
          <a:ln/>
        </p:spPr>
        <p:txBody>
          <a:bodyPr/>
          <a:lstStyle/>
          <a:p>
            <a:endParaRPr lang="es-PY"/>
          </a:p>
        </p:txBody>
      </p:sp>
      <p:sp>
        <p:nvSpPr>
          <p:cNvPr id="16" name="Text 14"/>
          <p:cNvSpPr/>
          <p:nvPr/>
        </p:nvSpPr>
        <p:spPr>
          <a:xfrm>
            <a:off x="6400800" y="3950208"/>
            <a:ext cx="489204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4. Círculo vicioso de espera</a:t>
            </a:r>
            <a:endParaRPr lang="en-US" sz="1450" dirty="0"/>
          </a:p>
        </p:txBody>
      </p:sp>
      <p:sp>
        <p:nvSpPr>
          <p:cNvPr id="17" name="Text 15"/>
          <p:cNvSpPr/>
          <p:nvPr/>
        </p:nvSpPr>
        <p:spPr>
          <a:xfrm>
            <a:off x="6400800" y="4389120"/>
            <a:ext cx="4892040" cy="1280160"/>
          </a:xfrm>
          <a:prstGeom prst="rect">
            <a:avLst/>
          </a:prstGeom>
          <a:noFill/>
          <a:ln/>
        </p:spPr>
        <p:txBody>
          <a:bodyPr wrap="square" rtlCol="0" anchor="t"/>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Hay una cadena cerrada de procesos: cada uno retiene un recurso que necesita el siguiente de la cadena.</a:t>
            </a:r>
            <a:endParaRPr lang="en-US" sz="1300" dirty="0"/>
          </a:p>
        </p:txBody>
      </p:sp>
      <p:sp>
        <p:nvSpPr>
          <p:cNvPr id="18" name="Text 1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CÓMO ENFRENTARLO · 1</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Prevención y </a:t>
            </a:r>
            <a:r>
              <a:rPr lang="en-US" sz="2800" b="1" dirty="0" err="1">
                <a:solidFill>
                  <a:srgbClr val="FFFFFF"/>
                </a:solidFill>
                <a:latin typeface="Cambria" pitchFamily="34" charset="0"/>
                <a:ea typeface="Cambria" pitchFamily="34" charset="-122"/>
                <a:cs typeface="Cambria" pitchFamily="34" charset="-120"/>
              </a:rPr>
              <a:t>detección</a:t>
            </a:r>
            <a:r>
              <a:rPr lang="en-US" sz="2800" b="1" dirty="0">
                <a:solidFill>
                  <a:srgbClr val="FFFFFF"/>
                </a:solidFill>
                <a:latin typeface="Cambria" pitchFamily="34" charset="0"/>
                <a:ea typeface="Cambria" pitchFamily="34" charset="-122"/>
                <a:cs typeface="Cambria" pitchFamily="34" charset="-120"/>
              </a:rPr>
              <a:t>            -      </a:t>
            </a:r>
            <a:r>
              <a:rPr lang="en-US" sz="2800" b="1" dirty="0" err="1">
                <a:solidFill>
                  <a:srgbClr val="FFFFFF"/>
                </a:solidFill>
                <a:latin typeface="Cambria" pitchFamily="34" charset="0"/>
                <a:ea typeface="Cambria" pitchFamily="34" charset="-122"/>
                <a:cs typeface="Cambria" pitchFamily="34" charset="-120"/>
              </a:rPr>
              <a:t>Interbloqueos</a:t>
            </a:r>
            <a:endParaRPr lang="en-US" sz="2800" dirty="0"/>
          </a:p>
        </p:txBody>
      </p:sp>
      <p:sp>
        <p:nvSpPr>
          <p:cNvPr id="6" name="Shape 4"/>
          <p:cNvSpPr/>
          <p:nvPr/>
        </p:nvSpPr>
        <p:spPr>
          <a:xfrm>
            <a:off x="640080" y="1737360"/>
            <a:ext cx="5349240" cy="4160520"/>
          </a:xfrm>
          <a:prstGeom prst="rect">
            <a:avLst/>
          </a:prstGeom>
          <a:solidFill>
            <a:srgbClr val="232E6E"/>
          </a:solidFill>
          <a:ln/>
        </p:spPr>
        <p:txBody>
          <a:bodyPr/>
          <a:lstStyle/>
          <a:p>
            <a:endParaRPr lang="es-PY"/>
          </a:p>
        </p:txBody>
      </p:sp>
      <p:sp>
        <p:nvSpPr>
          <p:cNvPr id="7" name="Text 5"/>
          <p:cNvSpPr/>
          <p:nvPr/>
        </p:nvSpPr>
        <p:spPr>
          <a:xfrm>
            <a:off x="868680" y="1847088"/>
            <a:ext cx="489204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Prevención: diseñar para que NO ocurra</a:t>
            </a:r>
            <a:endParaRPr lang="en-US" sz="1450" dirty="0"/>
          </a:p>
        </p:txBody>
      </p:sp>
      <p:sp>
        <p:nvSpPr>
          <p:cNvPr id="8" name="Text 6"/>
          <p:cNvSpPr/>
          <p:nvPr/>
        </p:nvSpPr>
        <p:spPr>
          <a:xfrm>
            <a:off x="868680" y="2286000"/>
            <a:ext cx="4892040" cy="3520440"/>
          </a:xfrm>
          <a:prstGeom prst="rect">
            <a:avLst/>
          </a:prstGeom>
          <a:noFill/>
          <a:ln/>
        </p:spPr>
        <p:txBody>
          <a:bodyPr wrap="square" rtlCol="0" anchor="t"/>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Atacar una de las condiciones:</a:t>
            </a:r>
            <a:endParaRPr lang="en-US" sz="1200" dirty="0"/>
          </a:p>
          <a:p>
            <a:pPr marL="0" indent="0">
              <a:lnSpc>
                <a:spcPts val="1600"/>
              </a:lnSpc>
              <a:buNone/>
            </a:pPr>
            <a:endParaRPr lang="en-US" sz="1200" dirty="0"/>
          </a:p>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 Exclusión mutua: no se puede anular (el SO debe soportarla)</a:t>
            </a:r>
            <a:endParaRPr lang="en-US" sz="1200" dirty="0"/>
          </a:p>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 Retención y espera: exigir pedir TODOS los recursos juntos (ineficiente)</a:t>
            </a:r>
            <a:endParaRPr lang="en-US" sz="1200" dirty="0"/>
          </a:p>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 No apropiación: si se niega un pedido, el proceso libera lo que tiene y lo vuelve a pedir</a:t>
            </a:r>
            <a:endParaRPr lang="en-US" sz="1200" dirty="0"/>
          </a:p>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 Círculo vicioso: ordenación lineal de los tipos de recursos</a:t>
            </a:r>
            <a:endParaRPr lang="en-US" sz="1200" dirty="0"/>
          </a:p>
        </p:txBody>
      </p:sp>
      <p:sp>
        <p:nvSpPr>
          <p:cNvPr id="9" name="Shape 7"/>
          <p:cNvSpPr/>
          <p:nvPr/>
        </p:nvSpPr>
        <p:spPr>
          <a:xfrm>
            <a:off x="6172200" y="1737360"/>
            <a:ext cx="5349240" cy="4160520"/>
          </a:xfrm>
          <a:prstGeom prst="rect">
            <a:avLst/>
          </a:prstGeom>
          <a:solidFill>
            <a:srgbClr val="F2F4FB"/>
          </a:solidFill>
          <a:ln/>
        </p:spPr>
        <p:txBody>
          <a:bodyPr/>
          <a:lstStyle/>
          <a:p>
            <a:endParaRPr lang="es-PY"/>
          </a:p>
        </p:txBody>
      </p:sp>
      <p:sp>
        <p:nvSpPr>
          <p:cNvPr id="10" name="Text 8"/>
          <p:cNvSpPr/>
          <p:nvPr/>
        </p:nvSpPr>
        <p:spPr>
          <a:xfrm>
            <a:off x="6400800" y="184708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Detección: dejar que ocurra y recuperarse</a:t>
            </a:r>
            <a:endParaRPr lang="en-US" sz="1450" dirty="0"/>
          </a:p>
        </p:txBody>
      </p:sp>
      <p:sp>
        <p:nvSpPr>
          <p:cNvPr id="11" name="Text 9"/>
          <p:cNvSpPr/>
          <p:nvPr/>
        </p:nvSpPr>
        <p:spPr>
          <a:xfrm>
            <a:off x="6400800" y="2286000"/>
            <a:ext cx="4892040" cy="3520440"/>
          </a:xfrm>
          <a:prstGeom prst="rect">
            <a:avLst/>
          </a:prstGeom>
          <a:noFill/>
          <a:ln/>
        </p:spPr>
        <p:txBody>
          <a:bodyPr wrap="square" rtlCol="0" anchor="t"/>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No limita el acceso a los recursos. Se controla cada tanto y, si se detecta, se recupera:</a:t>
            </a:r>
            <a:endParaRPr lang="en-US" sz="1200" dirty="0"/>
          </a:p>
          <a:p>
            <a:pPr marL="0" indent="0">
              <a:lnSpc>
                <a:spcPts val="1600"/>
              </a:lnSpc>
              <a:buNone/>
            </a:pPr>
            <a:endParaRPr lang="en-US" sz="1200" dirty="0"/>
          </a:p>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1. Abandonar todos los procesos bloqueados</a:t>
            </a:r>
            <a:endParaRPr lang="en-US" sz="1200" dirty="0"/>
          </a:p>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2. Retroceder cada uno a un punto de control y reiniciar</a:t>
            </a:r>
            <a:endParaRPr lang="en-US" sz="1200" dirty="0"/>
          </a:p>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3. Abandonar procesos bloqueados de a uno hasta que desaparezca</a:t>
            </a:r>
            <a:endParaRPr lang="en-US" sz="1200" dirty="0"/>
          </a:p>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4. Quitar recursos de a uno hasta que desaparezca</a:t>
            </a:r>
            <a:endParaRPr lang="en-US" sz="1200" dirty="0"/>
          </a:p>
        </p:txBody>
      </p:sp>
      <p:sp>
        <p:nvSpPr>
          <p:cNvPr id="12" name="Text 10"/>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1E2761"/>
                </a:solidFill>
                <a:latin typeface="Calibri" pitchFamily="34" charset="0"/>
                <a:ea typeface="Calibri" pitchFamily="34" charset="-122"/>
                <a:cs typeface="Calibri" pitchFamily="34" charset="-120"/>
              </a:rPr>
              <a:t>CÓMO ENFRENTARLO · 2</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Predicción y estrategia integrada</a:t>
            </a:r>
            <a:endParaRPr lang="en-US" sz="2800" dirty="0"/>
          </a:p>
        </p:txBody>
      </p:sp>
      <p:sp>
        <p:nvSpPr>
          <p:cNvPr id="6" name="Shape 4"/>
          <p:cNvSpPr/>
          <p:nvPr/>
        </p:nvSpPr>
        <p:spPr>
          <a:xfrm>
            <a:off x="640080" y="1737360"/>
            <a:ext cx="5349240" cy="2377440"/>
          </a:xfrm>
          <a:prstGeom prst="rect">
            <a:avLst/>
          </a:prstGeom>
          <a:solidFill>
            <a:srgbClr val="F2F4FB"/>
          </a:solidFill>
          <a:ln/>
        </p:spPr>
        <p:txBody>
          <a:bodyPr/>
          <a:lstStyle/>
          <a:p>
            <a:endParaRPr lang="es-PY"/>
          </a:p>
        </p:txBody>
      </p:sp>
      <p:sp>
        <p:nvSpPr>
          <p:cNvPr id="7" name="Text 5"/>
          <p:cNvSpPr/>
          <p:nvPr/>
        </p:nvSpPr>
        <p:spPr>
          <a:xfrm>
            <a:off x="868680" y="184708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Predicción (evitación)</a:t>
            </a:r>
            <a:endParaRPr lang="en-US" sz="1450" dirty="0"/>
          </a:p>
        </p:txBody>
      </p:sp>
      <p:sp>
        <p:nvSpPr>
          <p:cNvPr id="8" name="Text 6"/>
          <p:cNvSpPr/>
          <p:nvPr/>
        </p:nvSpPr>
        <p:spPr>
          <a:xfrm>
            <a:off x="868680" y="2286000"/>
            <a:ext cx="4892040" cy="1737360"/>
          </a:xfrm>
          <a:prstGeom prst="rect">
            <a:avLst/>
          </a:prstGeom>
          <a:noFill/>
          <a:ln/>
        </p:spPr>
        <p:txBody>
          <a:bodyPr wrap="square" rtlCol="0" anchor="t"/>
          <a:lstStyle/>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Se decide en cada solicitud, mirando hacia adelante:</a:t>
            </a:r>
            <a:endParaRPr lang="en-US" sz="1250" dirty="0"/>
          </a:p>
          <a:p>
            <a:pPr marL="0" indent="0">
              <a:lnSpc>
                <a:spcPts val="1600"/>
              </a:lnSpc>
              <a:buNone/>
            </a:pPr>
            <a:endParaRPr lang="en-US" sz="1250" dirty="0"/>
          </a:p>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 No iniciar un proceso si sus demandas pueden llevar a interbloqueo</a:t>
            </a:r>
            <a:endParaRPr lang="en-US" sz="1250" dirty="0"/>
          </a:p>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 No conceder un recurso adicional si eso puede generar interbloqueo</a:t>
            </a:r>
            <a:endParaRPr lang="en-US" sz="1250" dirty="0"/>
          </a:p>
        </p:txBody>
      </p:sp>
      <p:sp>
        <p:nvSpPr>
          <p:cNvPr id="9" name="Shape 7"/>
          <p:cNvSpPr/>
          <p:nvPr/>
        </p:nvSpPr>
        <p:spPr>
          <a:xfrm>
            <a:off x="6172200" y="1737360"/>
            <a:ext cx="5349240" cy="2377440"/>
          </a:xfrm>
          <a:prstGeom prst="rect">
            <a:avLst/>
          </a:prstGeom>
          <a:solidFill>
            <a:srgbClr val="1E2761"/>
          </a:solidFill>
          <a:ln/>
        </p:spPr>
        <p:txBody>
          <a:bodyPr/>
          <a:lstStyle/>
          <a:p>
            <a:endParaRPr lang="es-PY"/>
          </a:p>
        </p:txBody>
      </p:sp>
      <p:sp>
        <p:nvSpPr>
          <p:cNvPr id="10" name="Text 8"/>
          <p:cNvSpPr/>
          <p:nvPr/>
        </p:nvSpPr>
        <p:spPr>
          <a:xfrm>
            <a:off x="6400800" y="1847088"/>
            <a:ext cx="489204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Estrategia integrada</a:t>
            </a:r>
            <a:endParaRPr lang="en-US" sz="1450" dirty="0"/>
          </a:p>
        </p:txBody>
      </p:sp>
      <p:sp>
        <p:nvSpPr>
          <p:cNvPr id="11" name="Text 9"/>
          <p:cNvSpPr/>
          <p:nvPr/>
        </p:nvSpPr>
        <p:spPr>
          <a:xfrm>
            <a:off x="6400800" y="2286000"/>
            <a:ext cx="4892040" cy="1737360"/>
          </a:xfrm>
          <a:prstGeom prst="rect">
            <a:avLst/>
          </a:prstGeom>
          <a:noFill/>
          <a:ln/>
        </p:spPr>
        <p:txBody>
          <a:bodyPr wrap="square" rtlCol="0" anchor="t"/>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Mejor que una sola técnica: usar distintas según la situación.</a:t>
            </a:r>
            <a:endParaRPr lang="en-US" sz="1250" dirty="0"/>
          </a:p>
          <a:p>
            <a:pPr marL="0" indent="0">
              <a:lnSpc>
                <a:spcPts val="1600"/>
              </a:lnSpc>
              <a:buNone/>
            </a:pPr>
            <a:endParaRPr lang="en-US" sz="1250" dirty="0"/>
          </a:p>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 Agrupar recursos en clases</a:t>
            </a:r>
            <a:endParaRPr lang="en-US" sz="1250" dirty="0"/>
          </a:p>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 Ordenación lineal entre clases</a:t>
            </a:r>
            <a:endParaRPr lang="en-US" sz="1250" dirty="0"/>
          </a:p>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 Dentro de cada clase, el algoritmo más apropiado para esa clase</a:t>
            </a:r>
            <a:endParaRPr lang="en-US" sz="1250" dirty="0"/>
          </a:p>
        </p:txBody>
      </p:sp>
      <p:sp>
        <p:nvSpPr>
          <p:cNvPr id="12" name="Shape 10"/>
          <p:cNvSpPr/>
          <p:nvPr/>
        </p:nvSpPr>
        <p:spPr>
          <a:xfrm>
            <a:off x="640080" y="4343400"/>
            <a:ext cx="10881360" cy="1463040"/>
          </a:xfrm>
          <a:prstGeom prst="rect">
            <a:avLst/>
          </a:prstGeom>
          <a:solidFill>
            <a:srgbClr val="F7F8FC"/>
          </a:solidFill>
          <a:ln/>
        </p:spPr>
        <p:txBody>
          <a:bodyPr/>
          <a:lstStyle/>
          <a:p>
            <a:endParaRPr lang="es-PY"/>
          </a:p>
        </p:txBody>
      </p:sp>
      <p:sp>
        <p:nvSpPr>
          <p:cNvPr id="13" name="Text 11"/>
          <p:cNvSpPr/>
          <p:nvPr/>
        </p:nvSpPr>
        <p:spPr>
          <a:xfrm>
            <a:off x="914400" y="4526280"/>
            <a:ext cx="10332720" cy="1097280"/>
          </a:xfrm>
          <a:prstGeom prst="rect">
            <a:avLst/>
          </a:prstGeom>
          <a:noFill/>
          <a:ln/>
        </p:spPr>
        <p:txBody>
          <a:bodyPr wrap="square" rtlCol="0" anchor="ctr"/>
          <a:lstStyle/>
          <a:p>
            <a:pPr marL="0" indent="0">
              <a:lnSpc>
                <a:spcPts val="1900"/>
              </a:lnSpc>
              <a:buNone/>
            </a:pPr>
            <a:r>
              <a:rPr lang="en-US" sz="1350" b="1" dirty="0">
                <a:solidFill>
                  <a:srgbClr val="1E2761"/>
                </a:solidFill>
                <a:latin typeface="Calibri" pitchFamily="34" charset="0"/>
                <a:ea typeface="Calibri" pitchFamily="34" charset="-122"/>
                <a:cs typeface="Calibri" pitchFamily="34" charset="-120"/>
              </a:rPr>
              <a:t>Resumen de las 3 familias:  PREVENIR = que sea imposible  ·  PREDECIR = no entrar en situaciones peligrosas  ·  DETECTAR = dejar que pase y recuperarse.</a:t>
            </a:r>
            <a:endParaRPr lang="en-US" sz="1350" dirty="0"/>
          </a:p>
        </p:txBody>
      </p:sp>
      <p:sp>
        <p:nvSpPr>
          <p:cNvPr id="14" name="Text 12"/>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PROBLEMA CLÁSICO DE DIJKSTRA</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La cena de los filósofos</a:t>
            </a:r>
            <a:endParaRPr lang="en-US" sz="2800" dirty="0"/>
          </a:p>
        </p:txBody>
      </p:sp>
      <p:sp>
        <p:nvSpPr>
          <p:cNvPr id="6" name="Text 4"/>
          <p:cNvSpPr/>
          <p:nvPr/>
        </p:nvSpPr>
        <p:spPr>
          <a:xfrm>
            <a:off x="640080" y="1645920"/>
            <a:ext cx="10881360" cy="777240"/>
          </a:xfrm>
          <a:prstGeom prst="rect">
            <a:avLst/>
          </a:prstGeom>
          <a:noFill/>
          <a:ln/>
        </p:spPr>
        <p:txBody>
          <a:bodyPr wrap="square" rtlCol="0" anchor="ctr"/>
          <a:lstStyle/>
          <a:p>
            <a:pPr marL="0" indent="0">
              <a:lnSpc>
                <a:spcPts val="1700"/>
              </a:lnSpc>
              <a:buNone/>
            </a:pPr>
            <a:r>
              <a:rPr lang="en-US" sz="1300" dirty="0">
                <a:solidFill>
                  <a:srgbClr val="CADCFC"/>
                </a:solidFill>
                <a:latin typeface="Calibri" pitchFamily="34" charset="0"/>
                <a:ea typeface="Calibri" pitchFamily="34" charset="-122"/>
                <a:cs typeface="Calibri" pitchFamily="34" charset="-120"/>
              </a:rPr>
              <a:t>5 filósofos, 5 platos y 5 tenedores en una mesa redonda. Para comer espaguetis cada uno necesita DOS tenedores (el de su izquierda y el de su derecha). Hay que evitar: uso simultáneo de un tenedor, interbloqueo e inanición.</a:t>
            </a:r>
            <a:endParaRPr lang="en-US" sz="1300" dirty="0"/>
          </a:p>
        </p:txBody>
      </p:sp>
      <p:sp>
        <p:nvSpPr>
          <p:cNvPr id="7" name="Shape 5"/>
          <p:cNvSpPr/>
          <p:nvPr/>
        </p:nvSpPr>
        <p:spPr>
          <a:xfrm>
            <a:off x="640080" y="2606040"/>
            <a:ext cx="5349240" cy="2743200"/>
          </a:xfrm>
          <a:prstGeom prst="rect">
            <a:avLst/>
          </a:prstGeom>
          <a:solidFill>
            <a:srgbClr val="1B1F2B"/>
          </a:solidFill>
          <a:ln/>
        </p:spPr>
        <p:txBody>
          <a:bodyPr/>
          <a:lstStyle/>
          <a:p>
            <a:endParaRPr lang="es-PY"/>
          </a:p>
        </p:txBody>
      </p:sp>
      <p:sp>
        <p:nvSpPr>
          <p:cNvPr id="8" name="Text 6"/>
          <p:cNvSpPr/>
          <p:nvPr/>
        </p:nvSpPr>
        <p:spPr>
          <a:xfrm>
            <a:off x="868680" y="2715768"/>
            <a:ext cx="4892040" cy="2523744"/>
          </a:xfrm>
          <a:prstGeom prst="rect">
            <a:avLst/>
          </a:prstGeom>
          <a:noFill/>
          <a:ln/>
        </p:spPr>
        <p:txBody>
          <a:bodyPr wrap="square" rtlCol="0" anchor="t"/>
          <a:lstStyle/>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Solución 1 (¡INTERBLOQUEO!)</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filósofo(i): repetir</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pensar;</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wait(tenedor[i]);</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wait(tenedor[(i+1) mod 5]);</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comer;</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signal(tenedor[(i+1) mod 5]);</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signal(tenedor[i])</a:t>
            </a:r>
            <a:endParaRPr lang="en-US" sz="1150" dirty="0"/>
          </a:p>
        </p:txBody>
      </p:sp>
      <p:sp>
        <p:nvSpPr>
          <p:cNvPr id="9" name="Shape 7"/>
          <p:cNvSpPr/>
          <p:nvPr/>
        </p:nvSpPr>
        <p:spPr>
          <a:xfrm>
            <a:off x="6172200" y="2606040"/>
            <a:ext cx="5349240" cy="2743200"/>
          </a:xfrm>
          <a:prstGeom prst="rect">
            <a:avLst/>
          </a:prstGeom>
          <a:solidFill>
            <a:srgbClr val="1B1F2B"/>
          </a:solidFill>
          <a:ln/>
        </p:spPr>
        <p:txBody>
          <a:bodyPr/>
          <a:lstStyle/>
          <a:p>
            <a:endParaRPr lang="es-PY"/>
          </a:p>
        </p:txBody>
      </p:sp>
      <p:sp>
        <p:nvSpPr>
          <p:cNvPr id="10" name="Text 8"/>
          <p:cNvSpPr/>
          <p:nvPr/>
        </p:nvSpPr>
        <p:spPr>
          <a:xfrm>
            <a:off x="6400800" y="2715768"/>
            <a:ext cx="4892040" cy="2523744"/>
          </a:xfrm>
          <a:prstGeom prst="rect">
            <a:avLst/>
          </a:prstGeom>
          <a:noFill/>
          <a:ln/>
        </p:spPr>
        <p:txBody>
          <a:bodyPr wrap="square" rtlCol="0" anchor="t"/>
          <a:lstStyle/>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Solución 2 (SIN interbloqueo)</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habitacion: semáforo := 4</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filósofo(i): repetir</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pensar;</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wait(habitacion);</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wait(tenedor[i]);</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wait(tenedor[(i+1) mod 5]);</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comer;</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signal(tenedor[(i+1) mod 5]);</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signal(tenedor[i]);</a:t>
            </a:r>
            <a:endParaRPr lang="en-US" sz="1150" dirty="0"/>
          </a:p>
          <a:p>
            <a:pPr marL="0" indent="0">
              <a:lnSpc>
                <a:spcPts val="1450"/>
              </a:lnSpc>
              <a:buNone/>
            </a:pPr>
            <a:r>
              <a:rPr lang="en-US" sz="1150" dirty="0">
                <a:solidFill>
                  <a:srgbClr val="8CE99A"/>
                </a:solidFill>
                <a:latin typeface="Consolas" pitchFamily="34" charset="0"/>
                <a:ea typeface="Consolas" pitchFamily="34" charset="-122"/>
                <a:cs typeface="Consolas" pitchFamily="34" charset="-120"/>
              </a:rPr>
              <a:t>  signal(habitacion)</a:t>
            </a:r>
            <a:endParaRPr lang="en-US" sz="1150" dirty="0"/>
          </a:p>
        </p:txBody>
      </p:sp>
      <p:sp>
        <p:nvSpPr>
          <p:cNvPr id="11" name="Text 9"/>
          <p:cNvSpPr/>
          <p:nvPr/>
        </p:nvSpPr>
        <p:spPr>
          <a:xfrm>
            <a:off x="640080" y="5486400"/>
            <a:ext cx="10881360" cy="640080"/>
          </a:xfrm>
          <a:prstGeom prst="rect">
            <a:avLst/>
          </a:prstGeom>
          <a:noFill/>
          <a:ln/>
        </p:spPr>
        <p:txBody>
          <a:bodyPr wrap="square" rtlCol="0" anchor="ctr"/>
          <a:lstStyle/>
          <a:p>
            <a:pPr marL="0" indent="0">
              <a:lnSpc>
                <a:spcPts val="1700"/>
              </a:lnSpc>
              <a:buNone/>
            </a:pPr>
            <a:r>
              <a:rPr lang="en-US" sz="1250" i="1" dirty="0">
                <a:solidFill>
                  <a:srgbClr val="CADCFC"/>
                </a:solidFill>
                <a:latin typeface="Calibri" pitchFamily="34" charset="0"/>
                <a:ea typeface="Calibri" pitchFamily="34" charset="-122"/>
                <a:cs typeface="Calibri" pitchFamily="34" charset="-120"/>
              </a:rPr>
              <a:t>Si los 5 agarran el tenedor izquierdo a la vez, ninguno consigue el derecho: todos pasan hambre. Dejando entrar a solo 4, al menos uno consigue los dos.</a:t>
            </a:r>
            <a:endParaRPr lang="en-US" sz="1250" dirty="0"/>
          </a:p>
        </p:txBody>
      </p:sp>
      <p:sp>
        <p:nvSpPr>
          <p:cNvPr id="12" name="Text 10"/>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2377440" cy="365760"/>
          </a:xfrm>
          <a:prstGeom prst="rect">
            <a:avLst/>
          </a:prstGeom>
          <a:solidFill>
            <a:srgbClr val="1E2761"/>
          </a:solidFill>
          <a:ln/>
        </p:spPr>
        <p:txBody>
          <a:bodyPr/>
          <a:lstStyle/>
          <a:p>
            <a:endParaRPr lang="es-PY"/>
          </a:p>
        </p:txBody>
      </p:sp>
      <p:sp>
        <p:nvSpPr>
          <p:cNvPr id="3" name="Text 1"/>
          <p:cNvSpPr/>
          <p:nvPr/>
        </p:nvSpPr>
        <p:spPr>
          <a:xfrm>
            <a:off x="640080" y="457200"/>
            <a:ext cx="237744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EJEMPLO RESUELTO</a:t>
            </a:r>
            <a:endParaRPr lang="en-US" sz="1200" dirty="0"/>
          </a:p>
        </p:txBody>
      </p:sp>
      <p:sp>
        <p:nvSpPr>
          <p:cNvPr id="4" name="Text 2"/>
          <p:cNvSpPr/>
          <p:nvPr/>
        </p:nvSpPr>
        <p:spPr>
          <a:xfrm>
            <a:off x="640080" y="868680"/>
            <a:ext cx="8686800" cy="640080"/>
          </a:xfrm>
          <a:prstGeom prst="rect">
            <a:avLst/>
          </a:prstGeom>
          <a:noFill/>
          <a:ln/>
        </p:spPr>
        <p:txBody>
          <a:bodyPr wrap="square" rtlCol="0" anchor="ctr"/>
          <a:lstStyle/>
          <a:p>
            <a:pPr marL="0" indent="0">
              <a:buNone/>
            </a:pPr>
            <a:r>
              <a:rPr lang="en-US" sz="2800" b="1" dirty="0">
                <a:solidFill>
                  <a:srgbClr val="1B1F3B"/>
                </a:solidFill>
                <a:latin typeface="Cambria" pitchFamily="34" charset="0"/>
                <a:ea typeface="Cambria" pitchFamily="34" charset="-122"/>
                <a:cs typeface="Cambria" pitchFamily="34" charset="-120"/>
              </a:rPr>
              <a:t>Filósofos: ¿qué pasa en cada caso?</a:t>
            </a:r>
            <a:endParaRPr lang="en-US" sz="2800" dirty="0"/>
          </a:p>
        </p:txBody>
      </p:sp>
      <p:sp>
        <p:nvSpPr>
          <p:cNvPr id="7" name="Text 5"/>
          <p:cNvSpPr/>
          <p:nvPr/>
        </p:nvSpPr>
        <p:spPr>
          <a:xfrm>
            <a:off x="640080" y="1645920"/>
            <a:ext cx="10881360" cy="548640"/>
          </a:xfrm>
          <a:prstGeom prst="rect">
            <a:avLst/>
          </a:prstGeom>
          <a:noFill/>
          <a:ln/>
        </p:spPr>
        <p:txBody>
          <a:bodyPr wrap="square" rtlCol="0" anchor="ctr"/>
          <a:lstStyle/>
          <a:p>
            <a:pPr marL="0" indent="0">
              <a:lnSpc>
                <a:spcPts val="1800"/>
              </a:lnSpc>
              <a:buNone/>
            </a:pPr>
            <a:r>
              <a:rPr lang="en-US" sz="1350" b="1" dirty="0">
                <a:solidFill>
                  <a:srgbClr val="1E2761"/>
                </a:solidFill>
                <a:latin typeface="Calibri" pitchFamily="34" charset="0"/>
                <a:ea typeface="Calibri" pitchFamily="34" charset="-122"/>
                <a:cs typeface="Calibri" pitchFamily="34" charset="-120"/>
              </a:rPr>
              <a:t>Imaginemos 5 filósofos en ronda y 5 tenedores (uno entre cada par). Nadie puede soltar un tenedor hasta haber comido (necesita los dos).</a:t>
            </a:r>
            <a:endParaRPr lang="en-US" sz="1350" dirty="0"/>
          </a:p>
        </p:txBody>
      </p:sp>
      <p:sp>
        <p:nvSpPr>
          <p:cNvPr id="8" name="Shape 6"/>
          <p:cNvSpPr/>
          <p:nvPr/>
        </p:nvSpPr>
        <p:spPr>
          <a:xfrm>
            <a:off x="640080" y="2377440"/>
            <a:ext cx="5349240" cy="2651760"/>
          </a:xfrm>
          <a:prstGeom prst="rect">
            <a:avLst/>
          </a:prstGeom>
          <a:solidFill>
            <a:srgbClr val="F2F4FB"/>
          </a:solidFill>
          <a:ln/>
        </p:spPr>
        <p:txBody>
          <a:bodyPr/>
          <a:lstStyle/>
          <a:p>
            <a:endParaRPr lang="es-PY"/>
          </a:p>
        </p:txBody>
      </p:sp>
      <p:sp>
        <p:nvSpPr>
          <p:cNvPr id="9" name="Text 7"/>
          <p:cNvSpPr/>
          <p:nvPr/>
        </p:nvSpPr>
        <p:spPr>
          <a:xfrm>
            <a:off x="868680" y="2487168"/>
            <a:ext cx="48920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Caso 1: todos agarran primero el izquierdo</a:t>
            </a:r>
            <a:endParaRPr lang="en-US" sz="1450" dirty="0"/>
          </a:p>
        </p:txBody>
      </p:sp>
      <p:sp>
        <p:nvSpPr>
          <p:cNvPr id="10" name="Text 8"/>
          <p:cNvSpPr/>
          <p:nvPr/>
        </p:nvSpPr>
        <p:spPr>
          <a:xfrm>
            <a:off x="868680" y="2926080"/>
            <a:ext cx="4892040" cy="2011680"/>
          </a:xfrm>
          <a:prstGeom prst="rect">
            <a:avLst/>
          </a:prstGeom>
          <a:noFill/>
          <a:ln/>
        </p:spPr>
        <p:txBody>
          <a:bodyPr wrap="square" rtlCol="0" anchor="t"/>
          <a:lstStyle/>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A la señal, cada uno toma su tenedor izquierdo y luego intenta tomar el derecho. Todos quedan con UN tenedor en la mano y ninguno puede comer; nadie suelta.</a:t>
            </a:r>
            <a:endParaRPr lang="en-US" sz="1250" dirty="0"/>
          </a:p>
          <a:p>
            <a:pPr marL="0" indent="0">
              <a:lnSpc>
                <a:spcPts val="1600"/>
              </a:lnSpc>
              <a:buNone/>
            </a:pPr>
            <a:endParaRPr lang="en-US" sz="1250" dirty="0"/>
          </a:p>
          <a:p>
            <a:pPr marL="0" indent="0">
              <a:lnSpc>
                <a:spcPts val="1600"/>
              </a:lnSpc>
              <a:buNone/>
            </a:pPr>
            <a:r>
              <a:rPr lang="en-US" sz="1250" dirty="0">
                <a:solidFill>
                  <a:srgbClr val="1B1F3B"/>
                </a:solidFill>
                <a:latin typeface="Calibri" pitchFamily="34" charset="0"/>
                <a:ea typeface="Calibri" pitchFamily="34" charset="-122"/>
                <a:cs typeface="Calibri" pitchFamily="34" charset="-120"/>
              </a:rPr>
              <a:t>Resultado: INTERBLOQUEO (retención y espera + círculo vicioso).</a:t>
            </a:r>
            <a:endParaRPr lang="en-US" sz="1250" dirty="0"/>
          </a:p>
        </p:txBody>
      </p:sp>
      <p:sp>
        <p:nvSpPr>
          <p:cNvPr id="11" name="Shape 9"/>
          <p:cNvSpPr/>
          <p:nvPr/>
        </p:nvSpPr>
        <p:spPr>
          <a:xfrm>
            <a:off x="6172200" y="2377440"/>
            <a:ext cx="5349240" cy="2651760"/>
          </a:xfrm>
          <a:prstGeom prst="rect">
            <a:avLst/>
          </a:prstGeom>
          <a:solidFill>
            <a:srgbClr val="1E2761"/>
          </a:solidFill>
          <a:ln/>
        </p:spPr>
        <p:txBody>
          <a:bodyPr/>
          <a:lstStyle/>
          <a:p>
            <a:endParaRPr lang="es-PY"/>
          </a:p>
        </p:txBody>
      </p:sp>
      <p:sp>
        <p:nvSpPr>
          <p:cNvPr id="12" name="Text 10"/>
          <p:cNvSpPr/>
          <p:nvPr/>
        </p:nvSpPr>
        <p:spPr>
          <a:xfrm>
            <a:off x="6400800" y="2487168"/>
            <a:ext cx="489204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Caso 2: solo 4 pueden sentarse</a:t>
            </a:r>
            <a:endParaRPr lang="en-US" sz="1450" dirty="0"/>
          </a:p>
        </p:txBody>
      </p:sp>
      <p:sp>
        <p:nvSpPr>
          <p:cNvPr id="13" name="Text 11"/>
          <p:cNvSpPr/>
          <p:nvPr/>
        </p:nvSpPr>
        <p:spPr>
          <a:xfrm>
            <a:off x="6400800" y="2926080"/>
            <a:ext cx="4892040" cy="2011680"/>
          </a:xfrm>
          <a:prstGeom prst="rect">
            <a:avLst/>
          </a:prstGeom>
          <a:noFill/>
          <a:ln/>
        </p:spPr>
        <p:txBody>
          <a:bodyPr wrap="square" rtlCol="0" anchor="t"/>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Un "sirviente" deja sentarse a solo 4 filósofos. Con 4 sentados y 5 tenedores, al menos uno tiene los dos tenedores; come, los suelta, y los demás avanzan.</a:t>
            </a:r>
            <a:endParaRPr lang="en-US" sz="1250" dirty="0"/>
          </a:p>
          <a:p>
            <a:pPr marL="0" indent="0">
              <a:lnSpc>
                <a:spcPts val="1600"/>
              </a:lnSpc>
              <a:buNone/>
            </a:pPr>
            <a:endParaRPr lang="en-US" sz="1250" dirty="0"/>
          </a:p>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Resultado: SIN interbloqueo.</a:t>
            </a:r>
            <a:endParaRPr lang="en-US" sz="1250" dirty="0"/>
          </a:p>
        </p:txBody>
      </p:sp>
      <p:sp>
        <p:nvSpPr>
          <p:cNvPr id="14" name="Text 12"/>
          <p:cNvSpPr/>
          <p:nvPr/>
        </p:nvSpPr>
        <p:spPr>
          <a:xfrm>
            <a:off x="640080" y="5303520"/>
            <a:ext cx="10881360" cy="640080"/>
          </a:xfrm>
          <a:prstGeom prst="rect">
            <a:avLst/>
          </a:prstGeom>
          <a:noFill/>
          <a:ln/>
        </p:spPr>
        <p:txBody>
          <a:bodyPr wrap="square" rtlCol="0" anchor="ctr"/>
          <a:lstStyle/>
          <a:p>
            <a:pPr marL="0" indent="0">
              <a:lnSpc>
                <a:spcPts val="1800"/>
              </a:lnSpc>
              <a:buNone/>
            </a:pPr>
            <a:r>
              <a:rPr lang="en-US" sz="1300" i="1" dirty="0">
                <a:solidFill>
                  <a:srgbClr val="1E2761"/>
                </a:solidFill>
                <a:latin typeface="Calibri" pitchFamily="34" charset="0"/>
                <a:ea typeface="Calibri" pitchFamily="34" charset="-122"/>
                <a:cs typeface="Calibri" pitchFamily="34" charset="-120"/>
              </a:rPr>
              <a:t>La solución 2 rompe la condición del círculo vicioso de espera: con solo 4 compitiendo por 5 tenedores, la cadena cerrada de 5 ya no puede formarse.</a:t>
            </a:r>
            <a:endParaRPr lang="en-US" sz="1300" dirty="0"/>
          </a:p>
        </p:txBody>
      </p:sp>
      <p:sp>
        <p:nvSpPr>
          <p:cNvPr id="15" name="Text 13"/>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2377440" cy="365760"/>
          </a:xfrm>
          <a:prstGeom prst="rect">
            <a:avLst/>
          </a:prstGeom>
          <a:solidFill>
            <a:srgbClr val="1E2761"/>
          </a:solidFill>
          <a:ln/>
        </p:spPr>
        <p:txBody>
          <a:bodyPr/>
          <a:lstStyle/>
          <a:p>
            <a:endParaRPr lang="es-PY"/>
          </a:p>
        </p:txBody>
      </p:sp>
      <p:sp>
        <p:nvSpPr>
          <p:cNvPr id="3" name="Text 1"/>
          <p:cNvSpPr/>
          <p:nvPr/>
        </p:nvSpPr>
        <p:spPr>
          <a:xfrm>
            <a:off x="640080" y="457200"/>
            <a:ext cx="237744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EJEMPLO RESUELTO</a:t>
            </a:r>
            <a:endParaRPr lang="en-US" sz="1200" dirty="0"/>
          </a:p>
        </p:txBody>
      </p:sp>
      <p:sp>
        <p:nvSpPr>
          <p:cNvPr id="4" name="Text 2"/>
          <p:cNvSpPr/>
          <p:nvPr/>
        </p:nvSpPr>
        <p:spPr>
          <a:xfrm>
            <a:off x="640080" y="868680"/>
            <a:ext cx="9326880" cy="640080"/>
          </a:xfrm>
          <a:prstGeom prst="rect">
            <a:avLst/>
          </a:prstGeom>
          <a:noFill/>
          <a:ln/>
        </p:spPr>
        <p:txBody>
          <a:bodyPr wrap="square" rtlCol="0" anchor="ctr"/>
          <a:lstStyle/>
          <a:p>
            <a:pPr marL="0" indent="0">
              <a:buNone/>
            </a:pPr>
            <a:r>
              <a:rPr lang="en-US" sz="2600" b="1" dirty="0">
                <a:solidFill>
                  <a:srgbClr val="1B1F3B"/>
                </a:solidFill>
                <a:latin typeface="Cambria" pitchFamily="34" charset="0"/>
                <a:ea typeface="Cambria" pitchFamily="34" charset="-122"/>
                <a:cs typeface="Cambria" pitchFamily="34" charset="-120"/>
              </a:rPr>
              <a:t>Ejemplo resuelto: ¿hay interbloqueo?</a:t>
            </a:r>
            <a:endParaRPr lang="en-US" sz="2600" dirty="0"/>
          </a:p>
        </p:txBody>
      </p:sp>
      <p:sp>
        <p:nvSpPr>
          <p:cNvPr id="7" name="Shape 5"/>
          <p:cNvSpPr/>
          <p:nvPr/>
        </p:nvSpPr>
        <p:spPr>
          <a:xfrm>
            <a:off x="640080" y="1645920"/>
            <a:ext cx="10881360" cy="1097280"/>
          </a:xfrm>
          <a:prstGeom prst="rect">
            <a:avLst/>
          </a:prstGeom>
          <a:solidFill>
            <a:srgbClr val="F2F4FB"/>
          </a:solidFill>
          <a:ln/>
        </p:spPr>
        <p:txBody>
          <a:bodyPr/>
          <a:lstStyle/>
          <a:p>
            <a:endParaRPr lang="es-PY"/>
          </a:p>
        </p:txBody>
      </p:sp>
      <p:sp>
        <p:nvSpPr>
          <p:cNvPr id="8" name="Text 6"/>
          <p:cNvSpPr/>
          <p:nvPr/>
        </p:nvSpPr>
        <p:spPr>
          <a:xfrm>
            <a:off x="914400" y="1783080"/>
            <a:ext cx="10332720" cy="822960"/>
          </a:xfrm>
          <a:prstGeom prst="rect">
            <a:avLst/>
          </a:prstGeom>
          <a:noFill/>
          <a:ln/>
        </p:spPr>
        <p:txBody>
          <a:bodyPr wrap="square" rtlCol="0" anchor="ctr"/>
          <a:lstStyle/>
          <a:p>
            <a:pPr marL="0" indent="0">
              <a:lnSpc>
                <a:spcPts val="2000"/>
              </a:lnSpc>
              <a:buNone/>
            </a:pPr>
            <a:r>
              <a:rPr lang="en-US" sz="1450" dirty="0">
                <a:solidFill>
                  <a:srgbClr val="1B1F3B"/>
                </a:solidFill>
                <a:latin typeface="Calibri" pitchFamily="34" charset="0"/>
                <a:ea typeface="Calibri" pitchFamily="34" charset="-122"/>
                <a:cs typeface="Calibri" pitchFamily="34" charset="-120"/>
              </a:rPr>
              <a:t>P1 tiene la impresora y pide el escáner. P2 tiene el escáner y pide la impresora. Ninguno suelta lo que tiene hasta terminar su trabajo.</a:t>
            </a:r>
            <a:endParaRPr lang="en-US" sz="1450" dirty="0"/>
          </a:p>
        </p:txBody>
      </p:sp>
      <p:sp>
        <p:nvSpPr>
          <p:cNvPr id="9" name="Shape 7"/>
          <p:cNvSpPr/>
          <p:nvPr/>
        </p:nvSpPr>
        <p:spPr>
          <a:xfrm>
            <a:off x="640080" y="2926080"/>
            <a:ext cx="3520440" cy="3108960"/>
          </a:xfrm>
          <a:prstGeom prst="rect">
            <a:avLst/>
          </a:prstGeom>
          <a:solidFill>
            <a:srgbClr val="F2F4FB"/>
          </a:solidFill>
          <a:ln/>
        </p:spPr>
        <p:txBody>
          <a:bodyPr/>
          <a:lstStyle/>
          <a:p>
            <a:endParaRPr lang="es-PY"/>
          </a:p>
        </p:txBody>
      </p:sp>
      <p:sp>
        <p:nvSpPr>
          <p:cNvPr id="10" name="Text 8"/>
          <p:cNvSpPr/>
          <p:nvPr/>
        </p:nvSpPr>
        <p:spPr>
          <a:xfrm>
            <a:off x="868680" y="3035808"/>
            <a:ext cx="30632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a) ¿Hay interbloqueo?</a:t>
            </a:r>
            <a:endParaRPr lang="en-US" sz="1450" dirty="0"/>
          </a:p>
        </p:txBody>
      </p:sp>
      <p:sp>
        <p:nvSpPr>
          <p:cNvPr id="11" name="Text 9"/>
          <p:cNvSpPr/>
          <p:nvPr/>
        </p:nvSpPr>
        <p:spPr>
          <a:xfrm>
            <a:off x="868680" y="3474720"/>
            <a:ext cx="3063240" cy="2468880"/>
          </a:xfrm>
          <a:prstGeom prst="rect">
            <a:avLst/>
          </a:prstGeom>
          <a:noFill/>
          <a:ln/>
        </p:spPr>
        <p:txBody>
          <a:bodyPr wrap="square" rtlCol="0" anchor="t"/>
          <a:lstStyle/>
          <a:p>
            <a:pPr marL="0" indent="0">
              <a:lnSpc>
                <a:spcPts val="1600"/>
              </a:lnSpc>
              <a:buNone/>
            </a:pPr>
            <a:r>
              <a:rPr lang="en-US" sz="1200" dirty="0">
                <a:solidFill>
                  <a:srgbClr val="1B1F3B"/>
                </a:solidFill>
                <a:latin typeface="Calibri" pitchFamily="34" charset="0"/>
                <a:ea typeface="Calibri" pitchFamily="34" charset="-122"/>
                <a:cs typeface="Calibri" pitchFamily="34" charset="-120"/>
              </a:rPr>
              <a:t>SÍ. P1 espera el escáner (que tiene P2) y P2 espera la impresora (que tiene P1). Ninguno puede avanzar ni va a soltar lo que tiene.</a:t>
            </a:r>
            <a:endParaRPr lang="en-US" sz="1200" dirty="0"/>
          </a:p>
        </p:txBody>
      </p:sp>
      <p:sp>
        <p:nvSpPr>
          <p:cNvPr id="12" name="Shape 10"/>
          <p:cNvSpPr/>
          <p:nvPr/>
        </p:nvSpPr>
        <p:spPr>
          <a:xfrm>
            <a:off x="4343400" y="2926080"/>
            <a:ext cx="3520440" cy="3108960"/>
          </a:xfrm>
          <a:prstGeom prst="rect">
            <a:avLst/>
          </a:prstGeom>
          <a:solidFill>
            <a:srgbClr val="F2F4FB"/>
          </a:solidFill>
          <a:ln/>
        </p:spPr>
        <p:txBody>
          <a:bodyPr/>
          <a:lstStyle/>
          <a:p>
            <a:endParaRPr lang="es-PY"/>
          </a:p>
        </p:txBody>
      </p:sp>
      <p:sp>
        <p:nvSpPr>
          <p:cNvPr id="13" name="Text 11"/>
          <p:cNvSpPr/>
          <p:nvPr/>
        </p:nvSpPr>
        <p:spPr>
          <a:xfrm>
            <a:off x="4572000" y="3035808"/>
            <a:ext cx="3063240" cy="41148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b) Las 4 condiciones</a:t>
            </a:r>
            <a:endParaRPr lang="en-US" sz="1450" dirty="0"/>
          </a:p>
        </p:txBody>
      </p:sp>
      <p:sp>
        <p:nvSpPr>
          <p:cNvPr id="14" name="Text 12"/>
          <p:cNvSpPr/>
          <p:nvPr/>
        </p:nvSpPr>
        <p:spPr>
          <a:xfrm>
            <a:off x="4572000" y="3474720"/>
            <a:ext cx="3063240" cy="2468880"/>
          </a:xfrm>
          <a:prstGeom prst="rect">
            <a:avLst/>
          </a:prstGeom>
          <a:noFill/>
          <a:ln/>
        </p:spPr>
        <p:txBody>
          <a:bodyPr wrap="square" rtlCol="0" anchor="t"/>
          <a:lstStyle/>
          <a:p>
            <a:pPr marL="0" indent="0">
              <a:lnSpc>
                <a:spcPts val="1600"/>
              </a:lnSpc>
              <a:buNone/>
            </a:pPr>
            <a:r>
              <a:rPr lang="en-US" sz="1100" dirty="0">
                <a:solidFill>
                  <a:srgbClr val="1B1F3B"/>
                </a:solidFill>
                <a:latin typeface="Calibri" pitchFamily="34" charset="0"/>
                <a:ea typeface="Calibri" pitchFamily="34" charset="-122"/>
                <a:cs typeface="Calibri" pitchFamily="34" charset="-120"/>
              </a:rPr>
              <a:t>• Exclusión mutua: cada dispositivo lo usa uno solo.</a:t>
            </a:r>
            <a:endParaRPr lang="en-US" sz="1100" dirty="0"/>
          </a:p>
          <a:p>
            <a:pPr marL="0" indent="0">
              <a:lnSpc>
                <a:spcPts val="1600"/>
              </a:lnSpc>
              <a:buNone/>
            </a:pPr>
            <a:r>
              <a:rPr lang="en-US" sz="1100" dirty="0">
                <a:solidFill>
                  <a:srgbClr val="1B1F3B"/>
                </a:solidFill>
                <a:latin typeface="Calibri" pitchFamily="34" charset="0"/>
                <a:ea typeface="Calibri" pitchFamily="34" charset="-122"/>
                <a:cs typeface="Calibri" pitchFamily="34" charset="-120"/>
              </a:rPr>
              <a:t>• Retención y espera: cada uno retiene uno mientras espera el otro.</a:t>
            </a:r>
            <a:endParaRPr lang="en-US" sz="1100" dirty="0"/>
          </a:p>
          <a:p>
            <a:pPr marL="0" indent="0">
              <a:lnSpc>
                <a:spcPts val="1600"/>
              </a:lnSpc>
              <a:buNone/>
            </a:pPr>
            <a:r>
              <a:rPr lang="en-US" sz="1100" dirty="0">
                <a:solidFill>
                  <a:srgbClr val="1B1F3B"/>
                </a:solidFill>
                <a:latin typeface="Calibri" pitchFamily="34" charset="0"/>
                <a:ea typeface="Calibri" pitchFamily="34" charset="-122"/>
                <a:cs typeface="Calibri" pitchFamily="34" charset="-120"/>
              </a:rPr>
              <a:t>• No apropiación: no se le puede quitar el dispositivo.</a:t>
            </a:r>
            <a:endParaRPr lang="en-US" sz="1100" dirty="0"/>
          </a:p>
          <a:p>
            <a:pPr marL="0" indent="0">
              <a:lnSpc>
                <a:spcPts val="1600"/>
              </a:lnSpc>
              <a:buNone/>
            </a:pPr>
            <a:r>
              <a:rPr lang="en-US" sz="1100" dirty="0">
                <a:solidFill>
                  <a:srgbClr val="1B1F3B"/>
                </a:solidFill>
                <a:latin typeface="Calibri" pitchFamily="34" charset="0"/>
                <a:ea typeface="Calibri" pitchFamily="34" charset="-122"/>
                <a:cs typeface="Calibri" pitchFamily="34" charset="-120"/>
              </a:rPr>
              <a:t>• Círculo vicioso: P1 espera a P2 y P2 a P1.</a:t>
            </a:r>
            <a:endParaRPr lang="en-US" sz="1100" dirty="0"/>
          </a:p>
        </p:txBody>
      </p:sp>
      <p:sp>
        <p:nvSpPr>
          <p:cNvPr id="15" name="Shape 13"/>
          <p:cNvSpPr/>
          <p:nvPr/>
        </p:nvSpPr>
        <p:spPr>
          <a:xfrm>
            <a:off x="8046720" y="2926080"/>
            <a:ext cx="3474720" cy="3108960"/>
          </a:xfrm>
          <a:prstGeom prst="rect">
            <a:avLst/>
          </a:prstGeom>
          <a:solidFill>
            <a:srgbClr val="1E2761"/>
          </a:solidFill>
          <a:ln/>
        </p:spPr>
        <p:txBody>
          <a:bodyPr/>
          <a:lstStyle/>
          <a:p>
            <a:endParaRPr lang="es-PY"/>
          </a:p>
        </p:txBody>
      </p:sp>
      <p:sp>
        <p:nvSpPr>
          <p:cNvPr id="16" name="Text 14"/>
          <p:cNvSpPr/>
          <p:nvPr/>
        </p:nvSpPr>
        <p:spPr>
          <a:xfrm>
            <a:off x="8275320" y="3035808"/>
            <a:ext cx="3017520" cy="411480"/>
          </a:xfrm>
          <a:prstGeom prst="rect">
            <a:avLst/>
          </a:prstGeom>
          <a:noFill/>
          <a:ln/>
        </p:spPr>
        <p:txBody>
          <a:bodyPr wrap="square" rtlCol="0" anchor="ctr"/>
          <a:lstStyle/>
          <a:p>
            <a:pPr marL="0" indent="0">
              <a:buNone/>
            </a:pPr>
            <a:r>
              <a:rPr lang="en-US" sz="1450" b="1" dirty="0">
                <a:solidFill>
                  <a:srgbClr val="E8B84B"/>
                </a:solidFill>
                <a:latin typeface="Calibri" pitchFamily="34" charset="0"/>
                <a:ea typeface="Calibri" pitchFamily="34" charset="-122"/>
                <a:cs typeface="Calibri" pitchFamily="34" charset="-120"/>
              </a:rPr>
              <a:t>c) Cómo prevenirlo</a:t>
            </a:r>
            <a:endParaRPr lang="en-US" sz="1450" dirty="0"/>
          </a:p>
        </p:txBody>
      </p:sp>
      <p:sp>
        <p:nvSpPr>
          <p:cNvPr id="17" name="Text 15"/>
          <p:cNvSpPr/>
          <p:nvPr/>
        </p:nvSpPr>
        <p:spPr>
          <a:xfrm>
            <a:off x="8275320" y="3474720"/>
            <a:ext cx="3017520" cy="2468880"/>
          </a:xfrm>
          <a:prstGeom prst="rect">
            <a:avLst/>
          </a:prstGeom>
          <a:noFill/>
          <a:ln/>
        </p:spPr>
        <p:txBody>
          <a:bodyPr wrap="square" rtlCol="0" anchor="t"/>
          <a:lstStyle/>
          <a:p>
            <a:pPr marL="0" indent="0">
              <a:lnSpc>
                <a:spcPts val="1600"/>
              </a:lnSpc>
              <a:buNone/>
            </a:pPr>
            <a:r>
              <a:rPr lang="en-US" sz="1100" dirty="0">
                <a:solidFill>
                  <a:srgbClr val="FFFFFF"/>
                </a:solidFill>
                <a:latin typeface="Calibri" pitchFamily="34" charset="0"/>
                <a:ea typeface="Calibri" pitchFamily="34" charset="-122"/>
                <a:cs typeface="Calibri" pitchFamily="34" charset="-120"/>
              </a:rPr>
              <a:t>• Ordenación lineal: todos piden primero la impresora y luego el escáner (rompe el círculo vicioso).</a:t>
            </a:r>
            <a:endParaRPr lang="en-US" sz="1100" dirty="0"/>
          </a:p>
          <a:p>
            <a:pPr marL="0" indent="0">
              <a:lnSpc>
                <a:spcPts val="1600"/>
              </a:lnSpc>
              <a:buNone/>
            </a:pPr>
            <a:r>
              <a:rPr lang="en-US" sz="1100" dirty="0">
                <a:solidFill>
                  <a:srgbClr val="FFFFFF"/>
                </a:solidFill>
                <a:latin typeface="Calibri" pitchFamily="34" charset="0"/>
                <a:ea typeface="Calibri" pitchFamily="34" charset="-122"/>
                <a:cs typeface="Calibri" pitchFamily="34" charset="-120"/>
              </a:rPr>
              <a:t>• Pedir ambos juntos, todo o nada (rompe retención y espera).</a:t>
            </a:r>
            <a:endParaRPr lang="en-US" sz="1100" dirty="0"/>
          </a:p>
          <a:p>
            <a:pPr marL="0" indent="0">
              <a:lnSpc>
                <a:spcPts val="1600"/>
              </a:lnSpc>
              <a:buNone/>
            </a:pPr>
            <a:r>
              <a:rPr lang="en-US" sz="1100" dirty="0">
                <a:solidFill>
                  <a:srgbClr val="FFFFFF"/>
                </a:solidFill>
                <a:latin typeface="Calibri" pitchFamily="34" charset="0"/>
                <a:ea typeface="Calibri" pitchFamily="34" charset="-122"/>
                <a:cs typeface="Calibri" pitchFamily="34" charset="-120"/>
              </a:rPr>
              <a:t>• Permitir apropiación (rompe no apropiación).</a:t>
            </a:r>
            <a:endParaRPr lang="en-US" sz="1100" dirty="0"/>
          </a:p>
        </p:txBody>
      </p:sp>
      <p:sp>
        <p:nvSpPr>
          <p:cNvPr id="18" name="Text 16"/>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40080" y="502920"/>
            <a:ext cx="86868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PARA CERRAR HOY</a:t>
            </a:r>
            <a:endParaRPr lang="en-US" sz="1300" dirty="0"/>
          </a:p>
        </p:txBody>
      </p:sp>
      <p:sp>
        <p:nvSpPr>
          <p:cNvPr id="3" name="Text 1"/>
          <p:cNvSpPr/>
          <p:nvPr/>
        </p:nvSpPr>
        <p:spPr>
          <a:xfrm>
            <a:off x="640080" y="868680"/>
            <a:ext cx="100584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Síntesis y lo que viene</a:t>
            </a:r>
            <a:endParaRPr lang="en-US" sz="2800" dirty="0"/>
          </a:p>
        </p:txBody>
      </p:sp>
      <p:sp>
        <p:nvSpPr>
          <p:cNvPr id="6" name="Shape 4"/>
          <p:cNvSpPr/>
          <p:nvPr/>
        </p:nvSpPr>
        <p:spPr>
          <a:xfrm>
            <a:off x="640080" y="1783080"/>
            <a:ext cx="10881360" cy="2834640"/>
          </a:xfrm>
          <a:prstGeom prst="rect">
            <a:avLst/>
          </a:prstGeom>
          <a:solidFill>
            <a:srgbClr val="232E6E"/>
          </a:solidFill>
          <a:ln/>
        </p:spPr>
        <p:txBody>
          <a:bodyPr/>
          <a:lstStyle/>
          <a:p>
            <a:endParaRPr lang="es-PY"/>
          </a:p>
        </p:txBody>
      </p:sp>
      <p:sp>
        <p:nvSpPr>
          <p:cNvPr id="7" name="Text 5"/>
          <p:cNvSpPr/>
          <p:nvPr/>
        </p:nvSpPr>
        <p:spPr>
          <a:xfrm>
            <a:off x="960120" y="1965960"/>
            <a:ext cx="10241280" cy="365760"/>
          </a:xfrm>
          <a:prstGeom prst="rect">
            <a:avLst/>
          </a:prstGeom>
          <a:noFill/>
          <a:ln/>
        </p:spPr>
        <p:txBody>
          <a:bodyPr wrap="square" rtlCol="0" anchor="ctr"/>
          <a:lstStyle/>
          <a:p>
            <a:pPr marL="0" indent="0">
              <a:buNone/>
            </a:pPr>
            <a:r>
              <a:rPr lang="en-US" sz="1500" b="1" dirty="0">
                <a:solidFill>
                  <a:srgbClr val="E8B84B"/>
                </a:solidFill>
                <a:latin typeface="Calibri" pitchFamily="34" charset="0"/>
                <a:ea typeface="Calibri" pitchFamily="34" charset="-122"/>
                <a:cs typeface="Calibri" pitchFamily="34" charset="-120"/>
              </a:rPr>
              <a:t>Hoy vimos:</a:t>
            </a:r>
            <a:endParaRPr lang="en-US" sz="1500" dirty="0"/>
          </a:p>
        </p:txBody>
      </p:sp>
      <p:sp>
        <p:nvSpPr>
          <p:cNvPr id="8" name="Text 6"/>
          <p:cNvSpPr/>
          <p:nvPr/>
        </p:nvSpPr>
        <p:spPr>
          <a:xfrm>
            <a:off x="960120" y="2377440"/>
            <a:ext cx="10241280" cy="2103120"/>
          </a:xfrm>
          <a:prstGeom prst="rect">
            <a:avLst/>
          </a:prstGeom>
          <a:noFill/>
          <a:ln/>
        </p:spPr>
        <p:txBody>
          <a:bodyPr wrap="square" rtlCol="0" anchor="ctr"/>
          <a:lstStyle/>
          <a:p>
            <a:pPr marL="342900" indent="-342900">
              <a:lnSpc>
                <a:spcPts val="1800"/>
              </a:lnSpc>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Semáforos (wait/signal, binario y general) y su uso para exclusión mutua</a:t>
            </a:r>
            <a:endParaRPr lang="en-US" sz="1350" dirty="0"/>
          </a:p>
          <a:p>
            <a:pPr marL="342900" indent="-342900">
              <a:lnSpc>
                <a:spcPts val="1800"/>
              </a:lnSpc>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Productor/consumidor con semáforos, y monitores</a:t>
            </a:r>
            <a:endParaRPr lang="en-US" sz="1350" dirty="0"/>
          </a:p>
          <a:p>
            <a:pPr marL="342900" indent="-342900">
              <a:lnSpc>
                <a:spcPts val="1800"/>
              </a:lnSpc>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Paso de mensajes: send/receive, sincronización, buzones</a:t>
            </a:r>
            <a:endParaRPr lang="en-US" sz="1350" dirty="0"/>
          </a:p>
          <a:p>
            <a:pPr marL="342900" indent="-342900">
              <a:lnSpc>
                <a:spcPts val="1800"/>
              </a:lnSpc>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Interbloqueo: 4 condiciones, prevención, detección, predicción y estrategia integrada</a:t>
            </a:r>
            <a:endParaRPr lang="en-US" sz="1350" dirty="0"/>
          </a:p>
          <a:p>
            <a:pPr marL="342900" indent="-342900">
              <a:lnSpc>
                <a:spcPts val="1800"/>
              </a:lnSpc>
              <a:spcAft>
                <a:spcPts val="600"/>
              </a:spcAft>
              <a:buSzPct val="100000"/>
              <a:buChar char="•"/>
            </a:pPr>
            <a:r>
              <a:rPr lang="en-US" sz="1350" dirty="0">
                <a:solidFill>
                  <a:srgbClr val="FFFFFF"/>
                </a:solidFill>
                <a:latin typeface="Calibri" pitchFamily="34" charset="0"/>
                <a:ea typeface="Calibri" pitchFamily="34" charset="-122"/>
                <a:cs typeface="Calibri" pitchFamily="34" charset="-120"/>
              </a:rPr>
              <a:t>Filósofos comensales y ejemplos resueltos (traza de semáforo, suma perdida, interbloqueo)</a:t>
            </a:r>
            <a:endParaRPr lang="en-US" sz="1350" dirty="0"/>
          </a:p>
        </p:txBody>
      </p:sp>
      <p:sp>
        <p:nvSpPr>
          <p:cNvPr id="9" name="Text 7"/>
          <p:cNvSpPr/>
          <p:nvPr/>
        </p:nvSpPr>
        <p:spPr>
          <a:xfrm>
            <a:off x="640080" y="4892040"/>
            <a:ext cx="10881360" cy="640080"/>
          </a:xfrm>
          <a:prstGeom prst="rect">
            <a:avLst/>
          </a:prstGeom>
          <a:noFill/>
          <a:ln/>
        </p:spPr>
        <p:txBody>
          <a:bodyPr wrap="square" rtlCol="0" anchor="ctr"/>
          <a:lstStyle/>
          <a:p>
            <a:pPr marL="0" indent="0">
              <a:buNone/>
            </a:pPr>
            <a:r>
              <a:rPr lang="en-US" sz="1500" i="1" dirty="0">
                <a:solidFill>
                  <a:srgbClr val="CADCFC"/>
                </a:solidFill>
                <a:latin typeface="Calibri" pitchFamily="34" charset="0"/>
                <a:ea typeface="Calibri" pitchFamily="34" charset="-122"/>
                <a:cs typeface="Calibri" pitchFamily="34" charset="-120"/>
              </a:rPr>
              <a:t>Próxima clase (13/10): repaso de la Unidad 3. Después: 2do Parcial (20/10).</a:t>
            </a:r>
            <a:endParaRPr lang="en-US" sz="1500" dirty="0"/>
          </a:p>
        </p:txBody>
      </p:sp>
      <p:sp>
        <p:nvSpPr>
          <p:cNvPr id="10" name="Text 8"/>
          <p:cNvSpPr/>
          <p:nvPr/>
        </p:nvSpPr>
        <p:spPr>
          <a:xfrm>
            <a:off x="11365992" y="6355080"/>
            <a:ext cx="548640" cy="320040"/>
          </a:xfrm>
          <a:prstGeom prst="rect">
            <a:avLst/>
          </a:prstGeom>
          <a:noFill/>
          <a:ln/>
        </p:spPr>
        <p:txBody>
          <a:bodyPr wrap="square"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6694</Words>
  <Application>Microsoft Office PowerPoint</Application>
  <PresentationFormat>Panorámica</PresentationFormat>
  <Paragraphs>388</Paragraphs>
  <Slides>21</Slides>
  <Notes>21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vt:i4>
      </vt:variant>
    </vt:vector>
  </HeadingPairs>
  <TitlesOfParts>
    <vt:vector size="26" baseType="lpstr">
      <vt:lpstr>Arial</vt:lpstr>
      <vt:lpstr>Calibri</vt:lpstr>
      <vt:lpstr>Cambria</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Jose Avalos Palacio</cp:lastModifiedBy>
  <cp:revision>2</cp:revision>
  <dcterms:created xsi:type="dcterms:W3CDTF">2026-10-06T18:33:50Z</dcterms:created>
  <dcterms:modified xsi:type="dcterms:W3CDTF">2026-10-06T19:42:00Z</dcterms:modified>
</cp:coreProperties>
</file>