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2" r:id="rId2"/>
    <p:sldId id="2561" r:id="rId3"/>
    <p:sldId id="2564" r:id="rId4"/>
    <p:sldId id="2565" r:id="rId5"/>
    <p:sldId id="2566" r:id="rId6"/>
    <p:sldId id="2567" r:id="rId7"/>
    <p:sldId id="2568" r:id="rId8"/>
    <p:sldId id="2569" r:id="rId9"/>
    <p:sldId id="25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istema de Registro de Turnos para Unidades de Salud Pública" id="{CECFBD9A-BC93-4292-B6C9-F857AF594642}">
          <p14:sldIdLst/>
        </p14:section>
        <p14:section name="Presentación General" id="{1A4F6890-24E8-480C-A0E1-1D4B830AB6CC}">
          <p14:sldIdLst>
            <p14:sldId id="2562"/>
            <p14:sldId id="2561"/>
            <p14:sldId id="2564"/>
            <p14:sldId id="2565"/>
            <p14:sldId id="2566"/>
            <p14:sldId id="2567"/>
            <p14:sldId id="2568"/>
            <p14:sldId id="2569"/>
            <p14:sldId id="25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FF4FA0-32E1-DFC9-AAFE-2D9FACCDAF48}" v="121" dt="2026-06-09T21:15:32.6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533F14-5388-44A8-9E36-74DBAA641849}" type="datetimeFigureOut">
              <a:t>09/06/2026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BA291-D2ED-4E37-BB7E-8961FDB308CC}" type="slidenum">
              <a:t>‹Nº›</a:t>
            </a:fld>
            <a:endParaRPr lang="en-US"/>
          </a:p>
        </p:txBody>
      </p:sp>
    </p:spTree>
    <p:extLst>
      <p:ext uri="{BB962C8B-B14F-4D97-AF65-F5344CB8AC3E}">
        <p14:creationId xmlns:p14="http://schemas.microsoft.com/office/powerpoint/2010/main" val="1569551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Diapositiva en blanco, Programación Avanzada, Problema, Justificación, Solución Propuesta, Funcionalidades, Estructuras Utilizadas, Conclusión</a:t>
            </a:r>
          </a:p>
        </p:txBody>
      </p:sp>
      <p:sp>
        <p:nvSpPr>
          <p:cNvPr id="4" name="Slide Number Placeholder 3"/>
          <p:cNvSpPr>
            <a:spLocks noGrp="1"/>
          </p:cNvSpPr>
          <p:nvPr>
            <p:ph type="sldNum" sz="quarter" idx="5"/>
          </p:nvPr>
        </p:nvSpPr>
        <p:spPr/>
        <p:txBody>
          <a:bodyPr/>
          <a:lstStyle/>
          <a:p>
            <a:fld id="{853AD2B0-D03E-40E1-85E9-818AB68F6125}" type="slidenum">
              <a:t>2</a:t>
            </a:fld>
            <a:endParaRPr lang="en-US"/>
          </a:p>
        </p:txBody>
      </p:sp>
    </p:spTree>
    <p:extLst>
      <p:ext uri="{BB962C8B-B14F-4D97-AF65-F5344CB8AC3E}">
        <p14:creationId xmlns:p14="http://schemas.microsoft.com/office/powerpoint/2010/main" val="3820854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contenido generado por IA puede ser incorrecto.
---
</a:t>
            </a:r>
          </a:p>
        </p:txBody>
      </p:sp>
      <p:sp>
        <p:nvSpPr>
          <p:cNvPr id="4" name="Slide Number Placeholder 3"/>
          <p:cNvSpPr>
            <a:spLocks noGrp="1"/>
          </p:cNvSpPr>
          <p:nvPr>
            <p:ph type="sldNum" sz="quarter" idx="5"/>
          </p:nvPr>
        </p:nvSpPr>
        <p:spPr/>
        <p:txBody>
          <a:bodyPr/>
          <a:lstStyle/>
          <a:p>
            <a:fld id="{853AD2B0-D03E-40E1-85E9-818AB68F6125}" type="slidenum">
              <a:t>1</a:t>
            </a:fld>
            <a:endParaRPr lang="en-US"/>
          </a:p>
        </p:txBody>
      </p:sp>
    </p:spTree>
    <p:extLst>
      <p:ext uri="{BB962C8B-B14F-4D97-AF65-F5344CB8AC3E}">
        <p14:creationId xmlns:p14="http://schemas.microsoft.com/office/powerpoint/2010/main" val="25814393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En esta diapositiva se introduce el tema principal del trabajo, el cual corresponde al desarrollo de un sistema de registro de turnos para unidades de salud pública, enmarcado dentro de la asignatura de programación avanzada. El objetivo es mostrar cómo los conocimientos adquiridos en clase pueden aplicarse a la resolución de problemas reales mediante el uso de estructuras de programación. Se debe explicar que este proyecto combina conceptos teóricos como condicionales, estructuras repetitivas, arreglos y funciones, con una problemática concreta del mundo real. Además, es importante destacar que el sistema propuesto es una solución ficticia, pero diseñada con criterios prácticos y realistas. La idea es demostrar la capacidad del grupo para analizar una situación, identificar sus dificultades y plantear una solución lógica y estructurada mediante código. También se puede mencionar que el enfoque del trabajo está orientado hacia la mejora de los servicios de salud pública, lo cual le da un valor social adicional. Durante la exposición, esta diapositiva sirve para contextualizar al público y establecer claramente el propósito del proyecto, facilitando la comprensión de los temas que se desarrollarán a continuación.</a:t>
            </a:r>
          </a:p>
        </p:txBody>
      </p:sp>
      <p:sp>
        <p:nvSpPr>
          <p:cNvPr id="4" name="Slide Number Placeholder 3"/>
          <p:cNvSpPr>
            <a:spLocks noGrp="1"/>
          </p:cNvSpPr>
          <p:nvPr>
            <p:ph type="sldNum" sz="quarter" idx="5"/>
          </p:nvPr>
        </p:nvSpPr>
        <p:spPr/>
        <p:txBody>
          <a:bodyPr/>
          <a:lstStyle/>
          <a:p>
            <a:fld id="{853AD2B0-D03E-40E1-85E9-818AB68F6125}" type="slidenum">
              <a:t>4</a:t>
            </a:fld>
            <a:endParaRPr lang="en-US"/>
          </a:p>
        </p:txBody>
      </p:sp>
    </p:spTree>
    <p:extLst>
      <p:ext uri="{BB962C8B-B14F-4D97-AF65-F5344CB8AC3E}">
        <p14:creationId xmlns:p14="http://schemas.microsoft.com/office/powerpoint/2010/main" val="4223543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problema identificado en este trabajo se centra en la dificultad que enfrentan los ciudadanos para acceder a turnos en las unidades de salud pública. Este inconveniente es común en muchos contextos, especialmente en sistemas con alta demanda y recursos limitados. Entre los principales problemas se encuentran las largas filas de espera, la necesidad de asistir presencialmente para solicitar un turno y la falta de organización en el registro de pacientes. Estas situaciones generan pérdida de tiempo, desorden en la atención y, en muchos casos, impiden que las personas accedan a servicios médicos de manera oportuna. Además, la ausencia de sistemas digitales eficientes contribuye a la duplicación de turnos, errores en los datos y dificultad para gestionar la información. Este escenario afecta tanto a los pacientes como al personal administrativo, quienes deben trabajar con herramientas limitadas. En la exposición, se debe enfatizar que esta problemática tiene un impacto social significativo, ya que está relacionada con el acceso a la salud. Identificar correctamente el problema es fundamental, ya que permite justificar la necesidad de desarrollar una solución tecnológica que optimice los procesos existentes.</a:t>
            </a:r>
          </a:p>
        </p:txBody>
      </p:sp>
      <p:sp>
        <p:nvSpPr>
          <p:cNvPr id="4" name="Slide Number Placeholder 3"/>
          <p:cNvSpPr>
            <a:spLocks noGrp="1"/>
          </p:cNvSpPr>
          <p:nvPr>
            <p:ph type="sldNum" sz="quarter" idx="5"/>
          </p:nvPr>
        </p:nvSpPr>
        <p:spPr/>
        <p:txBody>
          <a:bodyPr/>
          <a:lstStyle/>
          <a:p>
            <a:fld id="{853AD2B0-D03E-40E1-85E9-818AB68F6125}" type="slidenum">
              <a:t>5</a:t>
            </a:fld>
            <a:endParaRPr lang="en-US"/>
          </a:p>
        </p:txBody>
      </p:sp>
    </p:spTree>
    <p:extLst>
      <p:ext uri="{BB962C8B-B14F-4D97-AF65-F5344CB8AC3E}">
        <p14:creationId xmlns:p14="http://schemas.microsoft.com/office/powerpoint/2010/main" val="346379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justificación del proyecto se basa en la necesidad de mejorar la eficiencia en la gestión de turnos dentro de las unidades de salud pública. Este sistema permitiría optimizar el uso de recursos, reducir los tiempos de espera y mejorar la experiencia de los pacientes. Además, al implementar una solución digital, se facilita el almacenamiento y la organización de datos, lo que contribuye a una atención más ordenada y efectiva. Otro aspecto importante es el impacto social positivo que tendría el sistema, ya que ayudaría a garantizar un acceso más equitativo a los servicios de salud. Desde el punto de vista académico, el proyecto permite aplicar los conocimientos adquiridos en programación avanzada, demostrando la capacidad del equipo para resolver problemas reales mediante el uso de tecnología. También se justifica en la necesidad de modernizar los procesos administrativos, reemplazando métodos manuales por sistemas automatizados. Durante la exposición, es fundamental destacar que esta solución no solo es viable, sino también necesaria en contextos donde la demanda supera la capacidad de atención. La justificación refuerza la relevancia del tema y valida el esfuerzo realizado en el desarrollo del proyecto.</a:t>
            </a:r>
          </a:p>
        </p:txBody>
      </p:sp>
      <p:sp>
        <p:nvSpPr>
          <p:cNvPr id="4" name="Slide Number Placeholder 3"/>
          <p:cNvSpPr>
            <a:spLocks noGrp="1"/>
          </p:cNvSpPr>
          <p:nvPr>
            <p:ph type="sldNum" sz="quarter" idx="5"/>
          </p:nvPr>
        </p:nvSpPr>
        <p:spPr/>
        <p:txBody>
          <a:bodyPr/>
          <a:lstStyle/>
          <a:p>
            <a:fld id="{853AD2B0-D03E-40E1-85E9-818AB68F6125}" type="slidenum">
              <a:t>6</a:t>
            </a:fld>
            <a:endParaRPr lang="en-US"/>
          </a:p>
        </p:txBody>
      </p:sp>
    </p:spTree>
    <p:extLst>
      <p:ext uri="{BB962C8B-B14F-4D97-AF65-F5344CB8AC3E}">
        <p14:creationId xmlns:p14="http://schemas.microsoft.com/office/powerpoint/2010/main" val="2459676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La solución planteada consiste en el desarrollo de un sistema digital de registro de turnos que permita gestionar de manera eficiente la asignación de citas en unidades de salud pública. Este sistema permitiría a los usuarios registrarse, ingresar sus datos personales y solicitar turnos de forma automatizada. Además, el programa incluiría una función de asignación automática de turnos basada en la disponibilidad, lo que evitaría conflictos y duplicaciones. También se incorporaría la posibilidad de cancelar o modificar turnos, lo cual brinda mayor flexibilidad a los usuarios. Desde el punto de vista técnico, el sistema se desarrollaría utilizando un lenguaje como C o C++, aplicando estructuras fundamentales de programación. La solución busca simplificar los procesos administrativos, reducir errores humanos y mejorar la organización general del servicio. Durante la exposición, se debe explicar cómo funciona el sistema paso a paso, destacando sus ventajas frente al método tradicional. Esta diapositiva es clave para demostrar la capacidad del equipo de proponer una solución lógica, estructurada y alineada con la problemática planteada.</a:t>
            </a:r>
          </a:p>
        </p:txBody>
      </p:sp>
      <p:sp>
        <p:nvSpPr>
          <p:cNvPr id="4" name="Slide Number Placeholder 3"/>
          <p:cNvSpPr>
            <a:spLocks noGrp="1"/>
          </p:cNvSpPr>
          <p:nvPr>
            <p:ph type="sldNum" sz="quarter" idx="5"/>
          </p:nvPr>
        </p:nvSpPr>
        <p:spPr/>
        <p:txBody>
          <a:bodyPr/>
          <a:lstStyle/>
          <a:p>
            <a:fld id="{853AD2B0-D03E-40E1-85E9-818AB68F6125}" type="slidenum">
              <a:t>7</a:t>
            </a:fld>
            <a:endParaRPr lang="en-US"/>
          </a:p>
        </p:txBody>
      </p:sp>
    </p:spTree>
    <p:extLst>
      <p:ext uri="{BB962C8B-B14F-4D97-AF65-F5344CB8AC3E}">
        <p14:creationId xmlns:p14="http://schemas.microsoft.com/office/powerpoint/2010/main" val="1652391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sistema propuesto incluye diversas funcionalidades que permiten gestionar los turnos de manera eficiente. Entre las principales se encuentra el registro de pacientes, donde se almacenan datos como nombre, documento y contacto. También se incluye la gestión de turnos, que permite asignar citas según disponibilidad. Otra función importante es la visualización de turnos, que facilita la consulta de las citas programadas. Además, el sistema permite realizar búsquedas rápidas de pacientes o turnos, así como modificar o cancelar citas existentes. Estas funcionalidades están diseñadas para cubrir las necesidades básicas de una unidad de salud pública, garantizando un flujo de trabajo organizado. Desde el punto de vista técnico, cada funcionalidad se implementa mediante estructuras de programación específicas, lo que demuestra el manejo de conceptos avanzados. En la exposición, es importante explicar cómo estas funciones mejoran la eficiencia del sistema y facilitan el trabajo del personal. Esta diapositiva permite mostrar de manera concreta cómo la solución se traduce en acciones específicas dentro del programa.</a:t>
            </a:r>
          </a:p>
        </p:txBody>
      </p:sp>
      <p:sp>
        <p:nvSpPr>
          <p:cNvPr id="4" name="Slide Number Placeholder 3"/>
          <p:cNvSpPr>
            <a:spLocks noGrp="1"/>
          </p:cNvSpPr>
          <p:nvPr>
            <p:ph type="sldNum" sz="quarter" idx="5"/>
          </p:nvPr>
        </p:nvSpPr>
        <p:spPr/>
        <p:txBody>
          <a:bodyPr/>
          <a:lstStyle/>
          <a:p>
            <a:fld id="{853AD2B0-D03E-40E1-85E9-818AB68F6125}" type="slidenum">
              <a:t>8</a:t>
            </a:fld>
            <a:endParaRPr lang="en-US"/>
          </a:p>
        </p:txBody>
      </p:sp>
    </p:spTree>
    <p:extLst>
      <p:ext uri="{BB962C8B-B14F-4D97-AF65-F5344CB8AC3E}">
        <p14:creationId xmlns:p14="http://schemas.microsoft.com/office/powerpoint/2010/main" val="167397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desarrollo del sistema se basa en el uso de estructuras fundamentales de programación, las cuales son esenciales en el ámbito de la programación avanzada. En primer lugar, se utilizan estructuras condicionales como if y else para validar datos ingresados y controlar el flujo del programa. También se emplean ciclos, como for o while, para repetir procesos como la visualización de menús o la iteración sobre listas de turnos. Los arreglos y listas permiten almacenar información de pacientes y citas, facilitando su gestión. Además, se implementan funciones para organizar el código en módulos, lo que mejora la legibilidad y el mantenimiento del programa. Estas estructuras permiten construir un sistema lógico, eficiente y escalable. Durante la exposición, es importante explicar cómo cada una de estas herramientas contribuye al funcionamiento general del sistema. Esta diapositiva demuestra el dominio técnico del equipo y su capacidad para aplicar conceptos teóricos en un contexto práctico, lo cual es fundamental para la evaluación del proyecto.</a:t>
            </a:r>
          </a:p>
        </p:txBody>
      </p:sp>
      <p:sp>
        <p:nvSpPr>
          <p:cNvPr id="4" name="Slide Number Placeholder 3"/>
          <p:cNvSpPr>
            <a:spLocks noGrp="1"/>
          </p:cNvSpPr>
          <p:nvPr>
            <p:ph type="sldNum" sz="quarter" idx="5"/>
          </p:nvPr>
        </p:nvSpPr>
        <p:spPr/>
        <p:txBody>
          <a:bodyPr/>
          <a:lstStyle/>
          <a:p>
            <a:fld id="{853AD2B0-D03E-40E1-85E9-818AB68F6125}" type="slidenum">
              <a:t>9</a:t>
            </a:fld>
            <a:endParaRPr lang="en-US"/>
          </a:p>
        </p:txBody>
      </p:sp>
    </p:spTree>
    <p:extLst>
      <p:ext uri="{BB962C8B-B14F-4D97-AF65-F5344CB8AC3E}">
        <p14:creationId xmlns:p14="http://schemas.microsoft.com/office/powerpoint/2010/main" val="181492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En conclusión, el sistema de registro de turnos propuesto representa una solución eficaz para mejorar la gestión de citas en unidades de salud pública. A través de la implementación de herramientas de programación, se logra optimizar los procesos, reducir los tiempos de espera y mejorar la organización del servicio. Este proyecto demuestra que es posible aplicar los conocimientos adquiridos en programación avanzada para resolver problemas reales con impacto social. Además, se evidencia la importancia de utilizar estructuras como condicionales, ciclos, arreglos y funciones para desarrollar programas eficientes. Durante la exposición, se debe resaltar el aprendizaje obtenido, tanto en el aspecto técnico como en el trabajo en equipo y la presentación oral. También es importante mencionar que, aunque la solución es ficticia, podría adaptarse a un entorno real con los ajustes necesarios. Esta experiencia permite comprender el valor de la programación como herramienta para la innovación y la mejora de servicios. Finalmente, se invita a reflexionar sobre la importancia de seguir desarrollando soluciones tecnológicas que contribuyan al bienestar de la sociedad.</a:t>
            </a:r>
          </a:p>
        </p:txBody>
      </p:sp>
      <p:sp>
        <p:nvSpPr>
          <p:cNvPr id="4" name="Slide Number Placeholder 3"/>
          <p:cNvSpPr>
            <a:spLocks noGrp="1"/>
          </p:cNvSpPr>
          <p:nvPr>
            <p:ph type="sldNum" sz="quarter" idx="5"/>
          </p:nvPr>
        </p:nvSpPr>
        <p:spPr/>
        <p:txBody>
          <a:bodyPr/>
          <a:lstStyle/>
          <a:p>
            <a:fld id="{853AD2B0-D03E-40E1-85E9-818AB68F6125}" type="slidenum">
              <a:t>10</a:t>
            </a:fld>
            <a:endParaRPr lang="en-US"/>
          </a:p>
        </p:txBody>
      </p:sp>
    </p:spTree>
    <p:extLst>
      <p:ext uri="{BB962C8B-B14F-4D97-AF65-F5344CB8AC3E}">
        <p14:creationId xmlns:p14="http://schemas.microsoft.com/office/powerpoint/2010/main" val="2981885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ítul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rtlCol="0" anchor="t">
            <a:normAutofit/>
          </a:bodyPr>
          <a:lstStyle>
            <a:lvl1pPr algn="l">
              <a:defRPr sz="7000"/>
            </a:lvl1pPr>
          </a:lstStyle>
          <a:p>
            <a:pPr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rtlCol="0"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5094000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ítul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rtlCol="0" anchor="b">
            <a:normAutofit/>
          </a:bodyPr>
          <a:lstStyle>
            <a:lvl1pPr algn="l">
              <a:defRPr sz="7200"/>
            </a:lvl1pPr>
          </a:lstStyle>
          <a:p>
            <a:pPr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rtlCol="0"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56859991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ítul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rtlCol="0" anchor="b">
            <a:normAutofit/>
          </a:bodyPr>
          <a:lstStyle>
            <a:lvl1pPr algn="ctr">
              <a:defRPr sz="6000"/>
            </a:lvl1pPr>
          </a:lstStyle>
          <a:p>
            <a:pPr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rtlCol="0">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35948349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fot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rtlCol="0" anchor="b">
            <a:normAutofit/>
          </a:bodyPr>
          <a:lstStyle>
            <a:lvl1pPr algn="l">
              <a:defRPr sz="4000"/>
            </a:lvl1pPr>
          </a:lstStyle>
          <a:p>
            <a:pPr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rtlCol="0"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7" name="Marcador de fecha 6">
            <a:extLst>
              <a:ext uri="{FF2B5EF4-FFF2-40B4-BE49-F238E27FC236}">
                <a16:creationId xmlns:a16="http://schemas.microsoft.com/office/drawing/2014/main" id="{1AA6C9C7-A264-237A-7F3C-46E6A7A9646D}"/>
              </a:ext>
            </a:extLst>
          </p:cNvPr>
          <p:cNvSpPr>
            <a:spLocks noGrp="1"/>
          </p:cNvSpPr>
          <p:nvPr>
            <p:ph type="dt" sz="half" idx="14"/>
          </p:nvPr>
        </p:nvSpPr>
        <p:spPr/>
        <p:txBody>
          <a:bodyPr rtlCol="0"/>
          <a:lstStyle/>
          <a:p>
            <a:pPr rtl="0"/>
            <a:r>
              <a:rPr lang="en-US"/>
              <a:t>20/2/2025</a:t>
            </a:r>
          </a:p>
        </p:txBody>
      </p:sp>
      <p:sp>
        <p:nvSpPr>
          <p:cNvPr id="8" name="Marcador de pie de página 7">
            <a:extLst>
              <a:ext uri="{FF2B5EF4-FFF2-40B4-BE49-F238E27FC236}">
                <a16:creationId xmlns:a16="http://schemas.microsoft.com/office/drawing/2014/main" id="{1B5B8C48-05E9-5280-3F6A-22F8BCBB477E}"/>
              </a:ext>
            </a:extLst>
          </p:cNvPr>
          <p:cNvSpPr>
            <a:spLocks noGrp="1"/>
          </p:cNvSpPr>
          <p:nvPr>
            <p:ph type="ftr" sz="quarter" idx="15"/>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4127837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fot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rtlCol="0" anchor="b">
            <a:normAutofit/>
          </a:bodyPr>
          <a:lstStyle>
            <a:lvl1pPr algn="l">
              <a:defRPr sz="5400"/>
            </a:lvl1pPr>
          </a:lstStyle>
          <a:p>
            <a:pPr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rtlCol="0"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rtlCol="0"/>
          <a:lstStyle>
            <a:lvl1pPr>
              <a:defRPr>
                <a:solidFill>
                  <a:schemeClr val="tx1"/>
                </a:solidFill>
                <a:effectLst/>
              </a:defRPr>
            </a:lvl1pPr>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8866498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fot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rtlCol="0" anchor="t">
            <a:normAutofit/>
          </a:bodyPr>
          <a:lstStyle>
            <a:lvl1pPr algn="l">
              <a:defRPr sz="5200"/>
            </a:lvl1pPr>
          </a:lstStyle>
          <a:p>
            <a:pPr rtl="0"/>
            <a:r>
              <a:rPr lang="es"/>
              <a:t>Haga clic para modificar el estilo de título del patrón</a:t>
            </a:r>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rtlCol="0"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7" name="Marcador de fecha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rtlCol="0"/>
          <a:lstStyle/>
          <a:p>
            <a:pPr rtl="0"/>
            <a:r>
              <a:rPr lang="en-US"/>
              <a:t>20/2/2025</a:t>
            </a:r>
          </a:p>
        </p:txBody>
      </p:sp>
      <p:sp>
        <p:nvSpPr>
          <p:cNvPr id="8" name="Marcador de pie de página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8628219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cabezado de sección">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rtlCol="0" anchor="b">
            <a:normAutofit/>
          </a:bodyPr>
          <a:lstStyle>
            <a:lvl1pPr algn="l">
              <a:defRPr sz="7400"/>
            </a:lvl1pPr>
          </a:lstStyle>
          <a:p>
            <a:pPr rtl="0"/>
            <a:r>
              <a:rPr lang="es"/>
              <a:t>Haga clic para modificar el estilo de título del patrón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32618417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rtlCol="0" anchor="b">
            <a:normAutofit/>
          </a:bodyPr>
          <a:lstStyle>
            <a:lvl1pPr>
              <a:defRPr sz="4400"/>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rtlCol="0">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p>
            <a:pPr rtl="0"/>
            <a:r>
              <a:rPr lang="en-US"/>
              <a:t>20/2/2025</a:t>
            </a:r>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456041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oto de a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rtlCol="0" anchor="b">
            <a:normAutofit/>
          </a:bodyPr>
          <a:lstStyle>
            <a:lvl1pPr>
              <a:defRPr sz="4000"/>
            </a:lvl1pPr>
          </a:lstStyle>
          <a:p>
            <a:pPr rtl="0"/>
            <a:r>
              <a:rPr lang="es"/>
              <a:t>Haga clic para modificar el estilo de título del patrón</a:t>
            </a:r>
            <a:endParaRPr lang="en-US"/>
          </a:p>
        </p:txBody>
      </p:sp>
      <p:sp>
        <p:nvSpPr>
          <p:cNvPr id="8" name="Marcador de posición de imagen 7">
            <a:extLst>
              <a:ext uri="{FF2B5EF4-FFF2-40B4-BE49-F238E27FC236}">
                <a16:creationId xmlns:a16="http://schemas.microsoft.com/office/drawing/2014/main" id="{9AC20259-235D-F9C3-3788-C1457976F5AC}"/>
              </a:ext>
            </a:extLst>
          </p:cNvPr>
          <p:cNvSpPr>
            <a:spLocks noGrp="1"/>
          </p:cNvSpPr>
          <p:nvPr>
            <p:ph type="pic" sz="quarter" idx="14"/>
          </p:nvPr>
        </p:nvSpPr>
        <p:spPr>
          <a:xfrm>
            <a:off x="0" y="0"/>
            <a:ext cx="6099048"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rtlCol="0">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3" name="Marcador de fecha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rtlCol="0"/>
          <a:lstStyle/>
          <a:p>
            <a:pPr rtl="0"/>
            <a:r>
              <a:rPr lang="en-US"/>
              <a:t>20/2/2025</a:t>
            </a:r>
          </a:p>
        </p:txBody>
      </p:sp>
      <p:sp>
        <p:nvSpPr>
          <p:cNvPr id="4" name="Marcador de pie de página 3">
            <a:extLst>
              <a:ext uri="{FF2B5EF4-FFF2-40B4-BE49-F238E27FC236}">
                <a16:creationId xmlns:a16="http://schemas.microsoft.com/office/drawing/2014/main" id="{0B12CFE6-D05E-5478-B3A4-81DC4DCD7410}"/>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399539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ítulo, contenido 1 (máx.)">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rtlCol="0" anchor="ctr">
            <a:normAutofit/>
          </a:bodyPr>
          <a:lstStyle>
            <a:lvl1pPr>
              <a:defRPr sz="2400"/>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071359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olo contenido (máx.)">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rtlCol="0" anchor="ctr">
            <a:normAutofit/>
          </a:bodyPr>
          <a:lstStyle>
            <a:lvl1pPr>
              <a:defRPr sz="2400"/>
            </a:lvl1pPr>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566961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ítulo, conteni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p:txBody>
          <a:bodyPr rtlCol="0"/>
          <a:lstStyle/>
          <a:p>
            <a:pPr rtl="0"/>
            <a:r>
              <a:rPr lang="es"/>
              <a:t>Haga clic para modificar el estilo de título del patrón</a:t>
            </a:r>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5813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ítulo, 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rtlCol="0">
            <a:normAutofit/>
          </a:bodyPr>
          <a:lstStyle>
            <a:lvl1pPr>
              <a:defRPr sz="44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386757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ítulo, contenid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rtlCol="0">
            <a:normAutofit/>
          </a:bodyPr>
          <a:lstStyle>
            <a:lvl1pPr>
              <a:defRPr sz="36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237672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ítulo, contenid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rtlCol="0">
            <a:normAutofit/>
          </a:bodyPr>
          <a:lstStyle>
            <a:lvl1pPr>
              <a:defRPr sz="36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9057618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ítulo, conteni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rtlCol="0">
            <a:normAutofit/>
          </a:bodyPr>
          <a:lstStyle>
            <a:lvl1pPr>
              <a:defRPr sz="36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30180702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ítulo, contenido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rtlCol="0">
            <a:normAutofit/>
          </a:bodyPr>
          <a:lstStyle>
            <a:lvl1pPr>
              <a:defRPr sz="32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300516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to de conteni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rtlCol="0" anchor="b"/>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a:alphaModFix amt="60000"/>
            </a:blip>
            <a:srcRect/>
            <a:stretch>
              <a:fillRect/>
            </a:stretch>
          </a:blipFill>
        </p:spPr>
        <p:txBody>
          <a:bodyPr rtlCol="0"/>
          <a:lstStyle/>
          <a:p>
            <a:pPr rtl="0"/>
            <a:r>
              <a:rPr lang="es"/>
              <a:t>Haga clic en el icono para agregar una imagen</a:t>
            </a:r>
            <a:endParaRPr lang="en-US"/>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rtlCol="0"/>
          <a:lstStyle/>
          <a:p>
            <a:pPr rtl="0"/>
            <a:r>
              <a:rPr lang="en-US"/>
              <a:t>20/2/2025</a:t>
            </a:r>
          </a:p>
        </p:txBody>
      </p:sp>
      <p:sp>
        <p:nvSpPr>
          <p:cNvPr id="9" name="Marcador de pie de página 8">
            <a:extLst>
              <a:ext uri="{FF2B5EF4-FFF2-40B4-BE49-F238E27FC236}">
                <a16:creationId xmlns:a16="http://schemas.microsoft.com/office/drawing/2014/main" id="{C65BFCB1-FAA8-D03A-3B62-DCB2CF1CA112}"/>
              </a:ext>
            </a:extLst>
          </p:cNvPr>
          <p:cNvSpPr>
            <a:spLocks noGrp="1"/>
          </p:cNvSpPr>
          <p:nvPr>
            <p:ph type="ftr" sz="quarter" idx="16"/>
          </p:nvPr>
        </p:nvSpPr>
        <p:spPr/>
        <p:txBody>
          <a:bodyPr rtlCol="0"/>
          <a:lstStyle/>
          <a:p>
            <a:pPr rtl="0"/>
            <a:r>
              <a:rPr lang="es"/>
              <a:t>Ejemplo de Texto de pie de página</a:t>
            </a:r>
          </a:p>
        </p:txBody>
      </p:sp>
      <p:sp>
        <p:nvSpPr>
          <p:cNvPr id="10" name="Marcador de número de diapositiva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5135522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to del conteni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rtlCol="0" anchor="b"/>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9" name="Marcador de fecha 8">
            <a:extLst>
              <a:ext uri="{FF2B5EF4-FFF2-40B4-BE49-F238E27FC236}">
                <a16:creationId xmlns:a16="http://schemas.microsoft.com/office/drawing/2014/main" id="{81177663-FC76-DF36-EEB7-5BE4C6C82F3A}"/>
              </a:ext>
            </a:extLst>
          </p:cNvPr>
          <p:cNvSpPr>
            <a:spLocks noGrp="1"/>
          </p:cNvSpPr>
          <p:nvPr>
            <p:ph type="dt" sz="half" idx="15"/>
          </p:nvPr>
        </p:nvSpPr>
        <p:spPr/>
        <p:txBody>
          <a:bodyPr rtlCol="0"/>
          <a:lstStyle/>
          <a:p>
            <a:pPr rtl="0"/>
            <a:r>
              <a:rPr lang="en-US"/>
              <a:t>20/2/2025</a:t>
            </a:r>
          </a:p>
        </p:txBody>
      </p:sp>
      <p:sp>
        <p:nvSpPr>
          <p:cNvPr id="10" name="Marcador de pie de página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rtlCol="0"/>
          <a:lstStyle/>
          <a:p>
            <a:pPr rtl="0"/>
            <a:r>
              <a:rPr lang="es"/>
              <a:t>Muestra de texto de pie de página</a:t>
            </a:r>
          </a:p>
        </p:txBody>
      </p:sp>
      <p:sp>
        <p:nvSpPr>
          <p:cNvPr id="12" name="Marcador de número de diapositiva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818624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to de contenido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rtlCol="0" anchor="b"/>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3" name="Marcador de fecha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rtlCol="0"/>
          <a:lstStyle/>
          <a:p>
            <a:pPr rtl="0"/>
            <a:r>
              <a:rPr lang="en-US"/>
              <a:t>20/2/2025</a:t>
            </a:r>
          </a:p>
        </p:txBody>
      </p:sp>
      <p:sp>
        <p:nvSpPr>
          <p:cNvPr id="4" name="Marcador de pie de página 3">
            <a:extLst>
              <a:ext uri="{FF2B5EF4-FFF2-40B4-BE49-F238E27FC236}">
                <a16:creationId xmlns:a16="http://schemas.microsoft.com/office/drawing/2014/main" id="{5446E4B5-B423-4137-0255-D68BAC85BE95}"/>
              </a:ext>
            </a:extLst>
          </p:cNvPr>
          <p:cNvSpPr>
            <a:spLocks noGrp="1"/>
          </p:cNvSpPr>
          <p:nvPr>
            <p:ph type="ftr" sz="quarter" idx="16"/>
          </p:nvPr>
        </p:nvSpPr>
        <p:spPr/>
        <p:txBody>
          <a:bodyPr rtlCol="0"/>
          <a:lstStyle/>
          <a:p>
            <a:pPr rtl="0"/>
            <a:r>
              <a:rPr lang="es"/>
              <a:t>Muestra de texto de pie de página</a:t>
            </a:r>
          </a:p>
        </p:txBody>
      </p:sp>
      <p:sp>
        <p:nvSpPr>
          <p:cNvPr id="9" name="Marcador de número de diapositiva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5758722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to de contenido 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rtlCol="0" anchor="b"/>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9F3CAD5B-18BB-E21E-3A4C-7BAACB8519A4}"/>
              </a:ext>
            </a:extLst>
          </p:cNvPr>
          <p:cNvSpPr>
            <a:spLocks noGrp="1"/>
          </p:cNvSpPr>
          <p:nvPr>
            <p:ph type="dt" sz="half" idx="15"/>
          </p:nvPr>
        </p:nvSpPr>
        <p:spPr/>
        <p:txBody>
          <a:bodyPr rtlCol="0"/>
          <a:lstStyle/>
          <a:p>
            <a:pPr rtl="0"/>
            <a:r>
              <a:rPr lang="en-US"/>
              <a:t>20/2/2025</a:t>
            </a:r>
          </a:p>
        </p:txBody>
      </p:sp>
      <p:sp>
        <p:nvSpPr>
          <p:cNvPr id="9" name="Marcador de pie de página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rtlCol="0"/>
          <a:lstStyle/>
          <a:p>
            <a:pPr rtl="0"/>
            <a:r>
              <a:rPr lang="es"/>
              <a:t>Ejemplo de Texto de pie de página</a:t>
            </a:r>
          </a:p>
        </p:txBody>
      </p:sp>
      <p:sp>
        <p:nvSpPr>
          <p:cNvPr id="10" name="Marcador de número de diapositiva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6602823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to de contenido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rtlCol="0" anchor="b"/>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8" name="Marcador de contenido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rtlCol="0"/>
          <a:lstStyle>
            <a:lvl1pPr>
              <a:defRPr>
                <a:solidFill>
                  <a:schemeClr val="tx1"/>
                </a:solidFill>
                <a:effectLst/>
              </a:defRPr>
            </a:lvl1pPr>
          </a:lstStyle>
          <a:p>
            <a:pPr rtl="0"/>
            <a:r>
              <a:rPr lang="en-US"/>
              <a:t>20/2/2025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0355272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to de contenido 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rtlCol="0" anchor="b"/>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rtlCol="0"/>
          <a:lstStyle/>
          <a:p>
            <a:pPr rtl="0"/>
            <a:r>
              <a:rPr lang="en-US"/>
              <a:t>20/2/2025</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rtlCol="0"/>
          <a:lstStyle>
            <a:lvl1pPr>
              <a:defRPr>
                <a:solidFill>
                  <a:schemeClr val="tx1"/>
                </a:solidFill>
                <a:effectLst/>
              </a:defRPr>
            </a:lvl1pPr>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rtlCol="0"/>
          <a:lstStyle>
            <a:lvl1pPr>
              <a:defRPr>
                <a:solidFill>
                  <a:schemeClr val="tx1"/>
                </a:solidFill>
                <a:effectLst/>
              </a:defRPr>
            </a:lvl1pPr>
          </a:lstStyle>
          <a:p>
            <a:pPr rtl="0"/>
            <a:fld id="{CC057153-B650-4DEB-B370-79DDCFDCE934}" type="slidenum">
              <a:rPr lang="en-US" smtClean="0"/>
              <a:pPr rtl="0"/>
              <a:t>‹Nº›</a:t>
            </a:fld>
            <a:endParaRPr lang="en-US"/>
          </a:p>
        </p:txBody>
      </p:sp>
    </p:spTree>
    <p:extLst>
      <p:ext uri="{BB962C8B-B14F-4D97-AF65-F5344CB8AC3E}">
        <p14:creationId xmlns:p14="http://schemas.microsoft.com/office/powerpoint/2010/main" val="2700092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to de contenido 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rtlCol="0" anchor="b"/>
          <a:lstStyle>
            <a:lvl1pPr>
              <a:defRPr sz="320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8" name="Marcador de contenido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rtlCol="0"/>
          <a:lstStyle>
            <a:lvl1pPr>
              <a:defRPr>
                <a:solidFill>
                  <a:schemeClr val="tx1"/>
                </a:solidFill>
                <a:effectLst/>
              </a:defRPr>
            </a:lvl1pPr>
          </a:lstStyle>
          <a:p>
            <a:pPr rtl="0"/>
            <a:r>
              <a:rPr lang="en-US"/>
              <a:t>20/2/2025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6899341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to de contenido 8">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rtlCol="0" anchor="b"/>
          <a:lstStyle>
            <a:lvl1pPr>
              <a:defRPr sz="32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rtlCol="0"/>
          <a:lstStyle/>
          <a:p>
            <a:pPr rtl="0"/>
            <a:r>
              <a:rPr lang="en-US"/>
              <a:t>20/2/2025</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rtlCol="0"/>
          <a:lstStyle>
            <a:lvl1pPr>
              <a:defRPr>
                <a:solidFill>
                  <a:schemeClr val="tx1"/>
                </a:solidFill>
                <a:effectLst/>
              </a:defRPr>
            </a:lvl1pPr>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rtlCol="0"/>
          <a:lstStyle>
            <a:lvl1pPr>
              <a:defRPr>
                <a:solidFill>
                  <a:schemeClr val="tx1"/>
                </a:solidFill>
                <a:effectLst/>
              </a:defRPr>
            </a:lvl1pPr>
          </a:lstStyle>
          <a:p>
            <a:pPr rtl="0"/>
            <a:fld id="{CC057153-B650-4DEB-B370-79DDCFDCE934}" type="slidenum">
              <a:rPr lang="en-US" smtClean="0"/>
              <a:pPr rtl="0"/>
              <a:t>‹Nº›</a:t>
            </a:fld>
            <a:endParaRPr lang="en-US"/>
          </a:p>
        </p:txBody>
      </p:sp>
    </p:spTree>
    <p:extLst>
      <p:ext uri="{BB962C8B-B14F-4D97-AF65-F5344CB8AC3E}">
        <p14:creationId xmlns:p14="http://schemas.microsoft.com/office/powerpoint/2010/main" val="36365718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to de contenido 9">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rtlCol="0" anchor="b">
            <a:normAutofit/>
          </a:bodyPr>
          <a:lstStyle>
            <a:lvl1pPr>
              <a:defRPr sz="320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rtlCol="0"/>
          <a:lstStyle/>
          <a:p>
            <a:pPr rtl="0"/>
            <a:r>
              <a:rPr lang="en-US"/>
              <a:t>20/2/2025</a:t>
            </a:r>
          </a:p>
        </p:txBody>
      </p:sp>
      <p:sp>
        <p:nvSpPr>
          <p:cNvPr id="9" name="Marcador de pie de página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rtlCol="0"/>
          <a:lstStyle/>
          <a:p>
            <a:pPr rtl="0"/>
            <a:r>
              <a:rPr lang="es"/>
              <a:t>Ejemplo de Texto de pie de página</a:t>
            </a:r>
          </a:p>
        </p:txBody>
      </p:sp>
      <p:sp>
        <p:nvSpPr>
          <p:cNvPr id="10" name="Marcador de número de diapositiva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2537528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to de contenido 10">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rtlCol="0" anchor="b">
            <a:normAutofit/>
          </a:bodyPr>
          <a:lstStyle>
            <a:lvl1pPr>
              <a:defRPr sz="32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rtlCol="0"/>
          <a:lstStyle/>
          <a:p>
            <a:pPr rtl="0"/>
            <a:r>
              <a:rPr lang="en-US"/>
              <a:t>20/2/2025</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rtlCol="0"/>
          <a:lstStyle>
            <a:lvl1pPr>
              <a:defRPr>
                <a:solidFill>
                  <a:schemeClr val="tx1"/>
                </a:solidFill>
                <a:effectLst/>
              </a:defRPr>
            </a:lvl1pPr>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rtlCol="0"/>
          <a:lstStyle>
            <a:lvl1pPr>
              <a:defRPr>
                <a:solidFill>
                  <a:schemeClr val="tx1"/>
                </a:solidFill>
                <a:effectLst/>
              </a:defRPr>
            </a:lvl1pPr>
          </a:lstStyle>
          <a:p>
            <a:pPr rtl="0"/>
            <a:fld id="{CC057153-B650-4DEB-B370-79DDCFDCE934}" type="slidenum">
              <a:rPr lang="en-US" smtClean="0"/>
              <a:pPr rtl="0"/>
              <a:t>‹Nº›</a:t>
            </a:fld>
            <a:endParaRPr lang="en-US"/>
          </a:p>
        </p:txBody>
      </p:sp>
    </p:spTree>
    <p:extLst>
      <p:ext uri="{BB962C8B-B14F-4D97-AF65-F5344CB8AC3E}">
        <p14:creationId xmlns:p14="http://schemas.microsoft.com/office/powerpoint/2010/main" val="25196990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to de contenido 1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rtlCol="0" anchor="b"/>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rtlCol="0">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rtlCol="0"/>
          <a:lstStyle>
            <a:lvl1pPr>
              <a:defRPr>
                <a:solidFill>
                  <a:schemeClr val="tx1"/>
                </a:solidFill>
                <a:effectLst/>
              </a:defRPr>
            </a:lvl1pPr>
          </a:lstStyle>
          <a:p>
            <a:pPr rtl="0"/>
            <a:r>
              <a:rPr lang="en-US"/>
              <a:t>20/2/2025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41082864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oto de contenido 1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rtlCol="0" anchor="t">
            <a:normAutofit/>
          </a:bodyPr>
          <a:lstStyle>
            <a:lvl1pPr>
              <a:defRPr sz="320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20/2/2025</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rtlCol="0">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7960205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to de contenido 1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rtlCol="0" anchor="t">
            <a:normAutofit/>
          </a:bodyPr>
          <a:lstStyle>
            <a:lvl1pPr>
              <a:defRPr sz="320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20/2/2025</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rtlCol="0">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2075808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to de contenido 14">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rtlCol="0" anchor="t">
            <a:normAutofit/>
          </a:bodyPr>
          <a:lstStyle>
            <a:lvl1pPr>
              <a:defRPr sz="320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rtlCol="0"/>
          <a:lstStyle/>
          <a:p>
            <a:pPr rtl="0"/>
            <a:r>
              <a:rPr lang="en-US"/>
              <a:t>20/2/2025</a:t>
            </a:r>
          </a:p>
        </p:txBody>
      </p: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rtlCol="0">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8616360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to de contenido 1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172200" cy="4425696"/>
          </a:xfrm>
          <a:blipFill dpi="0" rotWithShape="1">
            <a:blip r:embed="rId2">
              <a:alphaModFix amt="60000"/>
            </a:blip>
            <a:srcRect/>
            <a:stretch>
              <a:fillRect/>
            </a:stretch>
          </a:blipFill>
        </p:spPr>
        <p:txBody>
          <a:bodyPr rtlCol="0"/>
          <a:lstStyle/>
          <a:p>
            <a:pPr rtl="0"/>
            <a:r>
              <a:rPr lang="es"/>
              <a:t>Haga clic en el icono para agregar una imagen</a:t>
            </a:r>
            <a:endParaRPr lang="en-US"/>
          </a:p>
        </p:txBody>
      </p:sp>
      <p:sp>
        <p:nvSpPr>
          <p:cNvPr id="8" name="Marcador de contenido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2566715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to de contenido 16">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rtlCol="0">
            <a:normAutofit/>
          </a:bodyPr>
          <a:lstStyle>
            <a:lvl1pPr>
              <a:defRPr sz="360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8" y="2290890"/>
            <a:ext cx="4672584" cy="4041648"/>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9577924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to de contenido 17">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rtlCol="0" anchor="t">
            <a:normAutofit/>
          </a:bodyPr>
          <a:lstStyle>
            <a:lvl1pPr>
              <a:defRPr sz="3200"/>
            </a:lvl1pPr>
          </a:lstStyle>
          <a:p>
            <a:pPr rtl="0"/>
            <a:r>
              <a:rPr lang="es"/>
              <a:t>Haga clic para modificar el estilo de título del patrón</a:t>
            </a: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a:blipFill dpi="0" rotWithShape="1">
            <a:blip r:embed="rId2">
              <a:alphaModFix amt="60000"/>
            </a:blip>
            <a:srcRect/>
            <a:stretch>
              <a:fillRect/>
            </a:stretch>
          </a:blipFill>
        </p:spPr>
        <p:txBody>
          <a:bodyPr rtlCol="0"/>
          <a:lstStyle>
            <a:lvl1pPr marL="0" indent="0">
              <a:buNone/>
              <a:defRPr/>
            </a:lvl1pPr>
          </a:lstStyle>
          <a:p>
            <a:pPr rtl="0"/>
            <a:r>
              <a:rPr lang="es"/>
              <a:t>Haga clic en el icono para agregar una imagen</a:t>
            </a:r>
            <a:endParaRPr lang="en-US"/>
          </a:p>
        </p:txBody>
      </p:sp>
      <p:sp>
        <p:nvSpPr>
          <p:cNvPr id="8" name="Marcador de contenido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7616525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Número grande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10826496" cy="4334256"/>
          </a:xfrm>
        </p:spPr>
        <p:txBody>
          <a:bodyPr rtlCol="0" anchor="b">
            <a:normAutofit/>
          </a:bodyPr>
          <a:lstStyle>
            <a:lvl1pPr algn="l">
              <a:defRPr sz="23200">
                <a:solidFill>
                  <a:schemeClr val="accent1">
                    <a:lumMod val="75000"/>
                  </a:schemeClr>
                </a:solidFill>
              </a:defRPr>
            </a:lvl1pPr>
          </a:lstStyle>
          <a:p>
            <a:pPr rtl="0"/>
            <a:r>
              <a:rPr lang="es"/>
              <a:t>##%</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94944" y="4718304"/>
            <a:ext cx="5897880" cy="1353312"/>
          </a:xfrm>
        </p:spPr>
        <p:txBody>
          <a:bodyPr rtlCol="0"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70636976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Número grande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rtlCol="0" anchor="b">
            <a:normAutofit/>
          </a:bodyPr>
          <a:lstStyle>
            <a:lvl1pPr algn="ctr">
              <a:defRPr sz="23200">
                <a:solidFill>
                  <a:schemeClr val="accent1">
                    <a:lumMod val="75000"/>
                  </a:schemeClr>
                </a:solidFill>
              </a:defRPr>
            </a:lvl1pPr>
          </a:lstStyle>
          <a:p>
            <a:pPr rtl="0"/>
            <a:r>
              <a:rPr lang="es"/>
              <a:t>##%</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rtlCol="0"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90697099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Número grande 3">
    <p:bg>
      <p:bgRef idx="1001">
        <a:schemeClr val="bg2"/>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rtlCol="0" anchor="b">
            <a:normAutofit/>
          </a:bodyPr>
          <a:lstStyle>
            <a:lvl1pPr algn="ctr">
              <a:defRPr sz="23200">
                <a:solidFill>
                  <a:schemeClr val="tx1"/>
                </a:solidFill>
              </a:defRPr>
            </a:lvl1pPr>
          </a:lstStyle>
          <a:p>
            <a:pPr rtl="0"/>
            <a:r>
              <a:rPr lang="es"/>
              <a:t>##%</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rtlCol="0"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lvl1pPr>
              <a:defRPr>
                <a:solidFill>
                  <a:schemeClr val="tx1"/>
                </a:solidFill>
              </a:defRPr>
            </a:lvl1pPr>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lvl1pPr>
              <a:defRPr>
                <a:solidFill>
                  <a:schemeClr val="tx1"/>
                </a:solidFill>
              </a:defRPr>
            </a:lvl1pPr>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lvl1pPr>
              <a:defRPr>
                <a:solidFill>
                  <a:schemeClr val="tx1"/>
                </a:solidFill>
              </a:defRPr>
            </a:lvl1pPr>
          </a:lstStyle>
          <a:p>
            <a:pPr rtl="0"/>
            <a:fld id="{CC057153-B650-4DEB-B370-79DDCFDCE934}" type="slidenum">
              <a:rPr lang="en-US" smtClean="0"/>
              <a:pPr rtl="0"/>
              <a:t>‹Nº›</a:t>
            </a:fld>
            <a:endParaRPr lang="en-US"/>
          </a:p>
        </p:txBody>
      </p:sp>
    </p:spTree>
    <p:extLst>
      <p:ext uri="{BB962C8B-B14F-4D97-AF65-F5344CB8AC3E}">
        <p14:creationId xmlns:p14="http://schemas.microsoft.com/office/powerpoint/2010/main" val="4241912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firmación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rtlCol="0"/>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p>
            <a:pPr rtl="0"/>
            <a:r>
              <a:rPr lang="en-US"/>
              <a:t>20/2/2025</a:t>
            </a:r>
          </a:p>
        </p:txBody>
      </p:sp>
      <p:sp>
        <p:nvSpPr>
          <p:cNvPr id="4" name="Marcador de pie de página 3">
            <a:extLst>
              <a:ext uri="{FF2B5EF4-FFF2-40B4-BE49-F238E27FC236}">
                <a16:creationId xmlns:a16="http://schemas.microsoft.com/office/drawing/2014/main" id="{3D56E87B-2252-4382-E6E7-15A81BCC8029}"/>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p>
            <a:pPr rtl="0"/>
            <a:fld id="{CC057153-B650-4DEB-B370-79DDCFDCE934}" type="slidenum">
              <a:rPr lang="en-US" smtClean="0"/>
              <a:pPr rtl="0"/>
              <a:t>‹Nº›</a:t>
            </a:fld>
            <a:endParaRPr lang="en-US"/>
          </a:p>
        </p:txBody>
      </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rtlCol="0"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rtl="0"/>
            <a:r>
              <a:rPr lang="es"/>
              <a:t>Haga clic para editar la afirmación</a:t>
            </a:r>
          </a:p>
          <a:p>
            <a:pPr lvl="1" rtl="0"/>
            <a:r>
              <a:rPr lang="es"/>
              <a:t>Segundo nivel</a:t>
            </a:r>
          </a:p>
          <a:p>
            <a:pPr lvl="2" rtl="0"/>
            <a:r>
              <a:rPr lang="es"/>
              <a:t>Tercer nivel</a:t>
            </a:r>
          </a:p>
          <a:p>
            <a:pPr lvl="3" rtl="0"/>
            <a:r>
              <a:rPr lang="es"/>
              <a:t>Cuarto nivel</a:t>
            </a:r>
          </a:p>
          <a:p>
            <a:pPr lvl="4" rtl="0"/>
            <a:r>
              <a:rPr lang="es"/>
              <a:t>Quinto nivel</a:t>
            </a:r>
          </a:p>
        </p:txBody>
      </p:sp>
    </p:spTree>
    <p:extLst>
      <p:ext uri="{BB962C8B-B14F-4D97-AF65-F5344CB8AC3E}">
        <p14:creationId xmlns:p14="http://schemas.microsoft.com/office/powerpoint/2010/main" val="33492208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Cita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rtlCol="0" anchor="ctr">
            <a:normAutofit/>
          </a:bodyPr>
          <a:lstStyle>
            <a:lvl1pPr marL="137160" indent="-137160" algn="l">
              <a:lnSpc>
                <a:spcPct val="100000"/>
              </a:lnSpc>
              <a:defRPr sz="4000" b="0"/>
            </a:lvl1pPr>
          </a:lstStyle>
          <a:p>
            <a:pPr rtl="0"/>
            <a:r>
              <a:rPr lang="es"/>
              <a:t>Haga clic para editar la cita</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4972" y="5428752"/>
            <a:ext cx="9043508" cy="466344"/>
          </a:xfrm>
        </p:spPr>
        <p:txBody>
          <a:bodyPr rtlCol="0"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5840302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Cita 2">
    <p:bg>
      <p:bgRef idx="1001">
        <a:schemeClr val="bg2"/>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rtlCol="0" anchor="ctr">
            <a:normAutofit/>
          </a:bodyPr>
          <a:lstStyle>
            <a:lvl1pPr marL="137160" indent="-137160" algn="l">
              <a:lnSpc>
                <a:spcPct val="100000"/>
              </a:lnSpc>
              <a:defRPr sz="4000" b="0"/>
            </a:lvl1pPr>
          </a:lstStyle>
          <a:p>
            <a:pPr rtl="0"/>
            <a:r>
              <a:rPr lang="es"/>
              <a:t>Haga clic para editar la cita</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55064" y="5349240"/>
            <a:ext cx="9043416" cy="466344"/>
          </a:xfrm>
        </p:spPr>
        <p:txBody>
          <a:bodyPr rtlCol="0"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41155632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Cita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rtlCol="0" anchor="ctr">
            <a:normAutofit/>
          </a:bodyPr>
          <a:lstStyle>
            <a:lvl1pPr marL="137160" indent="-137160" algn="l">
              <a:lnSpc>
                <a:spcPct val="100000"/>
              </a:lnSpc>
              <a:defRPr sz="4400" b="0"/>
            </a:lvl1pPr>
          </a:lstStyle>
          <a:p>
            <a:pPr rtl="0"/>
            <a:r>
              <a:rPr lang="es"/>
              <a:t>Haga clic para editar la cita</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766651" y="5669280"/>
            <a:ext cx="8807117" cy="466344"/>
          </a:xfrm>
        </p:spPr>
        <p:txBody>
          <a:bodyPr rtlCol="0"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4" name="Marcador de fecha 3">
            <a:extLst>
              <a:ext uri="{FF2B5EF4-FFF2-40B4-BE49-F238E27FC236}">
                <a16:creationId xmlns:a16="http://schemas.microsoft.com/office/drawing/2014/main" id="{EAE2DAFA-435E-AAF9-8B67-495E5AFDCD91}"/>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5B407A58-3351-E479-1A0C-2FF49FA42707}"/>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5586357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os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rtlCol="0"/>
          <a:lstStyle/>
          <a:p>
            <a:pPr rtl="0"/>
            <a:r>
              <a:rPr lang="es"/>
              <a:t>Haga clic para modificar el estilo de título del patrón</a:t>
            </a:r>
          </a:p>
        </p:txBody>
      </p:sp>
      <p:sp>
        <p:nvSpPr>
          <p:cNvPr id="9" name="Marcador de texto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11" name="Marcador de texto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20/2/2025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0868508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rtlCol="0"/>
          <a:lstStyle/>
          <a:p>
            <a:pPr rtl="0"/>
            <a:r>
              <a:rPr lang="es"/>
              <a:t>Haga clic para modificar el estilo de título del patrón</a:t>
            </a:r>
            <a:endParaRPr lang="en-US"/>
          </a:p>
        </p:txBody>
      </p:sp>
      <p:sp>
        <p:nvSpPr>
          <p:cNvPr id="3" name="Marcador de texto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rtlCol="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11" name="Marcador de texto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rtlCol="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13" name="Marcador de texto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7" name="Marcador de fecha 6">
            <a:extLst>
              <a:ext uri="{FF2B5EF4-FFF2-40B4-BE49-F238E27FC236}">
                <a16:creationId xmlns:a16="http://schemas.microsoft.com/office/drawing/2014/main" id="{4E3B3581-658A-8487-F9CB-E79F2BFF27E4}"/>
              </a:ext>
            </a:extLst>
          </p:cNvPr>
          <p:cNvSpPr>
            <a:spLocks noGrp="1"/>
          </p:cNvSpPr>
          <p:nvPr>
            <p:ph type="dt" sz="half" idx="10"/>
          </p:nvPr>
        </p:nvSpPr>
        <p:spPr/>
        <p:txBody>
          <a:bodyPr rtlCol="0"/>
          <a:lstStyle/>
          <a:p>
            <a:pPr rtl="0"/>
            <a:r>
              <a:rPr lang="en-US"/>
              <a:t>20/2/2025</a:t>
            </a:r>
          </a:p>
        </p:txBody>
      </p:sp>
      <p:sp>
        <p:nvSpPr>
          <p:cNvPr id="8" name="Marcador de pie de página 7">
            <a:extLst>
              <a:ext uri="{FF2B5EF4-FFF2-40B4-BE49-F238E27FC236}">
                <a16:creationId xmlns:a16="http://schemas.microsoft.com/office/drawing/2014/main" id="{949D76D8-9033-26CF-BF4C-AECCC685C177}"/>
              </a:ext>
            </a:extLst>
          </p:cNvPr>
          <p:cNvSpPr>
            <a:spLocks noGrp="1"/>
          </p:cNvSpPr>
          <p:nvPr>
            <p:ph type="ftr" sz="quarter" idx="11"/>
          </p:nvPr>
        </p:nvSpPr>
        <p:spPr/>
        <p:txBody>
          <a:bodyPr rtlCol="0"/>
          <a:lstStyle/>
          <a:p>
            <a:pPr rtl="0"/>
            <a:r>
              <a:rPr lang="es"/>
              <a:t>Ejemplo de Texto de pie de página</a:t>
            </a:r>
          </a:p>
        </p:txBody>
      </p:sp>
      <p:sp>
        <p:nvSpPr>
          <p:cNvPr id="9" name="Marcador de número de diapositiva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38196370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p:txBody>
          <a:bodyPr rtlCol="0"/>
          <a:lstStyle/>
          <a:p>
            <a:pPr rtl="0"/>
            <a:r>
              <a:rPr lang="es"/>
              <a:t>Haga clic para modificar el estilo de título del patrón</a:t>
            </a:r>
          </a:p>
        </p:txBody>
      </p:sp>
      <p:sp>
        <p:nvSpPr>
          <p:cNvPr id="3" name="Marcador de fecha 2">
            <a:extLst>
              <a:ext uri="{FF2B5EF4-FFF2-40B4-BE49-F238E27FC236}">
                <a16:creationId xmlns:a16="http://schemas.microsoft.com/office/drawing/2014/main" id="{E89E8268-7232-2944-F1BD-399F9419B563}"/>
              </a:ext>
            </a:extLst>
          </p:cNvPr>
          <p:cNvSpPr>
            <a:spLocks noGrp="1"/>
          </p:cNvSpPr>
          <p:nvPr>
            <p:ph type="dt" sz="half" idx="10"/>
          </p:nvPr>
        </p:nvSpPr>
        <p:spPr/>
        <p:txBody>
          <a:bodyPr rtlCol="0"/>
          <a:lstStyle/>
          <a:p>
            <a:pPr rtl="0"/>
            <a:r>
              <a:rPr lang="en-US"/>
              <a:t>20/2/2025</a:t>
            </a:r>
          </a:p>
        </p:txBody>
      </p:sp>
      <p:sp>
        <p:nvSpPr>
          <p:cNvPr id="4" name="Marcador de pie de página 3">
            <a:extLst>
              <a:ext uri="{FF2B5EF4-FFF2-40B4-BE49-F238E27FC236}">
                <a16:creationId xmlns:a16="http://schemas.microsoft.com/office/drawing/2014/main" id="{6B968DDD-323F-89A1-84E3-DDBA626D9386}"/>
              </a:ext>
            </a:extLst>
          </p:cNvPr>
          <p:cNvSpPr>
            <a:spLocks noGrp="1"/>
          </p:cNvSpPr>
          <p:nvPr>
            <p:ph type="ftr" sz="quarter" idx="11"/>
          </p:nvPr>
        </p:nvSpPr>
        <p:spPr/>
        <p:txBody>
          <a:bodyPr rtlCol="0"/>
          <a:lstStyle/>
          <a:p>
            <a:pPr rtl="0"/>
            <a:r>
              <a:rPr lang="es"/>
              <a:t>Ejemplo de Texto de pie de página</a:t>
            </a:r>
          </a:p>
        </p:txBody>
      </p:sp>
      <p:sp>
        <p:nvSpPr>
          <p:cNvPr id="5" name="Marcador de número de diapositiva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9337778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9BC4D82-0182-501C-9231-46767680476E}"/>
              </a:ext>
            </a:extLst>
          </p:cNvPr>
          <p:cNvSpPr>
            <a:spLocks noGrp="1"/>
          </p:cNvSpPr>
          <p:nvPr>
            <p:ph type="dt" sz="half" idx="10"/>
          </p:nvPr>
        </p:nvSpPr>
        <p:spPr/>
        <p:txBody>
          <a:bodyPr rtlCol="0"/>
          <a:lstStyle/>
          <a:p>
            <a:pPr rtl="0"/>
            <a:r>
              <a:rPr lang="en-US"/>
              <a:t>20/2/2025</a:t>
            </a:r>
          </a:p>
        </p:txBody>
      </p:sp>
      <p:sp>
        <p:nvSpPr>
          <p:cNvPr id="3" name="Marcador de pie de página 2">
            <a:extLst>
              <a:ext uri="{FF2B5EF4-FFF2-40B4-BE49-F238E27FC236}">
                <a16:creationId xmlns:a16="http://schemas.microsoft.com/office/drawing/2014/main" id="{10EAA6C9-A7F3-19F1-D17C-A1D83FAF553F}"/>
              </a:ext>
            </a:extLst>
          </p:cNvPr>
          <p:cNvSpPr>
            <a:spLocks noGrp="1"/>
          </p:cNvSpPr>
          <p:nvPr>
            <p:ph type="ftr" sz="quarter" idx="11"/>
          </p:nvPr>
        </p:nvSpPr>
        <p:spPr/>
        <p:txBody>
          <a:bodyPr rtlCol="0"/>
          <a:lstStyle/>
          <a:p>
            <a:pPr rtl="0"/>
            <a:r>
              <a:rPr lang="es"/>
              <a:t>Ejemplo de Texto de pie de página</a:t>
            </a:r>
          </a:p>
        </p:txBody>
      </p:sp>
      <p:sp>
        <p:nvSpPr>
          <p:cNvPr id="4" name="Marcador de número de diapositiva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2145608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rtlCol="0" anchor="t">
            <a:normAutofit/>
          </a:bodyPr>
          <a:lstStyle>
            <a:lvl1pPr>
              <a:defRPr sz="2800"/>
            </a:lvl1pPr>
          </a:lstStyle>
          <a:p>
            <a:pPr rtl="0"/>
            <a:r>
              <a:rPr lang="es"/>
              <a:t>Haga clic para modificar el estilo de título del patrón</a:t>
            </a:r>
            <a:endParaRPr lang="en-US"/>
          </a:p>
        </p:txBody>
      </p:sp>
      <p:sp>
        <p:nvSpPr>
          <p:cNvPr id="4" name="Marcador de texto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rtlCol="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rtlCol="0">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5" name="Marcador de fecha 4">
            <a:extLst>
              <a:ext uri="{FF2B5EF4-FFF2-40B4-BE49-F238E27FC236}">
                <a16:creationId xmlns:a16="http://schemas.microsoft.com/office/drawing/2014/main" id="{93F05638-7A56-469A-825A-1DFA600254C8}"/>
              </a:ext>
            </a:extLst>
          </p:cNvPr>
          <p:cNvSpPr>
            <a:spLocks noGrp="1"/>
          </p:cNvSpPr>
          <p:nvPr>
            <p:ph type="dt" sz="half" idx="10"/>
          </p:nvPr>
        </p:nvSpPr>
        <p:spPr/>
        <p:txBody>
          <a:bodyPr rtlCol="0"/>
          <a:lstStyle/>
          <a:p>
            <a:pPr rtl="0"/>
            <a:r>
              <a:rPr lang="en-US"/>
              <a:t>20/2/2025</a:t>
            </a:r>
          </a:p>
        </p:txBody>
      </p:sp>
      <p:sp>
        <p:nvSpPr>
          <p:cNvPr id="6" name="Marcador de pie de página 5">
            <a:extLst>
              <a:ext uri="{FF2B5EF4-FFF2-40B4-BE49-F238E27FC236}">
                <a16:creationId xmlns:a16="http://schemas.microsoft.com/office/drawing/2014/main" id="{9C85A215-184B-2105-0279-ED02F6445831}"/>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41346493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rtlCol="0" anchor="t">
            <a:normAutofit/>
          </a:bodyPr>
          <a:lstStyle>
            <a:lvl1pPr>
              <a:defRPr sz="2800"/>
            </a:lvl1pPr>
          </a:lstStyle>
          <a:p>
            <a:pPr rtl="0"/>
            <a:r>
              <a:rPr lang="es"/>
              <a:t>Haga clic para modificar el estilo de título del patrón</a:t>
            </a:r>
            <a:endParaRPr lang="en-US"/>
          </a:p>
        </p:txBody>
      </p:sp>
      <p:sp>
        <p:nvSpPr>
          <p:cNvPr id="4" name="Marcador de texto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rtlCol="0"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posición de imagen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dpi="0" rotWithShape="1">
            <a:blip r:embed="rId2">
              <a:alphaModFix amt="60000"/>
            </a:blip>
            <a:srcRect/>
            <a:stretch>
              <a:fillRect/>
            </a:stretch>
          </a:blipFill>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
              <a:t>Haga clic en el icono para agregar una imagen</a:t>
            </a:r>
          </a:p>
        </p:txBody>
      </p:sp>
      <p:sp>
        <p:nvSpPr>
          <p:cNvPr id="5" name="Marcador de fecha 4">
            <a:extLst>
              <a:ext uri="{FF2B5EF4-FFF2-40B4-BE49-F238E27FC236}">
                <a16:creationId xmlns:a16="http://schemas.microsoft.com/office/drawing/2014/main" id="{920B235E-39C7-4C78-20EF-DB48ECD9CB90}"/>
              </a:ext>
            </a:extLst>
          </p:cNvPr>
          <p:cNvSpPr>
            <a:spLocks noGrp="1"/>
          </p:cNvSpPr>
          <p:nvPr>
            <p:ph type="dt" sz="half" idx="10"/>
          </p:nvPr>
        </p:nvSpPr>
        <p:spPr/>
        <p:txBody>
          <a:bodyPr rtlCol="0"/>
          <a:lstStyle/>
          <a:p>
            <a:pPr rtl="0"/>
            <a:r>
              <a:rPr lang="en-US"/>
              <a:t>20/2/2025</a:t>
            </a:r>
          </a:p>
        </p:txBody>
      </p:sp>
      <p:sp>
        <p:nvSpPr>
          <p:cNvPr id="6" name="Marcador de pie de página 5">
            <a:extLst>
              <a:ext uri="{FF2B5EF4-FFF2-40B4-BE49-F238E27FC236}">
                <a16:creationId xmlns:a16="http://schemas.microsoft.com/office/drawing/2014/main" id="{7FDC75DA-9A78-9AB9-7171-95A08CC51C56}"/>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302651477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clusión">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rtlCol="0" anchor="b">
            <a:noAutofit/>
          </a:bodyPr>
          <a:lstStyle>
            <a:lvl1pPr>
              <a:defRPr sz="6000"/>
            </a:lvl1pPr>
          </a:lstStyle>
          <a:p>
            <a:pPr rtl="0"/>
            <a:r>
              <a:rPr lang="es"/>
              <a:t>Haga clic para modificar el estilo de título del patrón</a:t>
            </a:r>
          </a:p>
        </p:txBody>
      </p: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rtlCol="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610002735"/>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clusión 2">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rtlCol="0" anchor="b">
            <a:noAutofit/>
          </a:bodyPr>
          <a:lstStyle>
            <a:lvl1pPr>
              <a:defRPr sz="6000"/>
            </a:lvl1pPr>
          </a:lstStyle>
          <a:p>
            <a:pPr rtl="0"/>
            <a:r>
              <a:rPr lang="es"/>
              <a:t>Haga clic para modificar el estilo de título del patrón</a:t>
            </a:r>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rtlCol="0">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p>
            <a:pPr rtl="0"/>
            <a:r>
              <a:rPr lang="en-US"/>
              <a:t>20/2/2025</a:t>
            </a:r>
          </a:p>
        </p:txBody>
      </p:sp>
      <p:sp>
        <p:nvSpPr>
          <p:cNvPr id="5" name="Marcador de pie de página 4">
            <a:extLst>
              <a:ext uri="{FF2B5EF4-FFF2-40B4-BE49-F238E27FC236}">
                <a16:creationId xmlns:a16="http://schemas.microsoft.com/office/drawing/2014/main" id="{B17E6B5E-6174-FD5C-41E8-FFC44C650D7E}"/>
              </a:ext>
            </a:extLst>
          </p:cNvPr>
          <p:cNvSpPr>
            <a:spLocks noGrp="1"/>
          </p:cNvSpPr>
          <p:nvPr>
            <p:ph type="ftr" sz="quarter" idx="11"/>
          </p:nvPr>
        </p:nvSpPr>
        <p:spPr/>
        <p:txBody>
          <a:bodyPr rtlCol="0"/>
          <a:lstStyle/>
          <a:p>
            <a:pPr rtl="0"/>
            <a:r>
              <a:rPr lang="es"/>
              <a:t>Ejemplo de Texto de pie de página</a:t>
            </a:r>
          </a:p>
        </p:txBody>
      </p:sp>
      <p:sp>
        <p:nvSpPr>
          <p:cNvPr id="6" name="Marcador de número de diapositiva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53111102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pPr rtl="0"/>
            <a:r>
              <a:rPr lang="es"/>
              <a:t>Haga clic para modificar el estilo de título del patrón</a:t>
            </a:r>
            <a:endParaRPr lang="en-US"/>
          </a:p>
        </p:txBody>
      </p:sp>
      <p:sp>
        <p:nvSpPr>
          <p:cNvPr id="3" name="Marcador de texto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4" name="Marcador de fecha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pPr rtl="0"/>
            <a:r>
              <a:rPr lang="en-US"/>
              <a:t>20/2/2025</a:t>
            </a:r>
          </a:p>
        </p:txBody>
      </p:sp>
      <p:sp>
        <p:nvSpPr>
          <p:cNvPr id="5" name="Marcador de pie de página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pPr rtl="0"/>
            <a:r>
              <a:rPr lang="es"/>
              <a:t>Ejemplo de Texto de pie de página</a:t>
            </a:r>
          </a:p>
        </p:txBody>
      </p:sp>
      <p:sp>
        <p:nvSpPr>
          <p:cNvPr id="6" name="Marcador de número de diapositiva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pPr rtl="0"/>
            <a:fld id="{CC057153-B650-4DEB-B370-79DDCFDCE934}" type="slidenum">
              <a:rPr lang="en-US" smtClean="0"/>
              <a:t>‹Nº›</a:t>
            </a:fld>
            <a:endParaRPr lang="en-US"/>
          </a:p>
        </p:txBody>
      </p:sp>
    </p:spTree>
    <p:extLst>
      <p:ext uri="{BB962C8B-B14F-4D97-AF65-F5344CB8AC3E}">
        <p14:creationId xmlns:p14="http://schemas.microsoft.com/office/powerpoint/2010/main" val="1206026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descr="Archivo:Logo americana-01.png - Wikipedia, la enciclopedia libre">
            <a:extLst>
              <a:ext uri="{FF2B5EF4-FFF2-40B4-BE49-F238E27FC236}">
                <a16:creationId xmlns:a16="http://schemas.microsoft.com/office/drawing/2014/main" id="{D39ED724-8B4C-8A74-8B0A-DF4928BB2533}"/>
              </a:ext>
            </a:extLst>
          </p:cNvPr>
          <p:cNvPicPr>
            <a:picLocks noChangeAspect="1"/>
          </p:cNvPicPr>
          <p:nvPr/>
        </p:nvPicPr>
        <p:blipFill>
          <a:blip r:embed="rId3"/>
          <a:stretch>
            <a:fillRect/>
          </a:stretch>
        </p:blipFill>
        <p:spPr>
          <a:xfrm>
            <a:off x="1002058" y="2496516"/>
            <a:ext cx="5096842" cy="1864967"/>
          </a:xfrm>
          <a:prstGeom prst="rect">
            <a:avLst/>
          </a:prstGeom>
        </p:spPr>
      </p:pic>
      <p:sp>
        <p:nvSpPr>
          <p:cNvPr id="4" name="Título 3">
            <a:extLst>
              <a:ext uri="{FF2B5EF4-FFF2-40B4-BE49-F238E27FC236}">
                <a16:creationId xmlns:a16="http://schemas.microsoft.com/office/drawing/2014/main" id="{B5B58299-8DDE-C480-9082-893C9D7E8B7B}"/>
              </a:ext>
            </a:extLst>
          </p:cNvPr>
          <p:cNvSpPr>
            <a:spLocks noGrp="1"/>
          </p:cNvSpPr>
          <p:nvPr>
            <p:ph type="title"/>
          </p:nvPr>
        </p:nvSpPr>
        <p:spPr/>
        <p:txBody>
          <a:bodyPr vert="horz" lIns="91440" tIns="45720" rIns="91440" bIns="45720" rtlCol="0" anchor="ctr">
            <a:normAutofit/>
          </a:bodyPr>
          <a:lstStyle/>
          <a:p>
            <a:pPr algn="ctr"/>
            <a:r>
              <a:rPr lang="es-ES" dirty="0"/>
              <a:t>Progra</a:t>
            </a:r>
            <a:r>
              <a:rPr lang="es-ES"/>
              <a:t>mación Avanzada</a:t>
            </a:r>
          </a:p>
        </p:txBody>
      </p:sp>
      <p:sp>
        <p:nvSpPr>
          <p:cNvPr id="6" name="Marcador de contenido 5">
            <a:extLst>
              <a:ext uri="{FF2B5EF4-FFF2-40B4-BE49-F238E27FC236}">
                <a16:creationId xmlns:a16="http://schemas.microsoft.com/office/drawing/2014/main" id="{CF58120A-6698-C73A-BAC1-116C0865A255}"/>
              </a:ext>
            </a:extLst>
          </p:cNvPr>
          <p:cNvSpPr>
            <a:spLocks noGrp="1"/>
          </p:cNvSpPr>
          <p:nvPr>
            <p:ph sz="quarter" idx="14"/>
          </p:nvPr>
        </p:nvSpPr>
        <p:spPr/>
        <p:txBody>
          <a:bodyPr vert="horz" lIns="91440" tIns="45720" rIns="91440" bIns="45720" rtlCol="0" anchor="t">
            <a:normAutofit/>
          </a:bodyPr>
          <a:lstStyle/>
          <a:p>
            <a:r>
              <a:rPr lang="es-ES"/>
              <a:t>Integrantes: </a:t>
            </a:r>
          </a:p>
          <a:p>
            <a:r>
              <a:rPr lang="es-ES"/>
              <a:t>Luciano Burgos</a:t>
            </a:r>
          </a:p>
          <a:p>
            <a:r>
              <a:rPr lang="es-ES"/>
              <a:t>Alessandra Candia</a:t>
            </a:r>
          </a:p>
          <a:p>
            <a:r>
              <a:rPr lang="es-ES"/>
              <a:t>Nicolas Vera</a:t>
            </a:r>
            <a:endParaRPr lang="es-ES" dirty="0"/>
          </a:p>
          <a:p>
            <a:endParaRPr lang="es-ES" dirty="0"/>
          </a:p>
        </p:txBody>
      </p:sp>
    </p:spTree>
    <p:extLst>
      <p:ext uri="{BB962C8B-B14F-4D97-AF65-F5344CB8AC3E}">
        <p14:creationId xmlns:p14="http://schemas.microsoft.com/office/powerpoint/2010/main" val="85735471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A76E8-03EB-12A2-E368-049126FDF148}"/>
              </a:ext>
            </a:extLst>
          </p:cNvPr>
          <p:cNvSpPr>
            <a:spLocks noGrp="1"/>
          </p:cNvSpPr>
          <p:nvPr>
            <p:ph type="ctrTitle"/>
          </p:nvPr>
        </p:nvSpPr>
        <p:spPr>
          <a:xfrm>
            <a:off x="7168896" y="1129554"/>
            <a:ext cx="4361688" cy="3475236"/>
          </a:xfrm>
        </p:spPr>
        <p:txBody>
          <a:bodyPr anchor="b">
            <a:normAutofit/>
          </a:bodyPr>
          <a:lstStyle/>
          <a:p>
            <a:r>
              <a:rPr lang="en-US" sz="4600"/>
              <a:t>Sistema de Registro de Turnos para Unidades de Salud Pública</a:t>
            </a:r>
          </a:p>
        </p:txBody>
      </p:sp>
      <p:sp>
        <p:nvSpPr>
          <p:cNvPr id="3" name="Subtitle 2">
            <a:extLst>
              <a:ext uri="{FF2B5EF4-FFF2-40B4-BE49-F238E27FC236}">
                <a16:creationId xmlns:a16="http://schemas.microsoft.com/office/drawing/2014/main" id="{1674E061-C2DE-791B-C96A-3523456E2882}"/>
              </a:ext>
            </a:extLst>
          </p:cNvPr>
          <p:cNvSpPr>
            <a:spLocks noGrp="1"/>
          </p:cNvSpPr>
          <p:nvPr>
            <p:ph type="subTitle" idx="1"/>
          </p:nvPr>
        </p:nvSpPr>
        <p:spPr>
          <a:xfrm>
            <a:off x="7168897" y="4731335"/>
            <a:ext cx="4206240" cy="1184585"/>
          </a:xfrm>
        </p:spPr>
        <p:txBody>
          <a:bodyPr anchor="t">
            <a:normAutofit/>
          </a:bodyPr>
          <a:lstStyle/>
          <a:p>
            <a:r>
              <a:rPr lang="en-US"/>
              <a:t>Optimización y gestión eficaz de citas médicas</a:t>
            </a:r>
          </a:p>
        </p:txBody>
      </p:sp>
      <p:pic>
        <p:nvPicPr>
          <p:cNvPr id="4" name="Picture 3" descr="Idea de concepto de calendario en tableta digital en salud">
            <a:extLst>
              <a:ext uri="{FF2B5EF4-FFF2-40B4-BE49-F238E27FC236}">
                <a16:creationId xmlns:a16="http://schemas.microsoft.com/office/drawing/2014/main" id="{8F8126BB-99AE-4AE9-B2C2-3FCD204CAD72}"/>
              </a:ext>
            </a:extLst>
          </p:cNvPr>
          <p:cNvPicPr>
            <a:picLocks noChangeAspect="1"/>
          </p:cNvPicPr>
          <p:nvPr/>
        </p:nvPicPr>
        <p:blipFill>
          <a:blip r:embed="rId3"/>
          <a:srcRect l="18151" r="17756" b="-1"/>
          <a:stretch>
            <a:fillRect/>
          </a:stretch>
        </p:blipFill>
        <p:spPr>
          <a:xfrm>
            <a:off x="20" y="10"/>
            <a:ext cx="6584930" cy="6857990"/>
          </a:xfrm>
          <a:prstGeom prst="rect">
            <a:avLst/>
          </a:prstGeom>
        </p:spPr>
      </p:pic>
    </p:spTree>
    <p:extLst>
      <p:ext uri="{BB962C8B-B14F-4D97-AF65-F5344CB8AC3E}">
        <p14:creationId xmlns:p14="http://schemas.microsoft.com/office/powerpoint/2010/main" val="239490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0F437-16A5-91DC-ED90-4B2F286F381D}"/>
              </a:ext>
            </a:extLst>
          </p:cNvPr>
          <p:cNvSpPr>
            <a:spLocks noGrp="1"/>
          </p:cNvSpPr>
          <p:nvPr>
            <p:ph type="title"/>
          </p:nvPr>
        </p:nvSpPr>
        <p:spPr>
          <a:xfrm>
            <a:off x="137159" y="151598"/>
            <a:ext cx="11924209" cy="528186"/>
          </a:xfrm>
        </p:spPr>
        <p:txBody>
          <a:bodyPr anchor="ctr">
            <a:normAutofit/>
          </a:bodyPr>
          <a:lstStyle/>
          <a:p>
            <a:r>
              <a:rPr lang="en-US" dirty="0" err="1"/>
              <a:t>Objetivos</a:t>
            </a:r>
            <a:r>
              <a:rPr lang="en-US" dirty="0"/>
              <a:t> </a:t>
            </a:r>
            <a:r>
              <a:rPr lang="en-US" dirty="0" err="1"/>
              <a:t>generales</a:t>
            </a:r>
          </a:p>
        </p:txBody>
      </p:sp>
      <p:sp>
        <p:nvSpPr>
          <p:cNvPr id="5" name="TextBox 4">
            <a:extLst>
              <a:ext uri="{FF2B5EF4-FFF2-40B4-BE49-F238E27FC236}">
                <a16:creationId xmlns:a16="http://schemas.microsoft.com/office/drawing/2014/main" id="{FB795F71-E983-4972-A789-0B64BDF599CD}"/>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37159" y="776036"/>
            <a:ext cx="5866854" cy="5676965"/>
          </a:xfrm>
          <a:prstGeom prst="rect">
            <a:avLst/>
          </a:prstGeom>
        </p:spPr>
        <p:txBody>
          <a:bodyPr lIns="91440" tIns="45720" rIns="91440" bIns="45720" anchor="t">
            <a:normAutofit/>
          </a:bodyPr>
          <a:lstStyle/>
          <a:p>
            <a:pPr marL="0" indent="0">
              <a:spcBef>
                <a:spcPts val="2500"/>
              </a:spcBef>
              <a:spcAft>
                <a:spcPts val="600"/>
              </a:spcAft>
              <a:buFont typeface="Arial" panose="020B0604020202020204" pitchFamily="34" charset="0"/>
              <a:buNone/>
            </a:pPr>
            <a:r>
              <a:rPr lang="en-US" sz="1400" b="1" dirty="0" err="1"/>
              <a:t>Objetivo</a:t>
            </a:r>
            <a:r>
              <a:rPr lang="en-US" sz="1400" b="1" dirty="0"/>
              <a:t> del </a:t>
            </a:r>
            <a:r>
              <a:rPr lang="en-US" sz="1400" b="1" dirty="0" err="1"/>
              <a:t>proyecto</a:t>
            </a:r>
          </a:p>
          <a:p>
            <a:pPr marL="0" lvl="1" indent="0">
              <a:spcBef>
                <a:spcPts val="1000"/>
              </a:spcBef>
              <a:spcAft>
                <a:spcPts val="600"/>
              </a:spcAft>
              <a:buFont typeface="Arial" panose="020B0604020202020204" pitchFamily="34" charset="0"/>
              <a:buNone/>
            </a:pPr>
            <a:r>
              <a:rPr lang="en-US" sz="1400" dirty="0"/>
              <a:t>Demostrar </a:t>
            </a:r>
            <a:r>
              <a:rPr lang="en-US" sz="1400" dirty="0" err="1"/>
              <a:t>cómo</a:t>
            </a:r>
            <a:r>
              <a:rPr lang="en-US" sz="1400" dirty="0"/>
              <a:t> </a:t>
            </a:r>
            <a:r>
              <a:rPr lang="en-US" sz="1400" dirty="0" err="1"/>
              <a:t>aplicar</a:t>
            </a:r>
            <a:r>
              <a:rPr lang="en-US" sz="1400" dirty="0"/>
              <a:t> </a:t>
            </a:r>
            <a:r>
              <a:rPr lang="en-US" sz="1400" dirty="0" err="1"/>
              <a:t>conocimientos</a:t>
            </a:r>
            <a:r>
              <a:rPr lang="en-US" sz="1400" dirty="0"/>
              <a:t> de </a:t>
            </a:r>
            <a:r>
              <a:rPr lang="en-US" sz="1400" dirty="0" err="1"/>
              <a:t>programación</a:t>
            </a:r>
            <a:r>
              <a:rPr lang="en-US" sz="1400" dirty="0"/>
              <a:t> </a:t>
            </a:r>
            <a:r>
              <a:rPr lang="en-US" sz="1400" dirty="0" err="1"/>
              <a:t>avanzada</a:t>
            </a:r>
            <a:r>
              <a:rPr lang="en-US" sz="1400" dirty="0"/>
              <a:t> a </a:t>
            </a:r>
            <a:r>
              <a:rPr lang="en-US" sz="1400" dirty="0" err="1"/>
              <a:t>problemas</a:t>
            </a:r>
            <a:r>
              <a:rPr lang="en-US" sz="1400" dirty="0"/>
              <a:t> reales </a:t>
            </a:r>
            <a:r>
              <a:rPr lang="en-US" sz="1400" dirty="0" err="1"/>
              <a:t>en</a:t>
            </a:r>
            <a:r>
              <a:rPr lang="en-US" sz="1400" dirty="0"/>
              <a:t> </a:t>
            </a:r>
            <a:r>
              <a:rPr lang="en-US" sz="1400" dirty="0" err="1"/>
              <a:t>salud</a:t>
            </a:r>
            <a:r>
              <a:rPr lang="en-US" sz="1400" dirty="0"/>
              <a:t> </a:t>
            </a:r>
            <a:r>
              <a:rPr lang="en-US" sz="1400" dirty="0" err="1"/>
              <a:t>pública</a:t>
            </a:r>
            <a:r>
              <a:rPr lang="en-US" sz="1400" dirty="0"/>
              <a:t>.</a:t>
            </a:r>
          </a:p>
          <a:p>
            <a:pPr marL="0" indent="0">
              <a:spcBef>
                <a:spcPts val="2500"/>
              </a:spcBef>
              <a:spcAft>
                <a:spcPts val="600"/>
              </a:spcAft>
              <a:buFont typeface="Arial" panose="020B0604020202020204" pitchFamily="34" charset="0"/>
              <a:buNone/>
            </a:pPr>
            <a:r>
              <a:rPr lang="en-US" sz="1400" b="1" dirty="0" err="1"/>
              <a:t>Conceptos</a:t>
            </a:r>
            <a:r>
              <a:rPr lang="en-US" sz="1400" b="1" dirty="0"/>
              <a:t> </a:t>
            </a:r>
            <a:r>
              <a:rPr lang="en-US" sz="1400" b="1" dirty="0" err="1"/>
              <a:t>teóricos</a:t>
            </a:r>
            <a:r>
              <a:rPr lang="en-US" sz="1400" b="1" dirty="0"/>
              <a:t> </a:t>
            </a:r>
            <a:r>
              <a:rPr lang="en-US" sz="1400" b="1" dirty="0" err="1"/>
              <a:t>usados</a:t>
            </a:r>
          </a:p>
          <a:p>
            <a:pPr marL="0" lvl="1" indent="0">
              <a:spcBef>
                <a:spcPts val="1000"/>
              </a:spcBef>
              <a:spcAft>
                <a:spcPts val="600"/>
              </a:spcAft>
              <a:buFont typeface="Arial" panose="020B0604020202020204" pitchFamily="34" charset="0"/>
              <a:buNone/>
            </a:pPr>
            <a:r>
              <a:rPr lang="en-US" sz="1400" dirty="0"/>
              <a:t>Se </a:t>
            </a:r>
            <a:r>
              <a:rPr lang="en-US" sz="1400" dirty="0" err="1"/>
              <a:t>emplean</a:t>
            </a:r>
            <a:r>
              <a:rPr lang="en-US" sz="1400" dirty="0"/>
              <a:t> </a:t>
            </a:r>
            <a:r>
              <a:rPr lang="en-US" sz="1400" dirty="0" err="1"/>
              <a:t>condicionales</a:t>
            </a:r>
            <a:r>
              <a:rPr lang="en-US" sz="1400" dirty="0"/>
              <a:t>, </a:t>
            </a:r>
            <a:r>
              <a:rPr lang="en-US" sz="1400" dirty="0" err="1"/>
              <a:t>estructuras</a:t>
            </a:r>
            <a:r>
              <a:rPr lang="en-US" sz="1400" dirty="0"/>
              <a:t> </a:t>
            </a:r>
            <a:r>
              <a:rPr lang="en-US" sz="1400" dirty="0" err="1"/>
              <a:t>repetitivas</a:t>
            </a:r>
            <a:r>
              <a:rPr lang="en-US" sz="1400" dirty="0"/>
              <a:t>, </a:t>
            </a:r>
            <a:r>
              <a:rPr lang="en-US" sz="1400" dirty="0" err="1"/>
              <a:t>arreglos</a:t>
            </a:r>
            <a:r>
              <a:rPr lang="en-US" sz="1400" dirty="0"/>
              <a:t> y </a:t>
            </a:r>
            <a:r>
              <a:rPr lang="en-US" sz="1400" dirty="0" err="1"/>
              <a:t>funciones</a:t>
            </a:r>
            <a:r>
              <a:rPr lang="en-US" sz="1400" dirty="0"/>
              <a:t> para </a:t>
            </a:r>
            <a:r>
              <a:rPr lang="en-US" sz="1400" dirty="0" err="1"/>
              <a:t>desarrollar</a:t>
            </a:r>
            <a:r>
              <a:rPr lang="en-US" sz="1400" dirty="0"/>
              <a:t> el </a:t>
            </a:r>
            <a:r>
              <a:rPr lang="en-US" sz="1400" dirty="0" err="1"/>
              <a:t>sistema</a:t>
            </a:r>
            <a:r>
              <a:rPr lang="en-US" sz="1400" dirty="0"/>
              <a:t>.</a:t>
            </a:r>
          </a:p>
          <a:p>
            <a:pPr marL="0" indent="0">
              <a:spcBef>
                <a:spcPts val="2500"/>
              </a:spcBef>
              <a:spcAft>
                <a:spcPts val="600"/>
              </a:spcAft>
              <a:buFont typeface="Arial" panose="020B0604020202020204" pitchFamily="34" charset="0"/>
              <a:buNone/>
            </a:pPr>
            <a:r>
              <a:rPr lang="en-US" sz="1400" b="1" dirty="0" err="1"/>
              <a:t>Solución</a:t>
            </a:r>
            <a:r>
              <a:rPr lang="en-US" sz="1400" b="1" dirty="0"/>
              <a:t> </a:t>
            </a:r>
            <a:r>
              <a:rPr lang="en-US" sz="1400" b="1" dirty="0" err="1"/>
              <a:t>práctica</a:t>
            </a:r>
            <a:r>
              <a:rPr lang="en-US" sz="1400" b="1" dirty="0"/>
              <a:t> y </a:t>
            </a:r>
            <a:r>
              <a:rPr lang="en-US" sz="1400" b="1" dirty="0" err="1"/>
              <a:t>realista</a:t>
            </a:r>
          </a:p>
          <a:p>
            <a:pPr marL="0" lvl="1" indent="0">
              <a:spcBef>
                <a:spcPts val="1000"/>
              </a:spcBef>
              <a:spcAft>
                <a:spcPts val="600"/>
              </a:spcAft>
              <a:buFont typeface="Arial" panose="020B0604020202020204" pitchFamily="34" charset="0"/>
              <a:buNone/>
            </a:pPr>
            <a:r>
              <a:rPr lang="en-US" sz="1400" dirty="0"/>
              <a:t>El </a:t>
            </a:r>
            <a:r>
              <a:rPr lang="en-US" sz="1400" dirty="0" err="1"/>
              <a:t>sistema</a:t>
            </a:r>
            <a:r>
              <a:rPr lang="en-US" sz="1400" dirty="0"/>
              <a:t> es </a:t>
            </a:r>
            <a:r>
              <a:rPr lang="en-US" sz="1400" dirty="0" err="1"/>
              <a:t>una</a:t>
            </a:r>
            <a:r>
              <a:rPr lang="en-US" sz="1400" dirty="0"/>
              <a:t> </a:t>
            </a:r>
            <a:r>
              <a:rPr lang="en-US" sz="1400" dirty="0" err="1"/>
              <a:t>solución</a:t>
            </a:r>
            <a:r>
              <a:rPr lang="en-US" sz="1400" dirty="0"/>
              <a:t> </a:t>
            </a:r>
            <a:r>
              <a:rPr lang="en-US" sz="1400" dirty="0" err="1"/>
              <a:t>ficticia</a:t>
            </a:r>
            <a:r>
              <a:rPr lang="en-US" sz="1400" dirty="0"/>
              <a:t> </a:t>
            </a:r>
            <a:r>
              <a:rPr lang="en-US" sz="1400" dirty="0" err="1"/>
              <a:t>diseñada</a:t>
            </a:r>
            <a:r>
              <a:rPr lang="en-US" sz="1400" dirty="0"/>
              <a:t> con </a:t>
            </a:r>
            <a:r>
              <a:rPr lang="en-US" sz="1400" dirty="0" err="1"/>
              <a:t>criterios</a:t>
            </a:r>
            <a:r>
              <a:rPr lang="en-US" sz="1400" dirty="0"/>
              <a:t> </a:t>
            </a:r>
            <a:r>
              <a:rPr lang="en-US" sz="1400" dirty="0" err="1"/>
              <a:t>prácticos</a:t>
            </a:r>
            <a:r>
              <a:rPr lang="en-US" sz="1400" dirty="0"/>
              <a:t> para </a:t>
            </a:r>
            <a:r>
              <a:rPr lang="en-US" sz="1400" dirty="0" err="1"/>
              <a:t>mejorar</a:t>
            </a:r>
            <a:r>
              <a:rPr lang="en-US" sz="1400" dirty="0"/>
              <a:t> </a:t>
            </a:r>
            <a:r>
              <a:rPr lang="en-US" sz="1400" dirty="0" err="1"/>
              <a:t>servicios</a:t>
            </a:r>
            <a:r>
              <a:rPr lang="en-US" sz="1400" dirty="0"/>
              <a:t> de </a:t>
            </a:r>
            <a:r>
              <a:rPr lang="en-US" sz="1400" dirty="0" err="1"/>
              <a:t>salud</a:t>
            </a:r>
            <a:r>
              <a:rPr lang="en-US" sz="1400" dirty="0"/>
              <a:t> </a:t>
            </a:r>
            <a:r>
              <a:rPr lang="en-US" sz="1400" dirty="0" err="1"/>
              <a:t>pública</a:t>
            </a:r>
            <a:r>
              <a:rPr lang="en-US" sz="1400" dirty="0"/>
              <a:t>.</a:t>
            </a:r>
          </a:p>
          <a:p>
            <a:pPr marL="0" indent="0">
              <a:spcBef>
                <a:spcPts val="2500"/>
              </a:spcBef>
              <a:spcAft>
                <a:spcPts val="600"/>
              </a:spcAft>
              <a:buFont typeface="Arial" panose="020B0604020202020204" pitchFamily="34" charset="0"/>
              <a:buNone/>
            </a:pPr>
            <a:r>
              <a:rPr lang="en-US" sz="1400" b="1" dirty="0"/>
              <a:t>Valor social del </a:t>
            </a:r>
            <a:r>
              <a:rPr lang="en-US" sz="1400" b="1" dirty="0" err="1"/>
              <a:t>proyecto</a:t>
            </a:r>
          </a:p>
          <a:p>
            <a:pPr marL="0" lvl="1" indent="0">
              <a:spcBef>
                <a:spcPts val="1000"/>
              </a:spcBef>
              <a:spcAft>
                <a:spcPts val="600"/>
              </a:spcAft>
              <a:buFont typeface="Arial" panose="020B0604020202020204" pitchFamily="34" charset="0"/>
              <a:buNone/>
            </a:pPr>
            <a:r>
              <a:rPr lang="en-US" sz="1400" dirty="0"/>
              <a:t>El </a:t>
            </a:r>
            <a:r>
              <a:rPr lang="en-US" sz="1400" dirty="0" err="1"/>
              <a:t>enfoque</a:t>
            </a:r>
            <a:r>
              <a:rPr lang="en-US" sz="1400" dirty="0"/>
              <a:t> </a:t>
            </a:r>
            <a:r>
              <a:rPr lang="en-US" sz="1400" dirty="0" err="1"/>
              <a:t>contribuye</a:t>
            </a:r>
            <a:r>
              <a:rPr lang="en-US" sz="1400" dirty="0"/>
              <a:t> a </a:t>
            </a:r>
            <a:r>
              <a:rPr lang="en-US" sz="1400" dirty="0" err="1"/>
              <a:t>mejorar</a:t>
            </a:r>
            <a:r>
              <a:rPr lang="en-US" sz="1400" dirty="0"/>
              <a:t> la </a:t>
            </a:r>
            <a:r>
              <a:rPr lang="en-US" sz="1400" dirty="0" err="1"/>
              <a:t>gestión</a:t>
            </a:r>
            <a:r>
              <a:rPr lang="en-US" sz="1400" dirty="0"/>
              <a:t> y </a:t>
            </a:r>
            <a:r>
              <a:rPr lang="en-US" sz="1400" dirty="0" err="1"/>
              <a:t>atención</a:t>
            </a:r>
            <a:r>
              <a:rPr lang="en-US" sz="1400" dirty="0"/>
              <a:t> </a:t>
            </a:r>
            <a:r>
              <a:rPr lang="en-US" sz="1400" dirty="0" err="1"/>
              <a:t>en</a:t>
            </a:r>
            <a:r>
              <a:rPr lang="en-US" sz="1400" dirty="0"/>
              <a:t> </a:t>
            </a:r>
            <a:r>
              <a:rPr lang="en-US" sz="1400" dirty="0" err="1"/>
              <a:t>unidades</a:t>
            </a:r>
            <a:r>
              <a:rPr lang="en-US" sz="1400" dirty="0"/>
              <a:t> de </a:t>
            </a:r>
            <a:r>
              <a:rPr lang="en-US" sz="1400" dirty="0" err="1"/>
              <a:t>salud</a:t>
            </a:r>
            <a:r>
              <a:rPr lang="en-US" sz="1400" dirty="0"/>
              <a:t> </a:t>
            </a:r>
            <a:r>
              <a:rPr lang="en-US" sz="1400" dirty="0" err="1"/>
              <a:t>pública</a:t>
            </a:r>
            <a:r>
              <a:rPr lang="en-US" sz="1400" dirty="0"/>
              <a:t>.</a:t>
            </a:r>
          </a:p>
        </p:txBody>
      </p:sp>
      <p:pic>
        <p:nvPicPr>
          <p:cNvPr id="4" name="Content Placeholder 3" descr="Concepto de tecnología digital">
            <a:extLst>
              <a:ext uri="{FF2B5EF4-FFF2-40B4-BE49-F238E27FC236}">
                <a16:creationId xmlns:a16="http://schemas.microsoft.com/office/drawing/2014/main" id="{83990078-96A1-4E2B-ADCE-C7E5FED3EAF4}"/>
              </a:ext>
            </a:extLst>
          </p:cNvPr>
          <p:cNvPicPr>
            <a:picLocks noGrp="1" noChangeAspect="1"/>
          </p:cNvPicPr>
          <p:nvPr>
            <p:ph idx="1"/>
          </p:nvPr>
        </p:nvPicPr>
        <p:blipFill>
          <a:blip r:embed="rId3"/>
          <a:srcRect l="4951" r="36918"/>
          <a:stretch>
            <a:fillRect/>
          </a:stretch>
        </p:blipFill>
        <p:spPr>
          <a:xfrm>
            <a:off x="6194513" y="776036"/>
            <a:ext cx="5866854" cy="5676965"/>
          </a:xfrm>
        </p:spPr>
      </p:pic>
    </p:spTree>
    <p:extLst>
      <p:ext uri="{BB962C8B-B14F-4D97-AF65-F5344CB8AC3E}">
        <p14:creationId xmlns:p14="http://schemas.microsoft.com/office/powerpoint/2010/main" val="42789513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3186D-8C1E-C8BA-DA0D-6B522F7BE262}"/>
              </a:ext>
            </a:extLst>
          </p:cNvPr>
          <p:cNvSpPr>
            <a:spLocks noGrp="1"/>
          </p:cNvSpPr>
          <p:nvPr>
            <p:ph type="title"/>
          </p:nvPr>
        </p:nvSpPr>
        <p:spPr>
          <a:xfrm>
            <a:off x="8212663" y="583413"/>
            <a:ext cx="3401568" cy="1527048"/>
          </a:xfrm>
        </p:spPr>
        <p:txBody>
          <a:bodyPr vert="horz" lIns="91440" tIns="45720" rIns="91440" bIns="45720" rtlCol="0" anchor="b">
            <a:normAutofit/>
          </a:bodyPr>
          <a:lstStyle/>
          <a:p>
            <a:r>
              <a:rPr lang="es" b="1" kern="1200">
                <a:latin typeface="+mj-lt"/>
                <a:ea typeface="+mj-ea"/>
                <a:cs typeface="+mj-cs"/>
              </a:rPr>
              <a:t>Problema</a:t>
            </a:r>
          </a:p>
        </p:txBody>
      </p:sp>
      <p:pic>
        <p:nvPicPr>
          <p:cNvPr id="4" name="Content Placeholder 3" descr="El médico habla con el personal médico">
            <a:extLst>
              <a:ext uri="{FF2B5EF4-FFF2-40B4-BE49-F238E27FC236}">
                <a16:creationId xmlns:a16="http://schemas.microsoft.com/office/drawing/2014/main" id="{3E6CD6D9-5F31-43A1-B201-4AA22ADA48FE}"/>
              </a:ext>
            </a:extLst>
          </p:cNvPr>
          <p:cNvPicPr>
            <a:picLocks noGrp="1" noChangeAspect="1"/>
          </p:cNvPicPr>
          <p:nvPr>
            <p:ph type="pic" sz="quarter" idx="13"/>
          </p:nvPr>
        </p:nvPicPr>
        <p:blipFill>
          <a:blip r:embed="rId3"/>
          <a:srcRect l="17079" r="9102" b="-1"/>
          <a:stretch>
            <a:fillRect/>
          </a:stretch>
        </p:blipFill>
        <p:spPr>
          <a:xfrm>
            <a:off x="20" y="10"/>
            <a:ext cx="7584124" cy="6857990"/>
          </a:xfrm>
        </p:spPr>
      </p:pic>
      <p:sp>
        <p:nvSpPr>
          <p:cNvPr id="5" name="TextBox 4">
            <a:extLst>
              <a:ext uri="{FF2B5EF4-FFF2-40B4-BE49-F238E27FC236}">
                <a16:creationId xmlns:a16="http://schemas.microsoft.com/office/drawing/2014/main" id="{8BCB45C6-AFDB-4349-A84B-981746DC193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12790" y="2212975"/>
            <a:ext cx="3401568" cy="409575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300" b="1"/>
              <a:t>Dificultad en Acceso a Turnos</a:t>
            </a:r>
          </a:p>
          <a:p>
            <a:pPr marL="0" lvl="1" indent="0">
              <a:spcBef>
                <a:spcPts val="1000"/>
              </a:spcBef>
              <a:spcAft>
                <a:spcPts val="600"/>
              </a:spcAft>
              <a:buFont typeface="Arial" panose="020B0604020202020204" pitchFamily="34" charset="0"/>
              <a:buNone/>
            </a:pPr>
            <a:r>
              <a:rPr lang="en-US" sz="1300"/>
              <a:t>Los ciudadanos enfrentan largas filas y deben asistir presencialmente para solicitar turnos en unidades de salud pública.</a:t>
            </a:r>
          </a:p>
          <a:p>
            <a:pPr marL="0" indent="0">
              <a:spcBef>
                <a:spcPts val="2500"/>
              </a:spcBef>
              <a:spcAft>
                <a:spcPts val="600"/>
              </a:spcAft>
              <a:buFont typeface="Arial" panose="020B0604020202020204" pitchFamily="34" charset="0"/>
              <a:buNone/>
            </a:pPr>
            <a:r>
              <a:rPr lang="en-US" sz="1300" b="1"/>
              <a:t>Falta de Organización</a:t>
            </a:r>
          </a:p>
          <a:p>
            <a:pPr marL="0" lvl="1" indent="0">
              <a:spcBef>
                <a:spcPts val="1000"/>
              </a:spcBef>
              <a:spcAft>
                <a:spcPts val="600"/>
              </a:spcAft>
              <a:buFont typeface="Arial" panose="020B0604020202020204" pitchFamily="34" charset="0"/>
              <a:buNone/>
            </a:pPr>
            <a:r>
              <a:rPr lang="en-US" sz="1300"/>
              <a:t>La ausencia de sistemas digitales genera desorden, duplicación de turnos y errores en el registro de pacientes.</a:t>
            </a:r>
          </a:p>
          <a:p>
            <a:pPr marL="0" indent="0">
              <a:spcBef>
                <a:spcPts val="2500"/>
              </a:spcBef>
              <a:spcAft>
                <a:spcPts val="600"/>
              </a:spcAft>
              <a:buFont typeface="Arial" panose="020B0604020202020204" pitchFamily="34" charset="0"/>
              <a:buNone/>
            </a:pPr>
            <a:r>
              <a:rPr lang="en-US" sz="1300" b="1"/>
              <a:t>Impacto Social Significativo</a:t>
            </a:r>
          </a:p>
          <a:p>
            <a:pPr marL="0" lvl="1" indent="0">
              <a:spcBef>
                <a:spcPts val="1000"/>
              </a:spcBef>
              <a:spcAft>
                <a:spcPts val="600"/>
              </a:spcAft>
              <a:buFont typeface="Arial" panose="020B0604020202020204" pitchFamily="34" charset="0"/>
              <a:buNone/>
            </a:pPr>
            <a:r>
              <a:rPr lang="en-US" sz="1300"/>
              <a:t>Estas dificultades afectan el acceso oportuno a servicios médicos y la eficiencia del personal sanitario.</a:t>
            </a:r>
          </a:p>
        </p:txBody>
      </p:sp>
    </p:spTree>
    <p:extLst>
      <p:ext uri="{BB962C8B-B14F-4D97-AF65-F5344CB8AC3E}">
        <p14:creationId xmlns:p14="http://schemas.microsoft.com/office/powerpoint/2010/main" val="22478763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ED48C-0543-686B-D86E-2270022FF094}"/>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s" b="1" kern="1200">
                <a:latin typeface="+mj-lt"/>
                <a:ea typeface="+mj-ea"/>
                <a:cs typeface="+mj-cs"/>
              </a:rPr>
              <a:t>Justificación</a:t>
            </a:r>
          </a:p>
        </p:txBody>
      </p:sp>
      <p:sp>
        <p:nvSpPr>
          <p:cNvPr id="5" name="TextBox 4">
            <a:extLst>
              <a:ext uri="{FF2B5EF4-FFF2-40B4-BE49-F238E27FC236}">
                <a16:creationId xmlns:a16="http://schemas.microsoft.com/office/drawing/2014/main" id="{6DCEE3E6-3EFD-4DEE-A6D7-DBC7BB649EBB}"/>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Mejora en la gestión de turnos</a:t>
            </a:r>
          </a:p>
          <a:p>
            <a:pPr marL="0" lvl="1" indent="0">
              <a:spcBef>
                <a:spcPts val="1000"/>
              </a:spcBef>
              <a:spcAft>
                <a:spcPts val="600"/>
              </a:spcAft>
              <a:buFont typeface="Arial" panose="020B0604020202020204" pitchFamily="34" charset="0"/>
              <a:buNone/>
            </a:pPr>
            <a:r>
              <a:rPr lang="en-US" sz="1400"/>
              <a:t>El sistema optimiza el uso de recursos y reduce los tiempos de espera en unidades de salud pública.</a:t>
            </a:r>
          </a:p>
          <a:p>
            <a:pPr marL="0" indent="0">
              <a:spcBef>
                <a:spcPts val="2500"/>
              </a:spcBef>
              <a:spcAft>
                <a:spcPts val="600"/>
              </a:spcAft>
              <a:buFont typeface="Arial" panose="020B0604020202020204" pitchFamily="34" charset="0"/>
              <a:buNone/>
            </a:pPr>
            <a:r>
              <a:rPr lang="en-US" sz="1400" b="1"/>
              <a:t>Almacenamiento y organización digital</a:t>
            </a:r>
          </a:p>
          <a:p>
            <a:pPr marL="0" lvl="1" indent="0">
              <a:spcBef>
                <a:spcPts val="1000"/>
              </a:spcBef>
              <a:spcAft>
                <a:spcPts val="600"/>
              </a:spcAft>
              <a:buFont typeface="Arial" panose="020B0604020202020204" pitchFamily="34" charset="0"/>
              <a:buNone/>
            </a:pPr>
            <a:r>
              <a:rPr lang="en-US" sz="1400"/>
              <a:t>La solución digital facilita una atención más ordenada mediante el almacenamiento organizado de datos.</a:t>
            </a:r>
          </a:p>
          <a:p>
            <a:pPr marL="0" indent="0">
              <a:spcBef>
                <a:spcPts val="2500"/>
              </a:spcBef>
              <a:spcAft>
                <a:spcPts val="600"/>
              </a:spcAft>
              <a:buFont typeface="Arial" panose="020B0604020202020204" pitchFamily="34" charset="0"/>
              <a:buNone/>
            </a:pPr>
            <a:r>
              <a:rPr lang="en-US" sz="1400" b="1"/>
              <a:t>Impacto social positivo</a:t>
            </a:r>
          </a:p>
          <a:p>
            <a:pPr marL="0" lvl="1" indent="0">
              <a:spcBef>
                <a:spcPts val="1000"/>
              </a:spcBef>
              <a:spcAft>
                <a:spcPts val="600"/>
              </a:spcAft>
              <a:buFont typeface="Arial" panose="020B0604020202020204" pitchFamily="34" charset="0"/>
              <a:buNone/>
            </a:pPr>
            <a:r>
              <a:rPr lang="en-US" sz="1400"/>
              <a:t>El sistema promueve un acceso más equitativo a servicios de salud para toda la comunidad.</a:t>
            </a:r>
          </a:p>
          <a:p>
            <a:pPr marL="0" indent="0">
              <a:spcBef>
                <a:spcPts val="2500"/>
              </a:spcBef>
              <a:spcAft>
                <a:spcPts val="600"/>
              </a:spcAft>
              <a:buFont typeface="Arial" panose="020B0604020202020204" pitchFamily="34" charset="0"/>
              <a:buNone/>
            </a:pPr>
            <a:r>
              <a:rPr lang="en-US" sz="1400" b="1"/>
              <a:t>Modernización administrativa</a:t>
            </a:r>
          </a:p>
          <a:p>
            <a:pPr marL="0" lvl="1" indent="0">
              <a:spcBef>
                <a:spcPts val="1000"/>
              </a:spcBef>
              <a:spcAft>
                <a:spcPts val="600"/>
              </a:spcAft>
              <a:buFont typeface="Arial" panose="020B0604020202020204" pitchFamily="34" charset="0"/>
              <a:buNone/>
            </a:pPr>
            <a:r>
              <a:rPr lang="en-US" sz="1400"/>
              <a:t>El proyecto reemplaza métodos manuales con sistemas automatizados para mejorar procesos administrativos.</a:t>
            </a:r>
          </a:p>
        </p:txBody>
      </p:sp>
      <p:pic>
        <p:nvPicPr>
          <p:cNvPr id="4" name="Content Placeholder 3" descr="Sanidad y medicina. Análisis y diagnóstico de médicos médicos, comprobación online de la salud del paciente y resultados de pruebas con interfaz virtual moderna en portátil, red médica global online">
            <a:extLst>
              <a:ext uri="{FF2B5EF4-FFF2-40B4-BE49-F238E27FC236}">
                <a16:creationId xmlns:a16="http://schemas.microsoft.com/office/drawing/2014/main" id="{349644A7-127F-42C3-8EDF-7B1194C04AB1}"/>
              </a:ext>
            </a:extLst>
          </p:cNvPr>
          <p:cNvPicPr>
            <a:picLocks noGrp="1" noChangeAspect="1"/>
          </p:cNvPicPr>
          <p:nvPr>
            <p:ph type="pic" sz="quarter" idx="13"/>
          </p:nvPr>
        </p:nvPicPr>
        <p:blipFill>
          <a:blip r:embed="rId3"/>
          <a:srcRect l="37308" r="22783" b="-1"/>
          <a:stretch>
            <a:fillRect/>
          </a:stretch>
        </p:blipFill>
        <p:spPr>
          <a:xfrm>
            <a:off x="8091732" y="10"/>
            <a:ext cx="4100267" cy="6857990"/>
          </a:xfrm>
        </p:spPr>
      </p:pic>
    </p:spTree>
    <p:extLst>
      <p:ext uri="{BB962C8B-B14F-4D97-AF65-F5344CB8AC3E}">
        <p14:creationId xmlns:p14="http://schemas.microsoft.com/office/powerpoint/2010/main" val="21923926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3464F-973F-A5D9-B70B-8EA7084A2FE6}"/>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s" b="1" kern="1200">
                <a:latin typeface="+mj-lt"/>
                <a:ea typeface="+mj-ea"/>
                <a:cs typeface="+mj-cs"/>
              </a:rPr>
              <a:t>Solución Propuesta</a:t>
            </a:r>
          </a:p>
        </p:txBody>
      </p:sp>
      <p:sp>
        <p:nvSpPr>
          <p:cNvPr id="5" name="TextBox 4">
            <a:extLst>
              <a:ext uri="{FF2B5EF4-FFF2-40B4-BE49-F238E27FC236}">
                <a16:creationId xmlns:a16="http://schemas.microsoft.com/office/drawing/2014/main" id="{9DF42D55-06C8-444E-83F1-09248D5A31E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Sistema Digital de Turnos</a:t>
            </a:r>
          </a:p>
          <a:p>
            <a:pPr marL="0" lvl="1" indent="0">
              <a:spcBef>
                <a:spcPts val="1000"/>
              </a:spcBef>
              <a:spcAft>
                <a:spcPts val="600"/>
              </a:spcAft>
              <a:buFont typeface="Arial" panose="020B0604020202020204" pitchFamily="34" charset="0"/>
              <a:buNone/>
            </a:pPr>
            <a:r>
              <a:rPr lang="en-US" sz="1400"/>
              <a:t>Desarrollo de un sistema digital para registrar y gestionar turnos de forma eficiente en unidades de salud pública.</a:t>
            </a:r>
          </a:p>
          <a:p>
            <a:pPr marL="0" indent="0">
              <a:spcBef>
                <a:spcPts val="2500"/>
              </a:spcBef>
              <a:spcAft>
                <a:spcPts val="600"/>
              </a:spcAft>
              <a:buFont typeface="Arial" panose="020B0604020202020204" pitchFamily="34" charset="0"/>
              <a:buNone/>
            </a:pPr>
            <a:r>
              <a:rPr lang="en-US" sz="1400" b="1"/>
              <a:t>Asignación Automática</a:t>
            </a:r>
          </a:p>
          <a:p>
            <a:pPr marL="0" lvl="1" indent="0">
              <a:spcBef>
                <a:spcPts val="1000"/>
              </a:spcBef>
              <a:spcAft>
                <a:spcPts val="600"/>
              </a:spcAft>
              <a:buFont typeface="Arial" panose="020B0604020202020204" pitchFamily="34" charset="0"/>
              <a:buNone/>
            </a:pPr>
            <a:r>
              <a:rPr lang="en-US" sz="1400"/>
              <a:t>Función automatizada que asigna turnos según disponibilidad para evitar conflictos y duplicaciones.</a:t>
            </a:r>
          </a:p>
          <a:p>
            <a:pPr marL="0" indent="0">
              <a:spcBef>
                <a:spcPts val="2500"/>
              </a:spcBef>
              <a:spcAft>
                <a:spcPts val="600"/>
              </a:spcAft>
              <a:buFont typeface="Arial" panose="020B0604020202020204" pitchFamily="34" charset="0"/>
              <a:buNone/>
            </a:pPr>
            <a:r>
              <a:rPr lang="en-US" sz="1400" b="1"/>
              <a:t>Flexibilidad para Usuarios</a:t>
            </a:r>
          </a:p>
          <a:p>
            <a:pPr marL="0" lvl="1" indent="0">
              <a:spcBef>
                <a:spcPts val="1000"/>
              </a:spcBef>
              <a:spcAft>
                <a:spcPts val="600"/>
              </a:spcAft>
              <a:buFont typeface="Arial" panose="020B0604020202020204" pitchFamily="34" charset="0"/>
              <a:buNone/>
            </a:pPr>
            <a:r>
              <a:rPr lang="en-US" sz="1400"/>
              <a:t>Opciones para cancelar o modificar turnos, proporcionando mayor comodidad y control a los usuarios.</a:t>
            </a:r>
          </a:p>
          <a:p>
            <a:pPr marL="0" indent="0">
              <a:spcBef>
                <a:spcPts val="2500"/>
              </a:spcBef>
              <a:spcAft>
                <a:spcPts val="600"/>
              </a:spcAft>
              <a:buFont typeface="Arial" panose="020B0604020202020204" pitchFamily="34" charset="0"/>
              <a:buNone/>
            </a:pPr>
            <a:r>
              <a:rPr lang="en-US" sz="1400" b="1"/>
              <a:t>Implementación Técnica</a:t>
            </a:r>
          </a:p>
          <a:p>
            <a:pPr marL="0" lvl="1" indent="0">
              <a:spcBef>
                <a:spcPts val="1000"/>
              </a:spcBef>
              <a:spcAft>
                <a:spcPts val="600"/>
              </a:spcAft>
              <a:buFont typeface="Arial" panose="020B0604020202020204" pitchFamily="34" charset="0"/>
              <a:buNone/>
            </a:pPr>
            <a:r>
              <a:rPr lang="en-US" sz="1400"/>
              <a:t>El sistema se desarrollaría usando lenguajes C o C++, aplicando estructuras de programación fundamentales para eficiencia y estructura.</a:t>
            </a:r>
          </a:p>
        </p:txBody>
      </p:sp>
      <p:pic>
        <p:nvPicPr>
          <p:cNvPr id="4" name="Content Placeholder 3" descr="Concepto de formulario de solicitud de seguro de coche">
            <a:extLst>
              <a:ext uri="{FF2B5EF4-FFF2-40B4-BE49-F238E27FC236}">
                <a16:creationId xmlns:a16="http://schemas.microsoft.com/office/drawing/2014/main" id="{DC013092-E65B-48FE-AB0C-619C1FF75E90}"/>
              </a:ext>
            </a:extLst>
          </p:cNvPr>
          <p:cNvPicPr>
            <a:picLocks noGrp="1" noChangeAspect="1"/>
          </p:cNvPicPr>
          <p:nvPr>
            <p:ph type="pic" sz="quarter" idx="13"/>
          </p:nvPr>
        </p:nvPicPr>
        <p:blipFill>
          <a:blip r:embed="rId3"/>
          <a:srcRect l="31416" r="28674" b="-1"/>
          <a:stretch>
            <a:fillRect/>
          </a:stretch>
        </p:blipFill>
        <p:spPr>
          <a:xfrm>
            <a:off x="8091732" y="10"/>
            <a:ext cx="4100267" cy="6857990"/>
          </a:xfrm>
        </p:spPr>
      </p:pic>
    </p:spTree>
    <p:extLst>
      <p:ext uri="{BB962C8B-B14F-4D97-AF65-F5344CB8AC3E}">
        <p14:creationId xmlns:p14="http://schemas.microsoft.com/office/powerpoint/2010/main" val="3164826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89272-C8B9-EDB6-90AE-9AE794736DEE}"/>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s" b="1" kern="1200">
                <a:latin typeface="+mj-lt"/>
                <a:ea typeface="+mj-ea"/>
                <a:cs typeface="+mj-cs"/>
              </a:rPr>
              <a:t>Funcionalidades</a:t>
            </a:r>
          </a:p>
        </p:txBody>
      </p:sp>
      <p:sp>
        <p:nvSpPr>
          <p:cNvPr id="5" name="TextBox 4">
            <a:extLst>
              <a:ext uri="{FF2B5EF4-FFF2-40B4-BE49-F238E27FC236}">
                <a16:creationId xmlns:a16="http://schemas.microsoft.com/office/drawing/2014/main" id="{044E5F37-30DA-49BB-9305-6CC6F161E05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Registro de Pacientes</a:t>
            </a:r>
          </a:p>
          <a:p>
            <a:pPr marL="0" lvl="1" indent="0">
              <a:spcBef>
                <a:spcPts val="1000"/>
              </a:spcBef>
              <a:spcAft>
                <a:spcPts val="600"/>
              </a:spcAft>
              <a:buFont typeface="Arial" panose="020B0604020202020204" pitchFamily="34" charset="0"/>
              <a:buNone/>
            </a:pPr>
            <a:r>
              <a:rPr lang="en-US" sz="1400"/>
              <a:t>Almacena datos esenciales como nombre, documento y contacto para una gestión eficiente de pacientes.</a:t>
            </a:r>
          </a:p>
          <a:p>
            <a:pPr marL="0" indent="0">
              <a:spcBef>
                <a:spcPts val="2500"/>
              </a:spcBef>
              <a:spcAft>
                <a:spcPts val="600"/>
              </a:spcAft>
              <a:buFont typeface="Arial" panose="020B0604020202020204" pitchFamily="34" charset="0"/>
              <a:buNone/>
            </a:pPr>
            <a:r>
              <a:rPr lang="en-US" sz="1400" b="1"/>
              <a:t>Gestión de Turnos</a:t>
            </a:r>
          </a:p>
          <a:p>
            <a:pPr marL="0" lvl="1" indent="0">
              <a:spcBef>
                <a:spcPts val="1000"/>
              </a:spcBef>
              <a:spcAft>
                <a:spcPts val="600"/>
              </a:spcAft>
              <a:buFont typeface="Arial" panose="020B0604020202020204" pitchFamily="34" charset="0"/>
              <a:buNone/>
            </a:pPr>
            <a:r>
              <a:rPr lang="en-US" sz="1400"/>
              <a:t>Permite asignar citas según disponibilidad, facilitando la organización del flujo de pacientes.</a:t>
            </a:r>
          </a:p>
          <a:p>
            <a:pPr marL="0" indent="0">
              <a:spcBef>
                <a:spcPts val="2500"/>
              </a:spcBef>
              <a:spcAft>
                <a:spcPts val="600"/>
              </a:spcAft>
              <a:buFont typeface="Arial" panose="020B0604020202020204" pitchFamily="34" charset="0"/>
              <a:buNone/>
            </a:pPr>
            <a:r>
              <a:rPr lang="en-US" sz="1400" b="1"/>
              <a:t>Visualización y Búsqueda</a:t>
            </a:r>
          </a:p>
          <a:p>
            <a:pPr marL="0" lvl="1" indent="0">
              <a:spcBef>
                <a:spcPts val="1000"/>
              </a:spcBef>
              <a:spcAft>
                <a:spcPts val="600"/>
              </a:spcAft>
              <a:buFont typeface="Arial" panose="020B0604020202020204" pitchFamily="34" charset="0"/>
              <a:buNone/>
            </a:pPr>
            <a:r>
              <a:rPr lang="en-US" sz="1400"/>
              <a:t>Facilita la consulta de citas programadas y búsqueda rápida de pacientes o turnos.</a:t>
            </a:r>
          </a:p>
          <a:p>
            <a:pPr marL="0" indent="0">
              <a:spcBef>
                <a:spcPts val="2500"/>
              </a:spcBef>
              <a:spcAft>
                <a:spcPts val="600"/>
              </a:spcAft>
              <a:buFont typeface="Arial" panose="020B0604020202020204" pitchFamily="34" charset="0"/>
              <a:buNone/>
            </a:pPr>
            <a:r>
              <a:rPr lang="en-US" sz="1400" b="1"/>
              <a:t>Modificación y Cancelación</a:t>
            </a:r>
          </a:p>
          <a:p>
            <a:pPr marL="0" lvl="1" indent="0">
              <a:spcBef>
                <a:spcPts val="1000"/>
              </a:spcBef>
              <a:spcAft>
                <a:spcPts val="600"/>
              </a:spcAft>
              <a:buFont typeface="Arial" panose="020B0604020202020204" pitchFamily="34" charset="0"/>
              <a:buNone/>
            </a:pPr>
            <a:r>
              <a:rPr lang="en-US" sz="1400"/>
              <a:t>Permite modificar o cancelar citas existentes para mantener la flexibilidad en la gestión.</a:t>
            </a:r>
          </a:p>
        </p:txBody>
      </p:sp>
      <p:pic>
        <p:nvPicPr>
          <p:cNvPr id="4" name="Content Placeholder 3" descr="Vista superior de un smartphone con una aplicación de mensajería online en pantalla rodeada de un bloc de notas, un bolígrafo, una taza de café, unos auriculares intraauriculares, una planta y un portátil. Todos los objetos están sobre un escritorio de madera. Toma de estudio tomada con Canon EOS 6D Mark II y Canon EF 24-105 mm f/4L">
            <a:extLst>
              <a:ext uri="{FF2B5EF4-FFF2-40B4-BE49-F238E27FC236}">
                <a16:creationId xmlns:a16="http://schemas.microsoft.com/office/drawing/2014/main" id="{48534476-E265-49FC-874A-DA1BD6E05B7A}"/>
              </a:ext>
            </a:extLst>
          </p:cNvPr>
          <p:cNvPicPr>
            <a:picLocks noGrp="1" noChangeAspect="1"/>
          </p:cNvPicPr>
          <p:nvPr>
            <p:ph type="pic" sz="quarter" idx="13"/>
          </p:nvPr>
        </p:nvPicPr>
        <p:blipFill>
          <a:blip r:embed="rId3"/>
          <a:srcRect l="25143" r="34948" b="-1"/>
          <a:stretch>
            <a:fillRect/>
          </a:stretch>
        </p:blipFill>
        <p:spPr>
          <a:xfrm>
            <a:off x="8091732" y="10"/>
            <a:ext cx="4100267" cy="6857990"/>
          </a:xfrm>
        </p:spPr>
      </p:pic>
    </p:spTree>
    <p:extLst>
      <p:ext uri="{BB962C8B-B14F-4D97-AF65-F5344CB8AC3E}">
        <p14:creationId xmlns:p14="http://schemas.microsoft.com/office/powerpoint/2010/main" val="36798453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D41A-0FD1-A2A4-0DD1-CDDF9882F2DC}"/>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s" b="1" kern="1200">
                <a:latin typeface="+mj-lt"/>
                <a:ea typeface="+mj-ea"/>
                <a:cs typeface="+mj-cs"/>
              </a:rPr>
              <a:t>Estructuras Utilizadas</a:t>
            </a:r>
          </a:p>
        </p:txBody>
      </p:sp>
      <p:sp>
        <p:nvSpPr>
          <p:cNvPr id="5" name="TextBox 4">
            <a:extLst>
              <a:ext uri="{FF2B5EF4-FFF2-40B4-BE49-F238E27FC236}">
                <a16:creationId xmlns:a16="http://schemas.microsoft.com/office/drawing/2014/main" id="{AD48031B-FAE8-49EE-8C2D-CF3BF00DFE03}"/>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Estructuras Condicionales</a:t>
            </a:r>
          </a:p>
          <a:p>
            <a:pPr marL="0" lvl="1" indent="0">
              <a:spcBef>
                <a:spcPts val="1000"/>
              </a:spcBef>
              <a:spcAft>
                <a:spcPts val="600"/>
              </a:spcAft>
              <a:buFont typeface="Arial" panose="020B0604020202020204" pitchFamily="34" charset="0"/>
              <a:buNone/>
            </a:pPr>
            <a:r>
              <a:rPr lang="en-US" sz="1400"/>
              <a:t>Se utilizan estructuras if y else para validar datos y controlar el flujo del programa eficientemente.</a:t>
            </a:r>
          </a:p>
          <a:p>
            <a:pPr marL="0" indent="0">
              <a:spcBef>
                <a:spcPts val="2500"/>
              </a:spcBef>
              <a:spcAft>
                <a:spcPts val="600"/>
              </a:spcAft>
              <a:buFont typeface="Arial" panose="020B0604020202020204" pitchFamily="34" charset="0"/>
              <a:buNone/>
            </a:pPr>
            <a:r>
              <a:rPr lang="en-US" sz="1400" b="1"/>
              <a:t>Ciclos Repetitivos</a:t>
            </a:r>
          </a:p>
          <a:p>
            <a:pPr marL="0" lvl="1" indent="0">
              <a:spcBef>
                <a:spcPts val="1000"/>
              </a:spcBef>
              <a:spcAft>
                <a:spcPts val="600"/>
              </a:spcAft>
              <a:buFont typeface="Arial" panose="020B0604020202020204" pitchFamily="34" charset="0"/>
              <a:buNone/>
            </a:pPr>
            <a:r>
              <a:rPr lang="en-US" sz="1400"/>
              <a:t>Ciclos for y while se emplean para repetir procesos como menús y manejo de listas de turnos.</a:t>
            </a:r>
          </a:p>
          <a:p>
            <a:pPr marL="0" indent="0">
              <a:spcBef>
                <a:spcPts val="2500"/>
              </a:spcBef>
              <a:spcAft>
                <a:spcPts val="600"/>
              </a:spcAft>
              <a:buFont typeface="Arial" panose="020B0604020202020204" pitchFamily="34" charset="0"/>
              <a:buNone/>
            </a:pPr>
            <a:r>
              <a:rPr lang="en-US" sz="1400" b="1"/>
              <a:t>Arreglos y Listas</a:t>
            </a:r>
          </a:p>
          <a:p>
            <a:pPr marL="0" lvl="1" indent="0">
              <a:spcBef>
                <a:spcPts val="1000"/>
              </a:spcBef>
              <a:spcAft>
                <a:spcPts val="600"/>
              </a:spcAft>
              <a:buFont typeface="Arial" panose="020B0604020202020204" pitchFamily="34" charset="0"/>
              <a:buNone/>
            </a:pPr>
            <a:r>
              <a:rPr lang="en-US" sz="1400"/>
              <a:t>Se almacenan datos de pacientes y citas para facilitar su gestión mediante arreglos y listas.</a:t>
            </a:r>
          </a:p>
          <a:p>
            <a:pPr marL="0" indent="0">
              <a:spcBef>
                <a:spcPts val="2500"/>
              </a:spcBef>
              <a:spcAft>
                <a:spcPts val="600"/>
              </a:spcAft>
              <a:buFont typeface="Arial" panose="020B0604020202020204" pitchFamily="34" charset="0"/>
              <a:buNone/>
            </a:pPr>
            <a:r>
              <a:rPr lang="en-US" sz="1400" b="1"/>
              <a:t>Funciones Modularizadas</a:t>
            </a:r>
          </a:p>
          <a:p>
            <a:pPr marL="0" lvl="1" indent="0">
              <a:spcBef>
                <a:spcPts val="1000"/>
              </a:spcBef>
              <a:spcAft>
                <a:spcPts val="600"/>
              </a:spcAft>
              <a:buFont typeface="Arial" panose="020B0604020202020204" pitchFamily="34" charset="0"/>
              <a:buNone/>
            </a:pPr>
            <a:r>
              <a:rPr lang="en-US" sz="1400"/>
              <a:t>Funciones organizan el código en módulos para mejorar legibilidad y mantenimiento del sistema.</a:t>
            </a:r>
          </a:p>
        </p:txBody>
      </p:sp>
      <p:pic>
        <p:nvPicPr>
          <p:cNvPr id="4" name="Content Placeholder 3" descr="Guion informático en pantalla">
            <a:extLst>
              <a:ext uri="{FF2B5EF4-FFF2-40B4-BE49-F238E27FC236}">
                <a16:creationId xmlns:a16="http://schemas.microsoft.com/office/drawing/2014/main" id="{3E8418D6-420D-4551-BFD0-B10D663D3BA9}"/>
              </a:ext>
            </a:extLst>
          </p:cNvPr>
          <p:cNvPicPr>
            <a:picLocks noGrp="1" noChangeAspect="1"/>
          </p:cNvPicPr>
          <p:nvPr>
            <p:ph type="pic" sz="quarter" idx="13"/>
          </p:nvPr>
        </p:nvPicPr>
        <p:blipFill>
          <a:blip r:embed="rId3"/>
          <a:srcRect l="9739" r="50352" b="-1"/>
          <a:stretch>
            <a:fillRect/>
          </a:stretch>
        </p:blipFill>
        <p:spPr>
          <a:xfrm>
            <a:off x="8091732" y="10"/>
            <a:ext cx="4100267" cy="6857990"/>
          </a:xfrm>
        </p:spPr>
      </p:pic>
    </p:spTree>
    <p:extLst>
      <p:ext uri="{BB962C8B-B14F-4D97-AF65-F5344CB8AC3E}">
        <p14:creationId xmlns:p14="http://schemas.microsoft.com/office/powerpoint/2010/main" val="27047033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CAE67-2E2B-D62C-908F-70C7C2835B5C}"/>
              </a:ext>
            </a:extLst>
          </p:cNvPr>
          <p:cNvSpPr>
            <a:spLocks noGrp="1"/>
          </p:cNvSpPr>
          <p:nvPr>
            <p:ph type="title"/>
          </p:nvPr>
        </p:nvSpPr>
        <p:spPr>
          <a:xfrm>
            <a:off x="612647" y="320040"/>
            <a:ext cx="6858000" cy="932688"/>
          </a:xfrm>
        </p:spPr>
        <p:txBody>
          <a:bodyPr vert="horz" lIns="91440" tIns="45720" rIns="91440" bIns="45720" rtlCol="0" anchor="b">
            <a:normAutofit/>
          </a:bodyPr>
          <a:lstStyle/>
          <a:p>
            <a:r>
              <a:rPr lang="es" b="1" kern="1200">
                <a:latin typeface="+mj-lt"/>
                <a:ea typeface="+mj-ea"/>
                <a:cs typeface="+mj-cs"/>
              </a:rPr>
              <a:t>Conclusión</a:t>
            </a:r>
          </a:p>
        </p:txBody>
      </p:sp>
      <p:sp>
        <p:nvSpPr>
          <p:cNvPr id="5" name="TextBox 4">
            <a:extLst>
              <a:ext uri="{FF2B5EF4-FFF2-40B4-BE49-F238E27FC236}">
                <a16:creationId xmlns:a16="http://schemas.microsoft.com/office/drawing/2014/main" id="{13B8C989-70D1-49E6-A71C-650945734EA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380744"/>
            <a:ext cx="6858000"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a:t>Mejora en Gestión de Citas</a:t>
            </a:r>
          </a:p>
          <a:p>
            <a:pPr marL="0" lvl="1" indent="0">
              <a:spcBef>
                <a:spcPts val="1000"/>
              </a:spcBef>
              <a:spcAft>
                <a:spcPts val="600"/>
              </a:spcAft>
              <a:buFont typeface="Arial" panose="020B0604020202020204" pitchFamily="34" charset="0"/>
              <a:buNone/>
            </a:pPr>
            <a:r>
              <a:rPr lang="en-US" sz="1400"/>
              <a:t>El sistema optimiza procesos y reduce tiempos de espera en unidades de salud pública, mejorando la organización.</a:t>
            </a:r>
          </a:p>
          <a:p>
            <a:pPr marL="0" indent="0">
              <a:spcBef>
                <a:spcPts val="2500"/>
              </a:spcBef>
              <a:spcAft>
                <a:spcPts val="600"/>
              </a:spcAft>
              <a:buFont typeface="Arial" panose="020B0604020202020204" pitchFamily="34" charset="0"/>
              <a:buNone/>
            </a:pPr>
            <a:r>
              <a:rPr lang="en-US" sz="1400" b="1"/>
              <a:t>Aplicación de Conocimientos Técnicos</a:t>
            </a:r>
          </a:p>
          <a:p>
            <a:pPr marL="0" lvl="1" indent="0">
              <a:spcBef>
                <a:spcPts val="1000"/>
              </a:spcBef>
              <a:spcAft>
                <a:spcPts val="600"/>
              </a:spcAft>
              <a:buFont typeface="Arial" panose="020B0604020202020204" pitchFamily="34" charset="0"/>
              <a:buNone/>
            </a:pPr>
            <a:r>
              <a:rPr lang="en-US" sz="1400"/>
              <a:t>Se utilizan condicionales, ciclos, arreglos y funciones para desarrollar programas eficientes y funcionales.</a:t>
            </a:r>
          </a:p>
          <a:p>
            <a:pPr marL="0" indent="0">
              <a:spcBef>
                <a:spcPts val="2500"/>
              </a:spcBef>
              <a:spcAft>
                <a:spcPts val="600"/>
              </a:spcAft>
              <a:buFont typeface="Arial" panose="020B0604020202020204" pitchFamily="34" charset="0"/>
              <a:buNone/>
            </a:pPr>
            <a:r>
              <a:rPr lang="en-US" sz="1400" b="1"/>
              <a:t>Impacto Social y Trabajo en Equipo</a:t>
            </a:r>
          </a:p>
          <a:p>
            <a:pPr marL="0" lvl="1" indent="0">
              <a:spcBef>
                <a:spcPts val="1000"/>
              </a:spcBef>
              <a:spcAft>
                <a:spcPts val="600"/>
              </a:spcAft>
              <a:buFont typeface="Arial" panose="020B0604020202020204" pitchFamily="34" charset="0"/>
              <a:buNone/>
            </a:pPr>
            <a:r>
              <a:rPr lang="en-US" sz="1400"/>
              <a:t>El proyecto resalta el aprendizaje técnico y colaborativo, con potencial adaptación a entornos reales.</a:t>
            </a:r>
          </a:p>
          <a:p>
            <a:pPr marL="0" indent="0">
              <a:spcBef>
                <a:spcPts val="2500"/>
              </a:spcBef>
              <a:spcAft>
                <a:spcPts val="600"/>
              </a:spcAft>
              <a:buFont typeface="Arial" panose="020B0604020202020204" pitchFamily="34" charset="0"/>
              <a:buNone/>
            </a:pPr>
            <a:r>
              <a:rPr lang="en-US" sz="1400" b="1"/>
              <a:t>Innovación para el Bienestar</a:t>
            </a:r>
          </a:p>
          <a:p>
            <a:pPr marL="0" lvl="1" indent="0">
              <a:spcBef>
                <a:spcPts val="1000"/>
              </a:spcBef>
              <a:spcAft>
                <a:spcPts val="600"/>
              </a:spcAft>
              <a:buFont typeface="Arial" panose="020B0604020202020204" pitchFamily="34" charset="0"/>
              <a:buNone/>
            </a:pPr>
            <a:r>
              <a:rPr lang="en-US" sz="1400"/>
              <a:t>Se invita a continuar desarrollando soluciones tecnológicas que contribuyan al bienestar social y la innovación.</a:t>
            </a:r>
          </a:p>
        </p:txBody>
      </p:sp>
      <p:pic>
        <p:nvPicPr>
          <p:cNvPr id="4" name="Content Placeholder 3" descr="Antecedentes modernos">
            <a:extLst>
              <a:ext uri="{FF2B5EF4-FFF2-40B4-BE49-F238E27FC236}">
                <a16:creationId xmlns:a16="http://schemas.microsoft.com/office/drawing/2014/main" id="{0B8ECA36-F815-40A1-BD76-4CF5332D2258}"/>
              </a:ext>
            </a:extLst>
          </p:cNvPr>
          <p:cNvPicPr>
            <a:picLocks noGrp="1" noChangeAspect="1"/>
          </p:cNvPicPr>
          <p:nvPr>
            <p:ph type="pic" sz="quarter" idx="13"/>
          </p:nvPr>
        </p:nvPicPr>
        <p:blipFill>
          <a:blip r:embed="rId3"/>
          <a:srcRect l="28128" r="31963" b="-1"/>
          <a:stretch>
            <a:fillRect/>
          </a:stretch>
        </p:blipFill>
        <p:spPr>
          <a:xfrm>
            <a:off x="8091732" y="10"/>
            <a:ext cx="4100267" cy="6857990"/>
          </a:xfrm>
        </p:spPr>
      </p:pic>
    </p:spTree>
    <p:extLst>
      <p:ext uri="{BB962C8B-B14F-4D97-AF65-F5344CB8AC3E}">
        <p14:creationId xmlns:p14="http://schemas.microsoft.com/office/powerpoint/2010/main" val="30416700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9</Slides>
  <Notes>9</Notes>
  <HiddenSlides>0</HiddenSlides>
  <ScaleCrop>false</ScaleCrop>
  <HeadingPairs>
    <vt:vector size="4" baseType="variant">
      <vt:variant>
        <vt:lpstr>Tema</vt:lpstr>
      </vt:variant>
      <vt:variant>
        <vt:i4>1</vt:i4>
      </vt:variant>
      <vt:variant>
        <vt:lpstr>Títulos de diapositiva</vt:lpstr>
      </vt:variant>
      <vt:variant>
        <vt:i4>9</vt:i4>
      </vt:variant>
    </vt:vector>
  </HeadingPairs>
  <TitlesOfParts>
    <vt:vector size="10" baseType="lpstr">
      <vt:lpstr>Helena</vt:lpstr>
      <vt:lpstr>Programación Avanzada</vt:lpstr>
      <vt:lpstr>Sistema de Registro de Turnos para Unidades de Salud Pública</vt:lpstr>
      <vt:lpstr>Objetivos generales</vt:lpstr>
      <vt:lpstr>Problema</vt:lpstr>
      <vt:lpstr>Justificación</vt:lpstr>
      <vt:lpstr>Solución Propuesta</vt:lpstr>
      <vt:lpstr>Funcionalidades</vt:lpstr>
      <vt:lpstr>Estructuras Utilizadas</vt:lpstr>
      <vt:lpstr>Conclusión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alessandracandia@fortalezainmuebles.com</dc:creator>
  <cp:lastModifiedBy>alessandracandia@fortalezainmuebles.com</cp:lastModifiedBy>
  <cp:revision>30</cp:revision>
  <dcterms:modified xsi:type="dcterms:W3CDTF">2026-06-09T21:16:16Z</dcterms:modified>
</cp:coreProperties>
</file>